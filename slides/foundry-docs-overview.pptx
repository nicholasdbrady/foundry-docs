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Pages</c:v>
                </c:pt>
              </c:strCache>
            </c:strRef>
          </c:tx>
          <c:spPr>
            <a:solidFill>
              <a:srgbClr val="02809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Sheet1!$A$2:$A$16</c:f>
              <c:multiLvlStrCache>
                <c:ptCount val="15"/>
                <c:lvl>
                  <c:pt idx="0">
                    <c:v>Reference</c:v>
                  </c:pt>
                  <c:pt idx="1">
                    <c:v>Overview</c:v>
                  </c:pt>
                  <c:pt idx="2">
                    <c:v>Get Started</c:v>
                  </c:pt>
                  <c:pt idx="3">
                    <c:v>Best Practices</c:v>
                  </c:pt>
                  <c:pt idx="4">
                    <c:v>Operate</c:v>
                  </c:pt>
                  <c:pt idx="5">
                    <c:v>Responsible AI</c:v>
                  </c:pt>
                  <c:pt idx="6">
                    <c:v>Manage</c:v>
                  </c:pt>
                  <c:pt idx="7">
                    <c:v>Dev Experience</c:v>
                  </c:pt>
                  <c:pt idx="8">
                    <c:v>Guardrails</c:v>
                  </c:pt>
                  <c:pt idx="9">
                    <c:v>API &amp; SDK</c:v>
                  </c:pt>
                  <c:pt idx="10">
                    <c:v>Security</c:v>
                  </c:pt>
                  <c:pt idx="11">
                    <c:v>Setup</c:v>
                  </c:pt>
                  <c:pt idx="12">
                    <c:v>Observability</c:v>
                  </c:pt>
                  <c:pt idx="13">
                    <c:v>Agents</c:v>
                  </c:pt>
                  <c:pt idx="14">
                    <c:v>Models</c:v>
                  </c:pt>
                </c:lvl>
              </c:multiLvlStrCache>
            </c:multiLvlStr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1</c:v>
                </c:pt>
                <c:pt idx="1">
                  <c:v>3</c:v>
                </c:pt>
                <c:pt idx="2">
                  <c:v>6</c:v>
                </c:pt>
                <c:pt idx="3">
                  <c:v>5</c:v>
                </c:pt>
                <c:pt idx="4">
                  <c:v>8</c:v>
                </c:pt>
                <c:pt idx="5">
                  <c:v>8</c:v>
                </c:pt>
                <c:pt idx="6">
                  <c:v>9</c:v>
                </c:pt>
                <c:pt idx="7">
                  <c:v>11</c:v>
                </c:pt>
                <c:pt idx="8">
                  <c:v>15</c:v>
                </c:pt>
                <c:pt idx="9">
                  <c:v>17</c:v>
                </c:pt>
                <c:pt idx="10">
                  <c:v>20</c:v>
                </c:pt>
                <c:pt idx="11">
                  <c:v>20</c:v>
                </c:pt>
                <c:pt idx="12">
                  <c:v>24</c:v>
                </c:pt>
                <c:pt idx="13">
                  <c:v>60</c:v>
                </c:pt>
                <c:pt idx="14">
                  <c:v>73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2E3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D5E8E9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8087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2FAFA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136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0" y="-1371600"/>
            <a:ext cx="4114800" cy="4114800"/>
          </a:xfrm>
          <a:prstGeom prst="ellipse">
            <a:avLst/>
          </a:prstGeom>
          <a:solidFill>
            <a:srgbClr val="028090">
              <a:alpha val="22000"/>
            </a:srgbClr>
          </a:solidFill>
          <a:ln w="12700">
            <a:solidFill>
              <a:srgbClr val="028090">
                <a:alpha val="2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046720" y="2560320"/>
            <a:ext cx="2011680" cy="2011680"/>
          </a:xfrm>
          <a:prstGeom prst="ellipse">
            <a:avLst/>
          </a:prstGeom>
          <a:solidFill>
            <a:srgbClr val="00A896">
              <a:alpha val="18000"/>
            </a:srgbClr>
          </a:solidFill>
          <a:ln w="12700">
            <a:solidFill>
              <a:srgbClr val="00A896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1280160"/>
            <a:ext cx="164592" cy="201168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37160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Foundry-Docs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457200" y="2560320"/>
            <a:ext cx="7498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Documentation Platform for Microsoft Foundry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0" y="4480560"/>
            <a:ext cx="9144000" cy="662940"/>
          </a:xfrm>
          <a:prstGeom prst="rect">
            <a:avLst/>
          </a:prstGeom>
          <a:solidFill>
            <a:srgbClr val="028090">
              <a:alpha val="25000"/>
            </a:srgbClr>
          </a:solidFill>
          <a:ln w="12700">
            <a:solidFill>
              <a:srgbClr val="028090">
                <a:alpha val="2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45262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280 docs  ·  29 agentic workflows  ·  4 SDK repos monitored  ·  FastMCP server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92608"/>
            <a:ext cx="5029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136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is Foundry-Docs?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11480" y="1005840"/>
            <a:ext cx="4663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FastMCP server that extracts, converts, and serves Microsoft Foundry documentation to AI assistants — with a fleet of autonomous agents keeping it accurate and up to date.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11480" y="2011680"/>
            <a:ext cx="384048" cy="384048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" y="2066544"/>
            <a:ext cx="246888" cy="24688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201168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search_docs(query)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914400" y="2249424"/>
            <a:ext cx="4206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8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full-text + vector search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11480" y="2670048"/>
            <a:ext cx="384048" cy="384048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" y="2724912"/>
            <a:ext cx="246888" cy="24688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914400" y="2670048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get_doc(path)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914400" y="2907792"/>
            <a:ext cx="4206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8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 a specific doc by path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411480" y="3328416"/>
            <a:ext cx="384048" cy="384048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" y="3383280"/>
            <a:ext cx="246888" cy="246888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914400" y="3328416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list_sections()</a:t>
            </a:r>
            <a:endParaRPr lang="en-US" sz="1300" dirty="0"/>
          </a:p>
        </p:txBody>
      </p:sp>
      <p:sp>
        <p:nvSpPr>
          <p:cNvPr id="16" name="Text 11"/>
          <p:cNvSpPr/>
          <p:nvPr/>
        </p:nvSpPr>
        <p:spPr>
          <a:xfrm>
            <a:off x="914400" y="3566160"/>
            <a:ext cx="4206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8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 all TOC sections</a:t>
            </a:r>
            <a:endParaRPr lang="en-US" sz="1200" dirty="0"/>
          </a:p>
        </p:txBody>
      </p:sp>
      <p:sp>
        <p:nvSpPr>
          <p:cNvPr id="17" name="Shape 12"/>
          <p:cNvSpPr/>
          <p:nvPr/>
        </p:nvSpPr>
        <p:spPr>
          <a:xfrm>
            <a:off x="411480" y="3986784"/>
            <a:ext cx="384048" cy="384048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" y="4041648"/>
            <a:ext cx="246888" cy="246888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914400" y="3986784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get_section(section)</a:t>
            </a:r>
            <a:endParaRPr lang="en-US" sz="1300" dirty="0"/>
          </a:p>
        </p:txBody>
      </p:sp>
      <p:sp>
        <p:nvSpPr>
          <p:cNvPr id="20" name="Text 14"/>
          <p:cNvSpPr/>
          <p:nvPr/>
        </p:nvSpPr>
        <p:spPr>
          <a:xfrm>
            <a:off x="914400" y="4224528"/>
            <a:ext cx="4206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8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docs in a section</a:t>
            </a:r>
            <a:endParaRPr lang="en-US" sz="1200" dirty="0"/>
          </a:p>
        </p:txBody>
      </p:sp>
      <p:sp>
        <p:nvSpPr>
          <p:cNvPr id="21" name="Shape 15"/>
          <p:cNvSpPr/>
          <p:nvPr/>
        </p:nvSpPr>
        <p:spPr>
          <a:xfrm>
            <a:off x="5349240" y="256032"/>
            <a:ext cx="3566160" cy="4636008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46520" y="502920"/>
            <a:ext cx="1371600" cy="1371600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5349240" y="196596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FastMCP Server</a:t>
            </a:r>
            <a:endParaRPr lang="en-US" sz="1800" dirty="0"/>
          </a:p>
        </p:txBody>
      </p:sp>
      <p:sp>
        <p:nvSpPr>
          <p:cNvPr id="24" name="Text 17"/>
          <p:cNvSpPr/>
          <p:nvPr/>
        </p:nvSpPr>
        <p:spPr>
          <a:xfrm>
            <a:off x="5349240" y="2450592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serving Microsoft Foundry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documentation via MCP</a:t>
            </a:r>
            <a:endParaRPr lang="en-US" sz="1300" dirty="0"/>
          </a:p>
        </p:txBody>
      </p:sp>
      <p:sp>
        <p:nvSpPr>
          <p:cNvPr id="25" name="Shape 18"/>
          <p:cNvSpPr/>
          <p:nvPr/>
        </p:nvSpPr>
        <p:spPr>
          <a:xfrm>
            <a:off x="5394960" y="3246120"/>
            <a:ext cx="1097280" cy="1371600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</p:spPr>
      </p:sp>
      <p:sp>
        <p:nvSpPr>
          <p:cNvPr id="26" name="Text 19"/>
          <p:cNvSpPr/>
          <p:nvPr/>
        </p:nvSpPr>
        <p:spPr>
          <a:xfrm>
            <a:off x="5394960" y="3337560"/>
            <a:ext cx="1097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280</a:t>
            </a:r>
            <a:endParaRPr lang="en-US" sz="2600" dirty="0"/>
          </a:p>
        </p:txBody>
      </p:sp>
      <p:sp>
        <p:nvSpPr>
          <p:cNvPr id="27" name="Text 20"/>
          <p:cNvSpPr/>
          <p:nvPr/>
        </p:nvSpPr>
        <p:spPr>
          <a:xfrm>
            <a:off x="5394960" y="3950208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MDX Pages</a:t>
            </a:r>
            <a:endParaRPr lang="en-US" sz="1100" dirty="0"/>
          </a:p>
        </p:txBody>
      </p:sp>
      <p:sp>
        <p:nvSpPr>
          <p:cNvPr id="28" name="Shape 21"/>
          <p:cNvSpPr/>
          <p:nvPr/>
        </p:nvSpPr>
        <p:spPr>
          <a:xfrm>
            <a:off x="6583680" y="3246120"/>
            <a:ext cx="1097280" cy="1371600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</p:spPr>
      </p:sp>
      <p:sp>
        <p:nvSpPr>
          <p:cNvPr id="29" name="Text 22"/>
          <p:cNvSpPr/>
          <p:nvPr/>
        </p:nvSpPr>
        <p:spPr>
          <a:xfrm>
            <a:off x="6583680" y="3337560"/>
            <a:ext cx="1097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15</a:t>
            </a:r>
            <a:endParaRPr lang="en-US" sz="2600" dirty="0"/>
          </a:p>
        </p:txBody>
      </p:sp>
      <p:sp>
        <p:nvSpPr>
          <p:cNvPr id="30" name="Text 23"/>
          <p:cNvSpPr/>
          <p:nvPr/>
        </p:nvSpPr>
        <p:spPr>
          <a:xfrm>
            <a:off x="6583680" y="3950208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 Sections</a:t>
            </a:r>
            <a:endParaRPr lang="en-US" sz="1100" dirty="0"/>
          </a:p>
        </p:txBody>
      </p:sp>
      <p:sp>
        <p:nvSpPr>
          <p:cNvPr id="31" name="Shape 24"/>
          <p:cNvSpPr/>
          <p:nvPr/>
        </p:nvSpPr>
        <p:spPr>
          <a:xfrm>
            <a:off x="7772400" y="3246120"/>
            <a:ext cx="1097280" cy="1371600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</p:spPr>
      </p:sp>
      <p:sp>
        <p:nvSpPr>
          <p:cNvPr id="32" name="Text 25"/>
          <p:cNvSpPr/>
          <p:nvPr/>
        </p:nvSpPr>
        <p:spPr>
          <a:xfrm>
            <a:off x="7772400" y="3337560"/>
            <a:ext cx="1097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Hybrid</a:t>
            </a:r>
            <a:endParaRPr lang="en-US" sz="2600" dirty="0"/>
          </a:p>
        </p:txBody>
      </p:sp>
      <p:sp>
        <p:nvSpPr>
          <p:cNvPr id="33" name="Text 26"/>
          <p:cNvSpPr/>
          <p:nvPr/>
        </p:nvSpPr>
        <p:spPr>
          <a:xfrm>
            <a:off x="7772400" y="3950208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Mode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5603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34747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136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Pipeline Architecture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274320" y="1371600"/>
            <a:ext cx="1417320" cy="1005840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274320" y="146304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MicrosoftDocs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upstream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274320" y="2029968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azure-ai-docs-pr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1737360" y="1874520"/>
            <a:ext cx="32004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011680" y="1792224"/>
            <a:ext cx="109728" cy="16459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103120" y="1371600"/>
            <a:ext cx="1417320" cy="100584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103120" y="146304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Sync &amp;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Convert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103120" y="2029968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scripts/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566160" y="1874520"/>
            <a:ext cx="32004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840480" y="1792224"/>
            <a:ext cx="109728" cy="16459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931920" y="1371600"/>
            <a:ext cx="1417320" cy="100584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3931920" y="146304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docs-vnext/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931920" y="2029968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13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280 MDX pages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394960" y="1874520"/>
            <a:ext cx="32004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669280" y="1792224"/>
            <a:ext cx="109728" cy="16459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760720" y="1371600"/>
            <a:ext cx="1417320" cy="100584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760720" y="146304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FastMCP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Server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760720" y="2029968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foundry_docs_mcp/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223760" y="1874520"/>
            <a:ext cx="32004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498080" y="1792224"/>
            <a:ext cx="109728" cy="16459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589520" y="1371600"/>
            <a:ext cx="1417320" cy="1005840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7589520" y="146304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 Assistants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&amp; IDEs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7589520" y="2029968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 MCP protocol</a:t>
            </a:r>
            <a:endParaRPr lang="en-US" sz="1000" dirty="0"/>
          </a:p>
        </p:txBody>
      </p:sp>
      <p:pic>
        <p:nvPicPr>
          <p:cNvPr id="2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798064"/>
            <a:ext cx="237744" cy="237744"/>
          </a:xfrm>
          <a:prstGeom prst="rect">
            <a:avLst/>
          </a:prstGeom>
        </p:spPr>
      </p:pic>
      <p:sp>
        <p:nvSpPr>
          <p:cNvPr id="28" name="Text 25"/>
          <p:cNvSpPr/>
          <p:nvPr/>
        </p:nvSpPr>
        <p:spPr>
          <a:xfrm>
            <a:off x="640080" y="2743200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Auto-sync from upstream MicrosoftDocs 4×/day via GitHub Actions</a:t>
            </a:r>
            <a:endParaRPr lang="en-US" sz="1350" dirty="0"/>
          </a:p>
        </p:txBody>
      </p:sp>
      <p:pic>
        <p:nvPicPr>
          <p:cNvPr id="2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3291840"/>
            <a:ext cx="237744" cy="237744"/>
          </a:xfrm>
          <a:prstGeom prst="rect">
            <a:avLst/>
          </a:prstGeom>
        </p:spPr>
      </p:pic>
      <p:sp>
        <p:nvSpPr>
          <p:cNvPr id="30" name="Text 26"/>
          <p:cNvSpPr/>
          <p:nvPr/>
        </p:nvSpPr>
        <p:spPr>
          <a:xfrm>
            <a:off x="640080" y="3236976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 MS Learn markdown to Mintlify MDX — callouts, tabs, code groups</a:t>
            </a:r>
            <a:endParaRPr lang="en-US" sz="1350" dirty="0"/>
          </a:p>
        </p:txBody>
      </p:sp>
      <p:pic>
        <p:nvPicPr>
          <p:cNvPr id="3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3785616"/>
            <a:ext cx="237744" cy="237744"/>
          </a:xfrm>
          <a:prstGeom prst="rect">
            <a:avLst/>
          </a:prstGeom>
        </p:spPr>
      </p:pic>
      <p:sp>
        <p:nvSpPr>
          <p:cNvPr id="32" name="Text 27"/>
          <p:cNvSpPr/>
          <p:nvPr/>
        </p:nvSpPr>
        <p:spPr>
          <a:xfrm>
            <a:off x="640080" y="3730752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workflows continuously improve accuracy, structure, and completeness</a:t>
            </a:r>
            <a:endParaRPr lang="en-US" sz="1350" dirty="0"/>
          </a:p>
        </p:txBody>
      </p:sp>
      <p:pic>
        <p:nvPicPr>
          <p:cNvPr id="3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320" y="4279392"/>
            <a:ext cx="237744" cy="237744"/>
          </a:xfrm>
          <a:prstGeom prst="rect">
            <a:avLst/>
          </a:prstGeom>
        </p:spPr>
      </p:pic>
      <p:sp>
        <p:nvSpPr>
          <p:cNvPr id="34" name="Text 28"/>
          <p:cNvSpPr/>
          <p:nvPr/>
        </p:nvSpPr>
        <p:spPr>
          <a:xfrm>
            <a:off x="640080" y="4224528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FastMCP server with hybrid Azure Search (keyword + vector + semantic reranking)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56032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347472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136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Documentation Coverage — 280 Pages Across 15 Sections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274320" y="1005840"/>
          <a:ext cx="859536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136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286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347472"/>
            <a:ext cx="5943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29 Agentic Workflows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365760" y="1024128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Event-driven AI agents maintaining docs automatically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320040" y="1554480"/>
            <a:ext cx="2697480" cy="14173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554480"/>
            <a:ext cx="2697480" cy="7315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" y="1719072"/>
            <a:ext cx="320040" cy="3200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86968" y="1700784"/>
            <a:ext cx="20391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  Monitoring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484632" y="2121408"/>
            <a:ext cx="245973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Upstream, SDK, community,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Reddit, diff reports, Dependabot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218688" y="1554480"/>
            <a:ext cx="2697480" cy="141732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218688" y="1554480"/>
            <a:ext cx="2697480" cy="7315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3280" y="1719072"/>
            <a:ext cx="320040" cy="32004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785616" y="1700784"/>
            <a:ext cx="20391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  Testing</a:t>
            </a:r>
            <a:endParaRPr lang="en-US" sz="1450" dirty="0"/>
          </a:p>
        </p:txBody>
      </p:sp>
      <p:sp>
        <p:nvSpPr>
          <p:cNvPr id="14" name="Text 10"/>
          <p:cNvSpPr/>
          <p:nvPr/>
        </p:nvSpPr>
        <p:spPr>
          <a:xfrm>
            <a:off x="3383280" y="2121408"/>
            <a:ext cx="245973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Noob tester, multi-device,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quality, testbench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6117336" y="1554480"/>
            <a:ext cx="2697480" cy="1417320"/>
          </a:xfrm>
          <a:prstGeom prst="rect">
            <a:avLst/>
          </a:prstGeom>
          <a:solidFill>
            <a:srgbClr val="025E6A"/>
          </a:solidFill>
          <a:ln w="12700">
            <a:solidFill>
              <a:srgbClr val="025E6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117336" y="1554480"/>
            <a:ext cx="2697480" cy="7315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1928" y="1719072"/>
            <a:ext cx="320040" cy="32004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684264" y="1700784"/>
            <a:ext cx="20391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  Content Updates</a:t>
            </a:r>
            <a:endParaRPr lang="en-US" sz="1450" dirty="0"/>
          </a:p>
        </p:txBody>
      </p:sp>
      <p:sp>
        <p:nvSpPr>
          <p:cNvPr id="19" name="Text 14"/>
          <p:cNvSpPr/>
          <p:nvPr/>
        </p:nvSpPr>
        <p:spPr>
          <a:xfrm>
            <a:off x="6281928" y="2121408"/>
            <a:ext cx="245973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Healer, updater, unbloat,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glossary, labels, sync</a:t>
            </a:r>
            <a:endParaRPr lang="en-US" sz="1150" dirty="0"/>
          </a:p>
        </p:txBody>
      </p:sp>
      <p:sp>
        <p:nvSpPr>
          <p:cNvPr id="20" name="Shape 15"/>
          <p:cNvSpPr/>
          <p:nvPr/>
        </p:nvSpPr>
        <p:spPr>
          <a:xfrm>
            <a:off x="320040" y="3154680"/>
            <a:ext cx="2697480" cy="14173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320040" y="3154680"/>
            <a:ext cx="2697480" cy="7315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" y="3319272"/>
            <a:ext cx="320040" cy="32004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886968" y="3300984"/>
            <a:ext cx="20391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  Quality Review</a:t>
            </a:r>
            <a:endParaRPr lang="en-US" sz="1450" dirty="0"/>
          </a:p>
        </p:txBody>
      </p:sp>
      <p:sp>
        <p:nvSpPr>
          <p:cNvPr id="24" name="Text 18"/>
          <p:cNvSpPr/>
          <p:nvPr/>
        </p:nvSpPr>
        <p:spPr>
          <a:xfrm>
            <a:off x="484632" y="3721608"/>
            <a:ext cx="245973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Auditor, PR reviewer,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 verify, push check</a:t>
            </a:r>
            <a:endParaRPr lang="en-US" sz="1150" dirty="0"/>
          </a:p>
        </p:txBody>
      </p:sp>
      <p:sp>
        <p:nvSpPr>
          <p:cNvPr id="25" name="Shape 19"/>
          <p:cNvSpPr/>
          <p:nvPr/>
        </p:nvSpPr>
        <p:spPr>
          <a:xfrm>
            <a:off x="3218688" y="3154680"/>
            <a:ext cx="2697480" cy="141732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3218688" y="3154680"/>
            <a:ext cx="2697480" cy="7315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83280" y="3319272"/>
            <a:ext cx="320040" cy="320040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3785616" y="3300984"/>
            <a:ext cx="20391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  Community</a:t>
            </a:r>
            <a:endParaRPr lang="en-US" sz="1450" dirty="0"/>
          </a:p>
        </p:txBody>
      </p:sp>
      <p:sp>
        <p:nvSpPr>
          <p:cNvPr id="29" name="Text 22"/>
          <p:cNvSpPr/>
          <p:nvPr/>
        </p:nvSpPr>
        <p:spPr>
          <a:xfrm>
            <a:off x="3383280" y="3721608"/>
            <a:ext cx="245973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Discussion monitor,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responder, auto-triage</a:t>
            </a:r>
            <a:endParaRPr lang="en-US" sz="1150" dirty="0"/>
          </a:p>
        </p:txBody>
      </p:sp>
      <p:sp>
        <p:nvSpPr>
          <p:cNvPr id="30" name="Shape 23"/>
          <p:cNvSpPr/>
          <p:nvPr/>
        </p:nvSpPr>
        <p:spPr>
          <a:xfrm>
            <a:off x="6117336" y="3154680"/>
            <a:ext cx="2697480" cy="1417320"/>
          </a:xfrm>
          <a:prstGeom prst="rect">
            <a:avLst/>
          </a:prstGeom>
          <a:solidFill>
            <a:srgbClr val="025E6A"/>
          </a:solidFill>
          <a:ln w="12700">
            <a:solidFill>
              <a:srgbClr val="025E6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1" name="Shape 24"/>
          <p:cNvSpPr/>
          <p:nvPr/>
        </p:nvSpPr>
        <p:spPr>
          <a:xfrm>
            <a:off x="6117336" y="3154680"/>
            <a:ext cx="2697480" cy="7315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81928" y="3319272"/>
            <a:ext cx="320040" cy="320040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6684264" y="3300984"/>
            <a:ext cx="20391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  Operations</a:t>
            </a:r>
            <a:endParaRPr lang="en-US" sz="1450" dirty="0"/>
          </a:p>
        </p:txBody>
      </p:sp>
      <p:sp>
        <p:nvSpPr>
          <p:cNvPr id="34" name="Text 26"/>
          <p:cNvSpPr/>
          <p:nvPr/>
        </p:nvSpPr>
        <p:spPr>
          <a:xfrm>
            <a:off x="6281928" y="3721608"/>
            <a:ext cx="245973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deck maintainer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(this deck!)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5603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34747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136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Event-Driven Trigger Coverage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320040" y="1143000"/>
            <a:ext cx="2651760" cy="16459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1208" y="1399032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97280" y="1307592"/>
            <a:ext cx="1783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22</a:t>
            </a:r>
            <a:endParaRPr lang="en-US" sz="5200" dirty="0"/>
          </a:p>
        </p:txBody>
      </p:sp>
      <p:sp>
        <p:nvSpPr>
          <p:cNvPr id="7" name="Text 4"/>
          <p:cNvSpPr/>
          <p:nvPr/>
        </p:nvSpPr>
        <p:spPr>
          <a:xfrm>
            <a:off x="484632" y="2167128"/>
            <a:ext cx="24140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Issues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484632" y="2459736"/>
            <a:ext cx="2414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 opened/labeled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3227832" y="1143000"/>
            <a:ext cx="2651760" cy="1645920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0" y="1399032"/>
            <a:ext cx="457200" cy="45720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005072" y="1307592"/>
            <a:ext cx="1783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18</a:t>
            </a:r>
            <a:endParaRPr lang="en-US" sz="5200" dirty="0"/>
          </a:p>
        </p:txBody>
      </p:sp>
      <p:sp>
        <p:nvSpPr>
          <p:cNvPr id="12" name="Text 8"/>
          <p:cNvSpPr/>
          <p:nvPr/>
        </p:nvSpPr>
        <p:spPr>
          <a:xfrm>
            <a:off x="3392424" y="2167128"/>
            <a:ext cx="24140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Dispatch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3392424" y="2459736"/>
            <a:ext cx="2414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workflow_dispatch + repo_dispatch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6135624" y="1143000"/>
            <a:ext cx="2651760" cy="164592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6792" y="1399032"/>
            <a:ext cx="457200" cy="45720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12864" y="1307592"/>
            <a:ext cx="1783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12</a:t>
            </a:r>
            <a:endParaRPr lang="en-US" sz="5200" dirty="0"/>
          </a:p>
        </p:txBody>
      </p:sp>
      <p:sp>
        <p:nvSpPr>
          <p:cNvPr id="17" name="Text 12"/>
          <p:cNvSpPr/>
          <p:nvPr/>
        </p:nvSpPr>
        <p:spPr>
          <a:xfrm>
            <a:off x="6300216" y="2167128"/>
            <a:ext cx="24140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Schedule</a:t>
            </a:r>
            <a:endParaRPr lang="en-US" sz="1300" dirty="0"/>
          </a:p>
        </p:txBody>
      </p:sp>
      <p:sp>
        <p:nvSpPr>
          <p:cNvPr id="18" name="Text 13"/>
          <p:cNvSpPr/>
          <p:nvPr/>
        </p:nvSpPr>
        <p:spPr>
          <a:xfrm>
            <a:off x="6300216" y="2459736"/>
            <a:ext cx="2414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daily/weekly cron jobs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320040" y="2990088"/>
            <a:ext cx="2651760" cy="16459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208" y="3246120"/>
            <a:ext cx="457200" cy="45720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097280" y="3154680"/>
            <a:ext cx="1783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8</a:t>
            </a:r>
            <a:endParaRPr lang="en-US" sz="5200" dirty="0"/>
          </a:p>
        </p:txBody>
      </p:sp>
      <p:sp>
        <p:nvSpPr>
          <p:cNvPr id="22" name="Text 16"/>
          <p:cNvSpPr/>
          <p:nvPr/>
        </p:nvSpPr>
        <p:spPr>
          <a:xfrm>
            <a:off x="484632" y="4014216"/>
            <a:ext cx="24140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Pull Request</a:t>
            </a:r>
            <a:endParaRPr lang="en-US" sz="1300" dirty="0"/>
          </a:p>
        </p:txBody>
      </p:sp>
      <p:sp>
        <p:nvSpPr>
          <p:cNvPr id="23" name="Text 17"/>
          <p:cNvSpPr/>
          <p:nvPr/>
        </p:nvSpPr>
        <p:spPr>
          <a:xfrm>
            <a:off x="484632" y="4306824"/>
            <a:ext cx="2414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 open/sync/merge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3227832" y="2990088"/>
            <a:ext cx="2651760" cy="1645920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29000" y="3246120"/>
            <a:ext cx="457200" cy="457200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4005072" y="3154680"/>
            <a:ext cx="1783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5200" dirty="0"/>
          </a:p>
        </p:txBody>
      </p:sp>
      <p:sp>
        <p:nvSpPr>
          <p:cNvPr id="27" name="Text 20"/>
          <p:cNvSpPr/>
          <p:nvPr/>
        </p:nvSpPr>
        <p:spPr>
          <a:xfrm>
            <a:off x="3392424" y="4014216"/>
            <a:ext cx="24140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Workflow Run</a:t>
            </a:r>
            <a:endParaRPr lang="en-US" sz="1300" dirty="0"/>
          </a:p>
        </p:txBody>
      </p:sp>
      <p:sp>
        <p:nvSpPr>
          <p:cNvPr id="28" name="Text 21"/>
          <p:cNvSpPr/>
          <p:nvPr/>
        </p:nvSpPr>
        <p:spPr>
          <a:xfrm>
            <a:off x="3392424" y="4306824"/>
            <a:ext cx="2414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chained workflow triggers</a:t>
            </a:r>
            <a:endParaRPr lang="en-US" sz="1000" dirty="0"/>
          </a:p>
        </p:txBody>
      </p:sp>
      <p:sp>
        <p:nvSpPr>
          <p:cNvPr id="29" name="Shape 22"/>
          <p:cNvSpPr/>
          <p:nvPr/>
        </p:nvSpPr>
        <p:spPr>
          <a:xfrm>
            <a:off x="6135624" y="2990088"/>
            <a:ext cx="2651760" cy="164592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36792" y="3246120"/>
            <a:ext cx="457200" cy="457200"/>
          </a:xfrm>
          <a:prstGeom prst="rect">
            <a:avLst/>
          </a:prstGeom>
        </p:spPr>
      </p:pic>
      <p:sp>
        <p:nvSpPr>
          <p:cNvPr id="31" name="Text 23"/>
          <p:cNvSpPr/>
          <p:nvPr/>
        </p:nvSpPr>
        <p:spPr>
          <a:xfrm>
            <a:off x="6912864" y="3154680"/>
            <a:ext cx="1783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endParaRPr lang="en-US" sz="5200" dirty="0"/>
          </a:p>
        </p:txBody>
      </p:sp>
      <p:sp>
        <p:nvSpPr>
          <p:cNvPr id="32" name="Text 24"/>
          <p:cNvSpPr/>
          <p:nvPr/>
        </p:nvSpPr>
        <p:spPr>
          <a:xfrm>
            <a:off x="6300216" y="4014216"/>
            <a:ext cx="24140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</a:t>
            </a:r>
            <a:endParaRPr lang="en-US" sz="1300" dirty="0"/>
          </a:p>
        </p:txBody>
      </p:sp>
      <p:sp>
        <p:nvSpPr>
          <p:cNvPr id="33" name="Text 25"/>
          <p:cNvSpPr/>
          <p:nvPr/>
        </p:nvSpPr>
        <p:spPr>
          <a:xfrm>
            <a:off x="6300216" y="4306824"/>
            <a:ext cx="2414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 to main branch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56032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34747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136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Quality Assurance Pipeline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320040" y="1143000"/>
            <a:ext cx="1920240" cy="310896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1325880"/>
            <a:ext cx="640080" cy="64008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1417320"/>
            <a:ext cx="457200" cy="4572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320040" y="21031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Pre-Merge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11480" y="2587752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on-push-docs-check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411480" y="306324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pr-docs-reviewer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2304288" y="2697480"/>
            <a:ext cx="210312" cy="0"/>
          </a:xfrm>
          <a:prstGeom prst="line">
            <a:avLst/>
          </a:prstGeom>
          <a:noFill/>
          <a:ln w="31750">
            <a:solidFill>
              <a:srgbClr val="02809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560320" y="1143000"/>
            <a:ext cx="1920240" cy="3108960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200400" y="1325880"/>
            <a:ext cx="640080" cy="64008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0" y="1417320"/>
            <a:ext cx="457200" cy="45720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2560320" y="21031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Post-Merge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2651760" y="2587752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post-merge-docs-verify</a:t>
            </a:r>
            <a:endParaRPr lang="en-US" sz="1050" dirty="0"/>
          </a:p>
        </p:txBody>
      </p:sp>
      <p:sp>
        <p:nvSpPr>
          <p:cNvPr id="16" name="Text 12"/>
          <p:cNvSpPr/>
          <p:nvPr/>
        </p:nvSpPr>
        <p:spPr>
          <a:xfrm>
            <a:off x="2651760" y="306324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post-sync-updater</a:t>
            </a:r>
            <a:endParaRPr lang="en-US" sz="1050" dirty="0"/>
          </a:p>
        </p:txBody>
      </p:sp>
      <p:sp>
        <p:nvSpPr>
          <p:cNvPr id="17" name="Shape 13"/>
          <p:cNvSpPr/>
          <p:nvPr/>
        </p:nvSpPr>
        <p:spPr>
          <a:xfrm>
            <a:off x="4544568" y="2697480"/>
            <a:ext cx="210312" cy="0"/>
          </a:xfrm>
          <a:prstGeom prst="line">
            <a:avLst/>
          </a:prstGeom>
          <a:noFill/>
          <a:ln w="31750">
            <a:solidFill>
              <a:srgbClr val="028090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4800600" y="1143000"/>
            <a:ext cx="1920240" cy="310896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5440680" y="1325880"/>
            <a:ext cx="640080" cy="64008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2120" y="1417320"/>
            <a:ext cx="457200" cy="45720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4800600" y="21031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Daily Healing</a:t>
            </a:r>
            <a:endParaRPr lang="en-US" sz="1400" dirty="0"/>
          </a:p>
        </p:txBody>
      </p:sp>
      <p:sp>
        <p:nvSpPr>
          <p:cNvPr id="22" name="Text 17"/>
          <p:cNvSpPr/>
          <p:nvPr/>
        </p:nvSpPr>
        <p:spPr>
          <a:xfrm>
            <a:off x="4892040" y="2587752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docs-auditor</a:t>
            </a:r>
            <a:endParaRPr lang="en-US" sz="1050" dirty="0"/>
          </a:p>
        </p:txBody>
      </p:sp>
      <p:sp>
        <p:nvSpPr>
          <p:cNvPr id="23" name="Text 18"/>
          <p:cNvSpPr/>
          <p:nvPr/>
        </p:nvSpPr>
        <p:spPr>
          <a:xfrm>
            <a:off x="4892040" y="306324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daily-doc-healer</a:t>
            </a:r>
            <a:endParaRPr lang="en-US" sz="1050" dirty="0"/>
          </a:p>
        </p:txBody>
      </p:sp>
      <p:sp>
        <p:nvSpPr>
          <p:cNvPr id="24" name="Text 19"/>
          <p:cNvSpPr/>
          <p:nvPr/>
        </p:nvSpPr>
        <p:spPr>
          <a:xfrm>
            <a:off x="4892040" y="3538728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daily-doc-updater</a:t>
            </a:r>
            <a:endParaRPr lang="en-US" sz="1050" dirty="0"/>
          </a:p>
        </p:txBody>
      </p:sp>
      <p:sp>
        <p:nvSpPr>
          <p:cNvPr id="25" name="Shape 20"/>
          <p:cNvSpPr/>
          <p:nvPr/>
        </p:nvSpPr>
        <p:spPr>
          <a:xfrm>
            <a:off x="6784848" y="2697480"/>
            <a:ext cx="210312" cy="0"/>
          </a:xfrm>
          <a:prstGeom prst="line">
            <a:avLst/>
          </a:prstGeom>
          <a:noFill/>
          <a:ln w="31750">
            <a:solidFill>
              <a:srgbClr val="028090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7040880" y="1143000"/>
            <a:ext cx="1920240" cy="310896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Shape 22"/>
          <p:cNvSpPr/>
          <p:nvPr/>
        </p:nvSpPr>
        <p:spPr>
          <a:xfrm>
            <a:off x="7680960" y="1325880"/>
            <a:ext cx="640080" cy="64008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0" y="1417320"/>
            <a:ext cx="457200" cy="457200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7040880" y="21031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Testing</a:t>
            </a:r>
            <a:endParaRPr lang="en-US" sz="1400" dirty="0"/>
          </a:p>
        </p:txBody>
      </p:sp>
      <p:sp>
        <p:nvSpPr>
          <p:cNvPr id="30" name="Text 24"/>
          <p:cNvSpPr/>
          <p:nvPr/>
        </p:nvSpPr>
        <p:spPr>
          <a:xfrm>
            <a:off x="7132320" y="2587752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docs-noob-tester</a:t>
            </a:r>
            <a:endParaRPr lang="en-US" sz="1050" dirty="0"/>
          </a:p>
        </p:txBody>
      </p:sp>
      <p:sp>
        <p:nvSpPr>
          <p:cNvPr id="31" name="Text 25"/>
          <p:cNvSpPr/>
          <p:nvPr/>
        </p:nvSpPr>
        <p:spPr>
          <a:xfrm>
            <a:off x="7132320" y="306324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multi-device-tester</a:t>
            </a:r>
            <a:endParaRPr lang="en-US" sz="1050" dirty="0"/>
          </a:p>
        </p:txBody>
      </p:sp>
      <p:sp>
        <p:nvSpPr>
          <p:cNvPr id="32" name="Text 26"/>
          <p:cNvSpPr/>
          <p:nvPr/>
        </p:nvSpPr>
        <p:spPr>
          <a:xfrm>
            <a:off x="7132320" y="3538728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search-test</a:t>
            </a:r>
            <a:endParaRPr lang="en-US" sz="1050" dirty="0"/>
          </a:p>
        </p:txBody>
      </p:sp>
      <p:sp>
        <p:nvSpPr>
          <p:cNvPr id="33" name="Text 27"/>
          <p:cNvSpPr/>
          <p:nvPr/>
        </p:nvSpPr>
        <p:spPr>
          <a:xfrm>
            <a:off x="365760" y="446227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5A8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merge triggers automated checks · Daily audits catch regressions · Noob testing validates first-time reader experience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136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286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320040"/>
            <a:ext cx="6858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Evaluation Harness Results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365760" y="896112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8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evaluations · 4 servers · 2 frontier models · 2026-05-17</a:t>
            </a:r>
            <a:endParaRPr lang="en-US" sz="11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188720"/>
          <a:ext cx="5166360" cy="1737360"/>
        </p:xfrm>
        <a:graphic>
          <a:graphicData uri="http://schemas.openxmlformats.org/drawingml/2006/table">
            <a:tbl>
              <a:tblPr/>
              <a:tblGrid>
                <a:gridCol w="2194560"/>
                <a:gridCol w="1097280"/>
                <a:gridCol w="1097280"/>
                <a:gridCol w="77724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claude-sonnet-4.6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gpt-5.4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2C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docs-vnext/ 🥇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2C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2C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0.952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2C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2C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2C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2C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0.952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2C33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E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Mintlify MCP 🥈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E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0.952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E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A2E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0.952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A80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docs/ 🥉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A80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0.951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A80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A80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0.951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6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E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MS Learn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E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E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A2E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A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320040" y="3017520"/>
            <a:ext cx="5166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Hypothesis Testing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320040" y="3401568"/>
            <a:ext cx="5166360" cy="320040"/>
          </a:xfrm>
          <a:prstGeom prst="rect">
            <a:avLst/>
          </a:prstGeom>
          <a:solidFill>
            <a:srgbClr val="022C33"/>
          </a:solidFill>
          <a:ln w="6350">
            <a:solidFill>
              <a:srgbClr val="02809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38912" y="3447288"/>
            <a:ext cx="3474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H1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822960" y="3447288"/>
            <a:ext cx="1234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9A8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⚠️ MARGINAL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2084832" y="3456432"/>
            <a:ext cx="32918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docs-vnext (0.952) vs docs/ (0.951), δ=+0.001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20040" y="3794760"/>
            <a:ext cx="5166360" cy="320040"/>
          </a:xfrm>
          <a:prstGeom prst="rect">
            <a:avLst/>
          </a:prstGeom>
          <a:solidFill>
            <a:srgbClr val="022C33"/>
          </a:solidFill>
          <a:ln w="6350">
            <a:solidFill>
              <a:srgbClr val="02809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38912" y="3840480"/>
            <a:ext cx="3474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H2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822960" y="3840480"/>
            <a:ext cx="1234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A808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➖ NO DIFF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2084832" y="3849624"/>
            <a:ext cx="32918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Mintlify MCP (0.952), δ=+0.000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320040" y="4187952"/>
            <a:ext cx="5166360" cy="320040"/>
          </a:xfrm>
          <a:prstGeom prst="rect">
            <a:avLst/>
          </a:prstGeom>
          <a:solidFill>
            <a:srgbClr val="022C33"/>
          </a:solidFill>
          <a:ln w="6350">
            <a:solidFill>
              <a:srgbClr val="02809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38912" y="4233672"/>
            <a:ext cx="3474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H3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822960" y="4233672"/>
            <a:ext cx="1234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9A8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⚠️ MARGINAL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2084832" y="4242816"/>
            <a:ext cx="32918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MS Learn (0.947), δ=+0.005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320040" y="4581144"/>
            <a:ext cx="5166360" cy="320040"/>
          </a:xfrm>
          <a:prstGeom prst="rect">
            <a:avLst/>
          </a:prstGeom>
          <a:solidFill>
            <a:srgbClr val="022C33"/>
          </a:solidFill>
          <a:ln w="6350">
            <a:solidFill>
              <a:srgbClr val="028090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38912" y="4626864"/>
            <a:ext cx="3474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H4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822960" y="4626864"/>
            <a:ext cx="1234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A89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✅ SUPPORTED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2084832" y="4636008"/>
            <a:ext cx="32918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Rankings consistent: vnext ≥ docs/ across models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5687568" y="1188720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Category Breakdown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5687568" y="1572768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agent-development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5687568" y="1828800"/>
            <a:ext cx="2834640" cy="256032"/>
          </a:xfrm>
          <a:prstGeom prst="rect">
            <a:avLst/>
          </a:prstGeom>
          <a:solidFill>
            <a:srgbClr val="022C33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5687568" y="1828800"/>
            <a:ext cx="2528499" cy="256032"/>
          </a:xfrm>
          <a:prstGeom prst="rect">
            <a:avLst/>
          </a:prstGeom>
          <a:solidFill>
            <a:srgbClr val="5A8087"/>
          </a:solidFill>
          <a:ln w="12700">
            <a:solidFill>
              <a:srgbClr val="5A8087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8595360" y="1828800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8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0.973 —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5687568" y="2231136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getting-started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5687568" y="2487168"/>
            <a:ext cx="2834640" cy="256032"/>
          </a:xfrm>
          <a:prstGeom prst="rect">
            <a:avLst/>
          </a:prstGeom>
          <a:solidFill>
            <a:srgbClr val="022C33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5687568" y="2487168"/>
            <a:ext cx="1848185" cy="256032"/>
          </a:xfrm>
          <a:prstGeom prst="rect">
            <a:avLst/>
          </a:prstGeom>
          <a:solidFill>
            <a:srgbClr val="5A8087"/>
          </a:solidFill>
          <a:ln w="12700">
            <a:solidFill>
              <a:srgbClr val="5A8087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8595360" y="2487168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8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0.913 —</a:t>
            </a:r>
            <a:endParaRPr lang="en-US" sz="900" dirty="0"/>
          </a:p>
        </p:txBody>
      </p:sp>
      <p:sp>
        <p:nvSpPr>
          <p:cNvPr id="32" name="Text 29"/>
          <p:cNvSpPr/>
          <p:nvPr/>
        </p:nvSpPr>
        <p:spPr>
          <a:xfrm>
            <a:off x="5687568" y="2889504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infra-security</a:t>
            </a:r>
            <a:endParaRPr lang="en-US" sz="950" dirty="0"/>
          </a:p>
        </p:txBody>
      </p:sp>
      <p:sp>
        <p:nvSpPr>
          <p:cNvPr id="33" name="Shape 30"/>
          <p:cNvSpPr/>
          <p:nvPr/>
        </p:nvSpPr>
        <p:spPr>
          <a:xfrm>
            <a:off x="5687568" y="3145536"/>
            <a:ext cx="2834640" cy="256032"/>
          </a:xfrm>
          <a:prstGeom prst="rect">
            <a:avLst/>
          </a:prstGeom>
          <a:solidFill>
            <a:srgbClr val="022C33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687568" y="3145536"/>
            <a:ext cx="2460468" cy="256032"/>
          </a:xfrm>
          <a:prstGeom prst="rect">
            <a:avLst/>
          </a:prstGeom>
          <a:solidFill>
            <a:srgbClr val="5A8087"/>
          </a:solidFill>
          <a:ln w="12700">
            <a:solidFill>
              <a:srgbClr val="5A8087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8595360" y="3145536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8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0.967 —</a:t>
            </a:r>
            <a:endParaRPr lang="en-US" sz="900" dirty="0"/>
          </a:p>
        </p:txBody>
      </p:sp>
      <p:sp>
        <p:nvSpPr>
          <p:cNvPr id="36" name="Text 33"/>
          <p:cNvSpPr/>
          <p:nvPr/>
        </p:nvSpPr>
        <p:spPr>
          <a:xfrm>
            <a:off x="5687568" y="3547872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observability-eval</a:t>
            </a:r>
            <a:endParaRPr lang="en-US" sz="950" dirty="0"/>
          </a:p>
        </p:txBody>
      </p:sp>
      <p:sp>
        <p:nvSpPr>
          <p:cNvPr id="37" name="Shape 34"/>
          <p:cNvSpPr/>
          <p:nvPr/>
        </p:nvSpPr>
        <p:spPr>
          <a:xfrm>
            <a:off x="5687568" y="3803904"/>
            <a:ext cx="2834640" cy="256032"/>
          </a:xfrm>
          <a:prstGeom prst="rect">
            <a:avLst/>
          </a:prstGeom>
          <a:solidFill>
            <a:srgbClr val="022C33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5687568" y="3803904"/>
            <a:ext cx="2834640" cy="256032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8595360" y="3803904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▲</a:t>
            </a:r>
            <a:endParaRPr lang="en-US" sz="900" dirty="0"/>
          </a:p>
        </p:txBody>
      </p:sp>
      <p:sp>
        <p:nvSpPr>
          <p:cNvPr id="40" name="Text 37"/>
          <p:cNvSpPr/>
          <p:nvPr/>
        </p:nvSpPr>
        <p:spPr>
          <a:xfrm>
            <a:off x="5687568" y="420624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sdk-api</a:t>
            </a:r>
            <a:endParaRPr lang="en-US" sz="950" dirty="0"/>
          </a:p>
        </p:txBody>
      </p:sp>
      <p:sp>
        <p:nvSpPr>
          <p:cNvPr id="41" name="Shape 38"/>
          <p:cNvSpPr/>
          <p:nvPr/>
        </p:nvSpPr>
        <p:spPr>
          <a:xfrm>
            <a:off x="5687568" y="4462272"/>
            <a:ext cx="2834640" cy="256032"/>
          </a:xfrm>
          <a:prstGeom prst="rect">
            <a:avLst/>
          </a:prstGeom>
          <a:solidFill>
            <a:srgbClr val="022C33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5687568" y="4462272"/>
            <a:ext cx="2233696" cy="256032"/>
          </a:xfrm>
          <a:prstGeom prst="rect">
            <a:avLst/>
          </a:prstGeom>
          <a:solidFill>
            <a:srgbClr val="5A8087"/>
          </a:solidFill>
          <a:ln w="12700">
            <a:solidFill>
              <a:srgbClr val="5A8087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8595360" y="4462272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8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0.947 —</a:t>
            </a:r>
            <a:endParaRPr lang="en-US" sz="900" dirty="0"/>
          </a:p>
        </p:txBody>
      </p:sp>
      <p:sp>
        <p:nvSpPr>
          <p:cNvPr id="44" name="Shape 41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28090">
              <a:alpha val="30000"/>
            </a:srgbClr>
          </a:solidFill>
          <a:ln w="12700">
            <a:solidFill>
              <a:srgbClr val="028090">
                <a:alpha val="30000"/>
              </a:srgbClr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365760" y="4791456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docs-vnext leads in observability-eval (1.000 vs 0.856) — perfect score from Mintlify MDX enhancements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5603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34747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136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Community Integration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320040" y="1143000"/>
            <a:ext cx="2743200" cy="352044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362456" y="1344168"/>
            <a:ext cx="658368" cy="65836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53896" y="1435608"/>
            <a:ext cx="475488" cy="47548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429768" y="2130552"/>
            <a:ext cx="2523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Community Discussions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429768" y="2624328"/>
            <a:ext cx="2523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microsoft-foundry/discussions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448056" y="2990088"/>
            <a:ext cx="248716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Cross-repo repository_dispatch fires whenever a new discussion is posted. The agent reads context from cache-memory and determines if docs need updating or a response is warranted.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264408" y="1143000"/>
            <a:ext cx="2743200" cy="3520440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306824" y="1344168"/>
            <a:ext cx="658368" cy="65836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8264" y="1435608"/>
            <a:ext cx="475488" cy="47548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374136" y="2130552"/>
            <a:ext cx="2523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Discussion Feedback Responder</a:t>
            </a:r>
            <a:endParaRPr lang="en-US" sz="1350" dirty="0"/>
          </a:p>
        </p:txBody>
      </p:sp>
      <p:sp>
        <p:nvSpPr>
          <p:cNvPr id="14" name="Text 10"/>
          <p:cNvSpPr/>
          <p:nvPr/>
        </p:nvSpPr>
        <p:spPr>
          <a:xfrm>
            <a:off x="3374136" y="2624328"/>
            <a:ext cx="2523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issue_comment events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3392424" y="2990088"/>
            <a:ext cx="248716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Automatically responds to discussions referencing documentation gaps. Surfaces the most relevant docs and flags content needing improvement.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6208776" y="1143000"/>
            <a:ext cx="2743200" cy="352044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7251192" y="1344168"/>
            <a:ext cx="658368" cy="65836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42632" y="1435608"/>
            <a:ext cx="475488" cy="47548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6318504" y="2130552"/>
            <a:ext cx="2523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Auto-Triage Issues</a:t>
            </a:r>
            <a:endParaRPr lang="en-US" sz="1350" dirty="0"/>
          </a:p>
        </p:txBody>
      </p:sp>
      <p:sp>
        <p:nvSpPr>
          <p:cNvPr id="20" name="Text 15"/>
          <p:cNvSpPr/>
          <p:nvPr/>
        </p:nvSpPr>
        <p:spPr>
          <a:xfrm>
            <a:off x="6318504" y="2624328"/>
            <a:ext cx="2523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issues: opened, labeled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6336792" y="2990088"/>
            <a:ext cx="248716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Labels and triages new GitHub issues, routing documentation bugs to the appropriate agent workflows. Integrates with label-ops for structured labeling.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136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2860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34747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SDK Release Monitoring — 4 Repos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365760" y="987552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Detects new azure-ai-projects releases and assesses documentation impact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20040" y="1554480"/>
            <a:ext cx="1920240" cy="292608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554480"/>
            <a:ext cx="1920240" cy="64008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0976" y="1755648"/>
            <a:ext cx="658368" cy="65836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320040" y="251460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Python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411480" y="2980944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Azure/azure-sdk-for-python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393192" y="3346704"/>
            <a:ext cx="17739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B8DA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sdk/ai/azure-ai-projects/CHANGELOG.md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548640" y="3931920"/>
            <a:ext cx="1463040" cy="347472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48640" y="39776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CHANGELOG.md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2587752" y="1554480"/>
            <a:ext cx="1920240" cy="2926080"/>
          </a:xfrm>
          <a:prstGeom prst="rect">
            <a:avLst/>
          </a:prstGeom>
          <a:solidFill>
            <a:srgbClr val="014A55"/>
          </a:solidFill>
          <a:ln w="12700">
            <a:solidFill>
              <a:srgbClr val="014A5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2587752" y="1554480"/>
            <a:ext cx="1920240" cy="64008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18688" y="1755648"/>
            <a:ext cx="658368" cy="658368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2587752" y="251460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JavaScript</a:t>
            </a:r>
            <a:endParaRPr lang="en-US" sz="1800" dirty="0"/>
          </a:p>
        </p:txBody>
      </p:sp>
      <p:sp>
        <p:nvSpPr>
          <p:cNvPr id="17" name="Text 13"/>
          <p:cNvSpPr/>
          <p:nvPr/>
        </p:nvSpPr>
        <p:spPr>
          <a:xfrm>
            <a:off x="2679192" y="2980944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Azure/azure-sdk-for-js</a:t>
            </a:r>
            <a:endParaRPr lang="en-US" sz="900" dirty="0"/>
          </a:p>
        </p:txBody>
      </p:sp>
      <p:sp>
        <p:nvSpPr>
          <p:cNvPr id="18" name="Text 14"/>
          <p:cNvSpPr/>
          <p:nvPr/>
        </p:nvSpPr>
        <p:spPr>
          <a:xfrm>
            <a:off x="2660904" y="3346704"/>
            <a:ext cx="17739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B8DA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sdk/ai/ai-projects/CHANGELOG.md</a:t>
            </a:r>
            <a:endParaRPr lang="en-US" sz="850" dirty="0"/>
          </a:p>
        </p:txBody>
      </p:sp>
      <p:sp>
        <p:nvSpPr>
          <p:cNvPr id="19" name="Shape 15"/>
          <p:cNvSpPr/>
          <p:nvPr/>
        </p:nvSpPr>
        <p:spPr>
          <a:xfrm>
            <a:off x="2816352" y="3931920"/>
            <a:ext cx="1463040" cy="347472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2816352" y="39776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CHANGELOG.md</a:t>
            </a:r>
            <a:endParaRPr lang="en-US" sz="900" dirty="0"/>
          </a:p>
        </p:txBody>
      </p:sp>
      <p:sp>
        <p:nvSpPr>
          <p:cNvPr id="21" name="Shape 17"/>
          <p:cNvSpPr/>
          <p:nvPr/>
        </p:nvSpPr>
        <p:spPr>
          <a:xfrm>
            <a:off x="4855464" y="1554480"/>
            <a:ext cx="1920240" cy="292608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4855464" y="1554480"/>
            <a:ext cx="1920240" cy="64008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0" y="1755648"/>
            <a:ext cx="658368" cy="658368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4855464" y="251460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.NET</a:t>
            </a:r>
            <a:endParaRPr lang="en-US" sz="1800" dirty="0"/>
          </a:p>
        </p:txBody>
      </p:sp>
      <p:sp>
        <p:nvSpPr>
          <p:cNvPr id="25" name="Text 20"/>
          <p:cNvSpPr/>
          <p:nvPr/>
        </p:nvSpPr>
        <p:spPr>
          <a:xfrm>
            <a:off x="4946904" y="2980944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Azure/azure-sdk-for-net</a:t>
            </a:r>
            <a:endParaRPr lang="en-US" sz="900" dirty="0"/>
          </a:p>
        </p:txBody>
      </p:sp>
      <p:sp>
        <p:nvSpPr>
          <p:cNvPr id="26" name="Text 21"/>
          <p:cNvSpPr/>
          <p:nvPr/>
        </p:nvSpPr>
        <p:spPr>
          <a:xfrm>
            <a:off x="4928616" y="3346704"/>
            <a:ext cx="17739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B8DA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sdk/ai/Azure.AI.Projects/CHANGELOG.md</a:t>
            </a:r>
            <a:endParaRPr lang="en-US" sz="850" dirty="0"/>
          </a:p>
        </p:txBody>
      </p:sp>
      <p:sp>
        <p:nvSpPr>
          <p:cNvPr id="27" name="Shape 22"/>
          <p:cNvSpPr/>
          <p:nvPr/>
        </p:nvSpPr>
        <p:spPr>
          <a:xfrm>
            <a:off x="5084064" y="3931920"/>
            <a:ext cx="1463040" cy="347472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</p:spPr>
      </p:sp>
      <p:sp>
        <p:nvSpPr>
          <p:cNvPr id="28" name="Text 23"/>
          <p:cNvSpPr/>
          <p:nvPr/>
        </p:nvSpPr>
        <p:spPr>
          <a:xfrm>
            <a:off x="5084064" y="39776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CHANGELOG.md</a:t>
            </a:r>
            <a:endParaRPr lang="en-US" sz="900" dirty="0"/>
          </a:p>
        </p:txBody>
      </p:sp>
      <p:sp>
        <p:nvSpPr>
          <p:cNvPr id="29" name="Shape 24"/>
          <p:cNvSpPr/>
          <p:nvPr/>
        </p:nvSpPr>
        <p:spPr>
          <a:xfrm>
            <a:off x="7123176" y="1554480"/>
            <a:ext cx="1920240" cy="2926080"/>
          </a:xfrm>
          <a:prstGeom prst="rect">
            <a:avLst/>
          </a:prstGeom>
          <a:solidFill>
            <a:srgbClr val="025E6A"/>
          </a:solidFill>
          <a:ln w="12700">
            <a:solidFill>
              <a:srgbClr val="025E6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0" name="Shape 25"/>
          <p:cNvSpPr/>
          <p:nvPr/>
        </p:nvSpPr>
        <p:spPr>
          <a:xfrm>
            <a:off x="7123176" y="1554480"/>
            <a:ext cx="1920240" cy="64008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3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54112" y="1755648"/>
            <a:ext cx="658368" cy="658368"/>
          </a:xfrm>
          <a:prstGeom prst="rect">
            <a:avLst/>
          </a:prstGeom>
        </p:spPr>
      </p:pic>
      <p:sp>
        <p:nvSpPr>
          <p:cNvPr id="32" name="Text 26"/>
          <p:cNvSpPr/>
          <p:nvPr/>
        </p:nvSpPr>
        <p:spPr>
          <a:xfrm>
            <a:off x="7123176" y="251460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Java</a:t>
            </a:r>
            <a:endParaRPr lang="en-US" sz="1800" dirty="0"/>
          </a:p>
        </p:txBody>
      </p:sp>
      <p:sp>
        <p:nvSpPr>
          <p:cNvPr id="33" name="Text 27"/>
          <p:cNvSpPr/>
          <p:nvPr/>
        </p:nvSpPr>
        <p:spPr>
          <a:xfrm>
            <a:off x="7214616" y="2980944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Azure/azure-sdk-for-java</a:t>
            </a:r>
            <a:endParaRPr lang="en-US" sz="900" dirty="0"/>
          </a:p>
        </p:txBody>
      </p:sp>
      <p:sp>
        <p:nvSpPr>
          <p:cNvPr id="34" name="Text 28"/>
          <p:cNvSpPr/>
          <p:nvPr/>
        </p:nvSpPr>
        <p:spPr>
          <a:xfrm>
            <a:off x="7196328" y="3346704"/>
            <a:ext cx="17739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B8DA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sdk/ai/azure-ai-projects/CHANGELOG.md</a:t>
            </a:r>
            <a:endParaRPr lang="en-US" sz="850" dirty="0"/>
          </a:p>
        </p:txBody>
      </p:sp>
      <p:sp>
        <p:nvSpPr>
          <p:cNvPr id="35" name="Shape 29"/>
          <p:cNvSpPr/>
          <p:nvPr/>
        </p:nvSpPr>
        <p:spPr>
          <a:xfrm>
            <a:off x="7351776" y="3931920"/>
            <a:ext cx="1463040" cy="347472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</p:spPr>
      </p:sp>
      <p:sp>
        <p:nvSpPr>
          <p:cNvPr id="36" name="Text 30"/>
          <p:cNvSpPr/>
          <p:nvPr/>
        </p:nvSpPr>
        <p:spPr>
          <a:xfrm>
            <a:off x="7351776" y="39776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CHANGELOG.md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2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56032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34747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136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By The Numbers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320040" y="1115568"/>
            <a:ext cx="2651760" cy="196596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344168"/>
            <a:ext cx="438912" cy="43891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51560" y="1225296"/>
            <a:ext cx="1828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280</a:t>
            </a:r>
            <a:endParaRPr lang="en-US" sz="5200" dirty="0"/>
          </a:p>
        </p:txBody>
      </p:sp>
      <p:sp>
        <p:nvSpPr>
          <p:cNvPr id="7" name="Text 4"/>
          <p:cNvSpPr/>
          <p:nvPr/>
        </p:nvSpPr>
        <p:spPr>
          <a:xfrm>
            <a:off x="457200" y="2212848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MDX Pages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457200" y="254203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docs-vnext/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3227832" y="1115568"/>
            <a:ext cx="2651760" cy="1965960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10712" y="1344168"/>
            <a:ext cx="438912" cy="43891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3959352" y="1225296"/>
            <a:ext cx="1828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29</a:t>
            </a:r>
            <a:endParaRPr lang="en-US" sz="5200" dirty="0"/>
          </a:p>
        </p:txBody>
      </p:sp>
      <p:sp>
        <p:nvSpPr>
          <p:cNvPr id="12" name="Text 8"/>
          <p:cNvSpPr/>
          <p:nvPr/>
        </p:nvSpPr>
        <p:spPr>
          <a:xfrm>
            <a:off x="3364992" y="2212848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Agentic Workflows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3364992" y="254203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.md definitions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6135624" y="1115568"/>
            <a:ext cx="2651760" cy="196596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8504" y="1344168"/>
            <a:ext cx="438912" cy="438912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867144" y="1225296"/>
            <a:ext cx="1828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15</a:t>
            </a:r>
            <a:endParaRPr lang="en-US" sz="5200" dirty="0"/>
          </a:p>
        </p:txBody>
      </p:sp>
      <p:sp>
        <p:nvSpPr>
          <p:cNvPr id="17" name="Text 12"/>
          <p:cNvSpPr/>
          <p:nvPr/>
        </p:nvSpPr>
        <p:spPr>
          <a:xfrm>
            <a:off x="6272784" y="2212848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Doc Sections</a:t>
            </a:r>
            <a:endParaRPr lang="en-US" sz="1300" dirty="0"/>
          </a:p>
        </p:txBody>
      </p:sp>
      <p:sp>
        <p:nvSpPr>
          <p:cNvPr id="18" name="Text 13"/>
          <p:cNvSpPr/>
          <p:nvPr/>
        </p:nvSpPr>
        <p:spPr>
          <a:xfrm>
            <a:off x="6272784" y="254203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areas covered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320040" y="3264408"/>
            <a:ext cx="2651760" cy="196596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3493008"/>
            <a:ext cx="438912" cy="438912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051560" y="3374136"/>
            <a:ext cx="1828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</a:t>
            </a:r>
            <a:endParaRPr lang="en-US" sz="5200" dirty="0"/>
          </a:p>
        </p:txBody>
      </p:sp>
      <p:sp>
        <p:nvSpPr>
          <p:cNvPr id="22" name="Text 16"/>
          <p:cNvSpPr/>
          <p:nvPr/>
        </p:nvSpPr>
        <p:spPr>
          <a:xfrm>
            <a:off x="457200" y="4361688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Slash Commands</a:t>
            </a:r>
            <a:endParaRPr lang="en-US" sz="1300" dirty="0"/>
          </a:p>
        </p:txBody>
      </p:sp>
      <p:sp>
        <p:nvSpPr>
          <p:cNvPr id="23" name="Text 17"/>
          <p:cNvSpPr/>
          <p:nvPr/>
        </p:nvSpPr>
        <p:spPr>
          <a:xfrm>
            <a:off x="457200" y="469087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/audit /unbloat /sdk-check…</a:t>
            </a:r>
            <a:endParaRPr lang="en-US" sz="1050" dirty="0"/>
          </a:p>
        </p:txBody>
      </p:sp>
      <p:sp>
        <p:nvSpPr>
          <p:cNvPr id="24" name="Shape 18"/>
          <p:cNvSpPr/>
          <p:nvPr/>
        </p:nvSpPr>
        <p:spPr>
          <a:xfrm>
            <a:off x="3227832" y="3264408"/>
            <a:ext cx="2651760" cy="1965960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10712" y="3493008"/>
            <a:ext cx="438912" cy="438912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3959352" y="3374136"/>
            <a:ext cx="1828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5200" dirty="0"/>
          </a:p>
        </p:txBody>
      </p:sp>
      <p:sp>
        <p:nvSpPr>
          <p:cNvPr id="27" name="Text 20"/>
          <p:cNvSpPr/>
          <p:nvPr/>
        </p:nvSpPr>
        <p:spPr>
          <a:xfrm>
            <a:off x="3364992" y="4361688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SDK Repos Tracked</a:t>
            </a:r>
            <a:endParaRPr lang="en-US" sz="1300" dirty="0"/>
          </a:p>
        </p:txBody>
      </p:sp>
      <p:sp>
        <p:nvSpPr>
          <p:cNvPr id="28" name="Text 21"/>
          <p:cNvSpPr/>
          <p:nvPr/>
        </p:nvSpPr>
        <p:spPr>
          <a:xfrm>
            <a:off x="3364992" y="469087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· JS · .NET · Java</a:t>
            </a:r>
            <a:endParaRPr lang="en-US" sz="1050" dirty="0"/>
          </a:p>
        </p:txBody>
      </p:sp>
      <p:sp>
        <p:nvSpPr>
          <p:cNvPr id="29" name="Shape 22"/>
          <p:cNvSpPr/>
          <p:nvPr/>
        </p:nvSpPr>
        <p:spPr>
          <a:xfrm>
            <a:off x="6135624" y="3264408"/>
            <a:ext cx="2651760" cy="196596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18504" y="3493008"/>
            <a:ext cx="438912" cy="438912"/>
          </a:xfrm>
          <a:prstGeom prst="rect">
            <a:avLst/>
          </a:prstGeom>
        </p:spPr>
      </p:pic>
      <p:sp>
        <p:nvSpPr>
          <p:cNvPr id="31" name="Text 23"/>
          <p:cNvSpPr/>
          <p:nvPr/>
        </p:nvSpPr>
        <p:spPr>
          <a:xfrm>
            <a:off x="6867144" y="3374136"/>
            <a:ext cx="1828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12</a:t>
            </a:r>
            <a:endParaRPr lang="en-US" sz="5200" dirty="0"/>
          </a:p>
        </p:txBody>
      </p:sp>
      <p:sp>
        <p:nvSpPr>
          <p:cNvPr id="32" name="Text 24"/>
          <p:cNvSpPr/>
          <p:nvPr/>
        </p:nvSpPr>
        <p:spPr>
          <a:xfrm>
            <a:off x="6272784" y="4361688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Scheduled Jobs</a:t>
            </a:r>
            <a:endParaRPr lang="en-US" sz="1300" dirty="0"/>
          </a:p>
        </p:txBody>
      </p:sp>
      <p:sp>
        <p:nvSpPr>
          <p:cNvPr id="33" name="Text 25"/>
          <p:cNvSpPr/>
          <p:nvPr/>
        </p:nvSpPr>
        <p:spPr>
          <a:xfrm>
            <a:off x="6272784" y="469087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daily/weekly cron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136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0" y="-1097280"/>
            <a:ext cx="4572000" cy="4572000"/>
          </a:xfrm>
          <a:prstGeom prst="ellipse">
            <a:avLst/>
          </a:prstGeom>
          <a:solidFill>
            <a:srgbClr val="028090">
              <a:alpha val="20000"/>
            </a:srgbClr>
          </a:solidFill>
          <a:ln w="12700">
            <a:solidFill>
              <a:srgbClr val="028090">
                <a:alpha val="2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320040"/>
            <a:ext cx="5303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What's Next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411480" y="1243584"/>
            <a:ext cx="402336" cy="402336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" y="1280160"/>
            <a:ext cx="256032" cy="25603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60120" y="1234440"/>
            <a:ext cx="7772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overview page generated from agent-surfaced coverage gaps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411480" y="1865376"/>
            <a:ext cx="402336" cy="402336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" y="1901952"/>
            <a:ext cx="256032" cy="25603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960120" y="1856232"/>
            <a:ext cx="7772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quality dashboard — track MRR/NDCG trends over time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411480" y="2487168"/>
            <a:ext cx="402336" cy="402336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" y="2523744"/>
            <a:ext cx="256032" cy="256032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960120" y="2478024"/>
            <a:ext cx="7772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Proactive gap filling — auto-draft missing pages from upstream signals</a:t>
            </a:r>
            <a:endParaRPr lang="en-US" sz="1400" dirty="0"/>
          </a:p>
        </p:txBody>
      </p:sp>
      <p:sp>
        <p:nvSpPr>
          <p:cNvPr id="14" name="Shape 9"/>
          <p:cNvSpPr/>
          <p:nvPr/>
        </p:nvSpPr>
        <p:spPr>
          <a:xfrm>
            <a:off x="411480" y="3108960"/>
            <a:ext cx="402336" cy="402336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" y="3145536"/>
            <a:ext cx="256032" cy="256032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960120" y="3099816"/>
            <a:ext cx="7772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Docs-vnext → Mintlify deployment via GitHub Pages or Vercel</a:t>
            </a:r>
            <a:endParaRPr lang="en-US" sz="1400" dirty="0"/>
          </a:p>
        </p:txBody>
      </p:sp>
      <p:sp>
        <p:nvSpPr>
          <p:cNvPr id="17" name="Shape 11"/>
          <p:cNvSpPr/>
          <p:nvPr/>
        </p:nvSpPr>
        <p:spPr>
          <a:xfrm>
            <a:off x="411480" y="3730752"/>
            <a:ext cx="402336" cy="402336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4632" y="3767328"/>
            <a:ext cx="256032" cy="256032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960120" y="3721608"/>
            <a:ext cx="7772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Responsible AI guardrails section expansion with worked examples</a:t>
            </a:r>
            <a:endParaRPr lang="en-US" sz="1400" dirty="0"/>
          </a:p>
        </p:txBody>
      </p:sp>
      <p:sp>
        <p:nvSpPr>
          <p:cNvPr id="20" name="Shape 13"/>
          <p:cNvSpPr/>
          <p:nvPr/>
        </p:nvSpPr>
        <p:spPr>
          <a:xfrm>
            <a:off x="411480" y="4352544"/>
            <a:ext cx="402336" cy="402336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2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632" y="4389120"/>
            <a:ext cx="256032" cy="256032"/>
          </a:xfrm>
          <a:prstGeom prst="rect">
            <a:avLst/>
          </a:prstGeom>
        </p:spPr>
      </p:pic>
      <p:sp>
        <p:nvSpPr>
          <p:cNvPr id="22" name="Text 14"/>
          <p:cNvSpPr/>
          <p:nvPr/>
        </p:nvSpPr>
        <p:spPr>
          <a:xfrm>
            <a:off x="960120" y="4343400"/>
            <a:ext cx="7772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ops dashboard embedding MCP server telemetry</a:t>
            </a:r>
            <a:endParaRPr lang="en-US" sz="1400" dirty="0"/>
          </a:p>
        </p:txBody>
      </p:sp>
      <p:sp>
        <p:nvSpPr>
          <p:cNvPr id="23" name="Shape 15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028090">
              <a:alpha val="25000"/>
            </a:srgbClr>
          </a:solidFill>
          <a:ln w="12700">
            <a:solidFill>
              <a:srgbClr val="028090">
                <a:alpha val="25000"/>
              </a:srgbClr>
            </a:solidFill>
            <a:prstDash val="solid"/>
          </a:ln>
        </p:spPr>
      </p:sp>
      <p:sp>
        <p:nvSpPr>
          <p:cNvPr id="24" name="Text 16"/>
          <p:cNvSpPr/>
          <p:nvPr/>
        </p:nvSpPr>
        <p:spPr>
          <a:xfrm>
            <a:off x="365760" y="475488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foundry-docs · github.com/nicholasdbrady/foundry-docs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Foundry-Docs Overview</dc:title>
  <dc:subject>PptxGenJS Presentation</dc:subject>
  <dc:creator>Foundry-Docs Slide Agent</dc:creator>
  <cp:lastModifiedBy>Foundry-Docs Slide Agent</cp:lastModifiedBy>
  <cp:revision>1</cp:revision>
  <dcterms:created xsi:type="dcterms:W3CDTF">2026-05-18T10:45:25Z</dcterms:created>
  <dcterms:modified xsi:type="dcterms:W3CDTF">2026-05-18T10:45:25Z</dcterms:modified>
</cp:coreProperties>
</file>