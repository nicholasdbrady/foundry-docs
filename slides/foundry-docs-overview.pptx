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6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5288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D7880"/>
                </a:solidFill>
              </a:rPr>
              <a:t>FOUNDRY-DOCS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9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5566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FCED2"/>
                </a:solidFill>
              </a:rPr>
              <a:t>FOUNDRY-DOCS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58200" y="137160"/>
            <a:ext cx="3474720" cy="3474720"/>
          </a:xfrm>
          <a:prstGeom prst="ellipse">
            <a:avLst/>
          </a:prstGeom>
          <a:solidFill>
            <a:srgbClr val="028090">
              <a:alpha val="4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566160"/>
            <a:ext cx="2011680" cy="2011680"/>
          </a:xfrm>
          <a:prstGeom prst="ellipse">
            <a:avLst/>
          </a:prstGeom>
          <a:solidFill>
            <a:srgbClr val="00A896">
              <a:alpha val="6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25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Foundry-Docs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21792" y="224028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02C39A"/>
                </a:solidFill>
              </a:rPr>
              <a:t>Agentic Documentation for Microsoft Foundry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299923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E4E6"/>
                </a:solidFill>
              </a:rPr>
              <a:t>A live content pipeline, dual-mode MCP retrieval, and autonomous quality loops.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" y="4114800"/>
            <a:ext cx="7955280" cy="1143000"/>
          </a:xfrm>
          <a:prstGeom prst="roundRect">
            <a:avLst>
              <a:gd name="adj" fmla="val 6400"/>
            </a:avLst>
          </a:prstGeom>
          <a:solidFill>
            <a:srgbClr val="0D4653"/>
          </a:solidFill>
          <a:ln w="12700">
            <a:solidFill>
              <a:srgbClr val="236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31596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526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68680" y="48097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MDX pages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06040" y="431596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23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606040" y="48097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agent workflows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26280" y="4315968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4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526280" y="480974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SDK repos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172200" y="431596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+0.008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172200" y="48097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vnext eval lift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ED2"/>
                </a:solidFill>
              </a:rPr>
              <a:t>Current repository + verified GitHub data | 31 Aug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What is Foundry-Docs?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One platform, two documentation variants, five MCP tools per server.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66294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90472"/>
            <a:ext cx="530352" cy="53035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276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463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92D3A"/>
                </a:solidFill>
              </a:rPr>
              <a:t>Extract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606040" y="14630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43C"/>
                </a:solidFill>
              </a:rPr>
              <a:t>Pull Microsoft Foundry content from MicrosoftDocs/azure-ai-docs.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68880"/>
            <a:ext cx="66294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633472"/>
            <a:ext cx="530352" cy="53035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7063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606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92D3A"/>
                </a:solidFill>
              </a:rPr>
              <a:t>Transform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606040" y="26060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43C"/>
                </a:solidFill>
              </a:rPr>
              <a:t>Convert Microsoft Learn markdown into Mintlify-ready MDX.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02920" y="3611880"/>
            <a:ext cx="66294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776472"/>
            <a:ext cx="530352" cy="53035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1363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749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92D3A"/>
                </a:solidFill>
              </a:rPr>
              <a:t>Retrieve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606040" y="37490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43C"/>
                </a:solidFill>
              </a:rPr>
              <a:t>Serve local TF-IDF search or Azure AI Search hybrid retrieval.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502920" y="4754880"/>
            <a:ext cx="66294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4919472"/>
            <a:ext cx="530352" cy="53035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056632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81328" y="4892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92D3A"/>
                </a:solidFill>
              </a:rPr>
              <a:t>Improve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2606040" y="48920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43C"/>
                </a:solidFill>
              </a:rPr>
              <a:t>Use agentic workflows to audit, test, review, and update docs-vnext.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7452360" y="132588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092D3A"/>
          </a:solidFill>
          <a:ln w="12700">
            <a:solidFill>
              <a:srgbClr val="092D3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688" y="1691640"/>
            <a:ext cx="1188720" cy="11887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772400" y="29718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FastMCP service surface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8183880" y="3566160"/>
            <a:ext cx="2834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D9EEEE"/>
                </a:solidFill>
              </a:rPr>
              <a:t>search_docs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D9EEEE"/>
                </a:solidFill>
              </a:rPr>
              <a:t>get_doc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D9EEEE"/>
                </a:solidFill>
              </a:rPr>
              <a:t>list_sections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D9EEEE"/>
                </a:solidFill>
              </a:rPr>
              <a:t>get_section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D9EEEE"/>
                </a:solidFill>
              </a:rPr>
              <a:t>submit_feedback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7909560" y="5166360"/>
            <a:ext cx="1325880" cy="310896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909560" y="521208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docs/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9555480" y="5166360"/>
            <a:ext cx="160020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9555480" y="521208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docs-vnext/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Architecture: source to stakeholder answer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The same factory serves canonical and experimental content; agents operate around the content boundary.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8912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20370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MicrosoftDocs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azure-ai-docs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2432304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340864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2816352" y="2057400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2203704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450592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Manifest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download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2432304"/>
            <a:ext cx="256032" cy="25603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242816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718304" y="2057400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203704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352544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Learn MD 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Mintlify MDX</a:t>
            </a:r>
            <a:endParaRPr lang="en-US" sz="12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5584" y="2432304"/>
            <a:ext cx="256032" cy="2560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6144768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6620256" y="2057400"/>
            <a:ext cx="566928" cy="5669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2203704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254496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docs/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docs-vnext/</a:t>
            </a:r>
            <a:endParaRPr lang="en-US" sz="12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7536" y="2432304"/>
            <a:ext cx="256032" cy="256032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8046720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5" name="Shape 15"/>
          <p:cNvSpPr/>
          <p:nvPr/>
        </p:nvSpPr>
        <p:spPr>
          <a:xfrm>
            <a:off x="8522208" y="2057400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8512" y="2203704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8156448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Local TF-IDF or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Azure hybrid</a:t>
            </a:r>
            <a:endParaRPr lang="en-US" sz="125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9488" y="2432304"/>
            <a:ext cx="256032" cy="256032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9948672" y="1828800"/>
            <a:ext cx="1508760" cy="1572768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30" name="Shape 18"/>
          <p:cNvSpPr/>
          <p:nvPr/>
        </p:nvSpPr>
        <p:spPr>
          <a:xfrm>
            <a:off x="10424160" y="2057400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70464" y="2203704"/>
            <a:ext cx="274320" cy="27432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10058400" y="2761488"/>
            <a:ext cx="1289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FastMCP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clients</a:t>
            </a:r>
            <a:endParaRPr lang="en-US" sz="1250" dirty="0"/>
          </a:p>
        </p:txBody>
      </p:sp>
      <p:sp>
        <p:nvSpPr>
          <p:cNvPr id="33" name="Shape 20"/>
          <p:cNvSpPr/>
          <p:nvPr/>
        </p:nvSpPr>
        <p:spPr>
          <a:xfrm>
            <a:off x="960120" y="4224528"/>
            <a:ext cx="10149840" cy="1207008"/>
          </a:xfrm>
          <a:prstGeom prst="roundRect">
            <a:avLst>
              <a:gd name="adj" fmla="val 6061"/>
            </a:avLst>
          </a:prstGeom>
          <a:solidFill>
            <a:srgbClr val="092D3A"/>
          </a:solidFill>
          <a:ln w="12700">
            <a:solidFill>
              <a:srgbClr val="092D3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pic>
        <p:nvPicPr>
          <p:cNvPr id="3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448" y="4526280"/>
            <a:ext cx="530352" cy="530352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2057400" y="4416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</a:rPr>
              <a:t>Agent improvement plane</a:t>
            </a:r>
            <a:endParaRPr lang="en-US" sz="1800" dirty="0"/>
          </a:p>
        </p:txBody>
      </p:sp>
      <p:sp>
        <p:nvSpPr>
          <p:cNvPr id="36" name="Text 22"/>
          <p:cNvSpPr/>
          <p:nvPr/>
        </p:nvSpPr>
        <p:spPr>
          <a:xfrm>
            <a:off x="2057400" y="47823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Monitors create evidence -&gt; fixers update docs-vnext -&gt; reviewers enforce MDX quality -&gt; eval measures retrieval outcomes.</a:t>
            </a:r>
            <a:endParaRPr lang="en-US" sz="1400" dirty="0"/>
          </a:p>
        </p:txBody>
      </p:sp>
      <p:sp>
        <p:nvSpPr>
          <p:cNvPr id="37" name="Text 23"/>
          <p:cNvSpPr/>
          <p:nvPr/>
        </p:nvSpPr>
        <p:spPr>
          <a:xfrm>
            <a:off x="7726680" y="58064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D7880"/>
                </a:solidFill>
              </a:rPr>
              <a:t>8 server modules | 28 pipeline and evaluation scripts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Documentation coverage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526 MDX pages across 18 top-level content areas.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foundry models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304288" y="1371600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04288" y="1371600"/>
            <a:ext cx="4023360" cy="22860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0" y="133502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112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2194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agent service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04288" y="2212848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04288" y="2212848"/>
            <a:ext cx="3412671" cy="22860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21762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95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30358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models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304288" y="3054096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04288" y="3054096"/>
            <a:ext cx="2694214" cy="22860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3017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75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agents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304288" y="3895344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04288" y="3895344"/>
            <a:ext cx="2263140" cy="22860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385876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63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471830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observability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304288" y="4736592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04288" y="4736592"/>
            <a:ext cx="1113609" cy="22860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47000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31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27648" y="135331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security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73568" y="1371600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3568" y="1371600"/>
            <a:ext cx="862149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133502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24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27648" y="2194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setup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2212848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73568" y="2212848"/>
            <a:ext cx="790303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21762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22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327648" y="30358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developer experience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973568" y="3054096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73568" y="3054096"/>
            <a:ext cx="754380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301752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21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27648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guardrails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73568" y="3895344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3895344"/>
            <a:ext cx="682534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385876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19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27648" y="471830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api sdk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973568" y="4736592"/>
            <a:ext cx="3840480" cy="228600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73568" y="4736592"/>
            <a:ext cx="610689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247120" y="47000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8090"/>
                </a:solidFill>
              </a:rPr>
              <a:t>17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58368" y="5623560"/>
            <a:ext cx="10972800" cy="576072"/>
          </a:xfrm>
          <a:prstGeom prst="roundRect">
            <a:avLst>
              <a:gd name="adj" fmla="val 12698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6112" y="580644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92D3A"/>
                </a:solidFill>
              </a:rPr>
              <a:t>274 filenames only in docs-vnext | 252 filenames shared with docs/ | 354 canonical MDX pages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Agentic workflows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D5D7"/>
                </a:solidFill>
              </a:rPr>
              <a:t>23 executable workflow definitions; 29 markdown assets including shared prompts.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90472"/>
            <a:ext cx="2487168" cy="3364992"/>
          </a:xfrm>
          <a:prstGeom prst="roundRect">
            <a:avLst>
              <a:gd name="adj" fmla="val 2941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89888" y="1847088"/>
            <a:ext cx="841248" cy="841248"/>
          </a:xfrm>
          <a:prstGeom prst="ellipse">
            <a:avLst/>
          </a:prstGeom>
          <a:solidFill>
            <a:srgbClr val="092D3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05740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290779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MONITOR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41248" y="3383280"/>
            <a:ext cx="193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Upstream docs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SDK releases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Community + Reddit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38144" y="1490472"/>
            <a:ext cx="2487168" cy="3364992"/>
          </a:xfrm>
          <a:prstGeom prst="roundRect">
            <a:avLst>
              <a:gd name="adj" fmla="val 2941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61104" y="1847088"/>
            <a:ext cx="841248" cy="841248"/>
          </a:xfrm>
          <a:prstGeom prst="ellipse">
            <a:avLst/>
          </a:prstGeom>
          <a:solidFill>
            <a:srgbClr val="092D3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205740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66744" y="290779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TEST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712464" y="3383280"/>
            <a:ext cx="193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Docs auditor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Noob tester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Search testbench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09360" y="1490472"/>
            <a:ext cx="2487168" cy="3364992"/>
          </a:xfrm>
          <a:prstGeom prst="roundRect">
            <a:avLst>
              <a:gd name="adj" fmla="val 2941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32320" y="1847088"/>
            <a:ext cx="841248" cy="841248"/>
          </a:xfrm>
          <a:prstGeom prst="ellipse">
            <a:avLst/>
          </a:prstGeom>
          <a:solidFill>
            <a:srgbClr val="092D3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2057400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37960" y="290779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UPDATE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583680" y="3383280"/>
            <a:ext cx="193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Post-sync updater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Glossary + changelog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Unbloat + catalog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180576" y="1490472"/>
            <a:ext cx="2487168" cy="3364992"/>
          </a:xfrm>
          <a:prstGeom prst="roundRect">
            <a:avLst>
              <a:gd name="adj" fmla="val 2941"/>
            </a:avLst>
          </a:prstGeom>
          <a:solidFill>
            <a:srgbClr val="2B6572"/>
          </a:solidFill>
          <a:ln w="12700">
            <a:solidFill>
              <a:srgbClr val="2B6572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03536" y="1847088"/>
            <a:ext cx="841248" cy="841248"/>
          </a:xfrm>
          <a:prstGeom prst="ellipse">
            <a:avLst/>
          </a:prstGeom>
          <a:solidFill>
            <a:srgbClr val="092D3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3848" y="2057400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2907792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GOVERN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9454896" y="3383280"/>
            <a:ext cx="1938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 docs reviewer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Auto-triage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Post-merge verify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874520" y="53218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6</a:t>
            </a:r>
            <a:endParaRPr lang="en-US" sz="2700" dirty="0"/>
          </a:p>
        </p:txBody>
      </p:sp>
      <p:sp>
        <p:nvSpPr>
          <p:cNvPr id="25" name="Text 19"/>
          <p:cNvSpPr/>
          <p:nvPr/>
        </p:nvSpPr>
        <p:spPr>
          <a:xfrm>
            <a:off x="1874520" y="58155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slash commands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074920" y="53218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2</a:t>
            </a:r>
            <a:endParaRPr lang="en-US" sz="2700" dirty="0"/>
          </a:p>
        </p:txBody>
      </p:sp>
      <p:sp>
        <p:nvSpPr>
          <p:cNvPr id="27" name="Text 21"/>
          <p:cNvSpPr/>
          <p:nvPr/>
        </p:nvSpPr>
        <p:spPr>
          <a:xfrm>
            <a:off x="5074920" y="58155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workflow_run chains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8275320" y="53218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23</a:t>
            </a:r>
            <a:endParaRPr lang="en-US" sz="2700" dirty="0"/>
          </a:p>
        </p:txBody>
      </p:sp>
      <p:sp>
        <p:nvSpPr>
          <p:cNvPr id="29" name="Text 23"/>
          <p:cNvSpPr/>
          <p:nvPr/>
        </p:nvSpPr>
        <p:spPr>
          <a:xfrm>
            <a:off x="8275320" y="58155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post-consolidation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Trigger coverage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Scheduled maintenance, event-driven response, human control, and chained verification coexist.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Schedule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31720" y="1362456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31720" y="1362456"/>
            <a:ext cx="4386580" cy="25603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46920" y="132588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975104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Manual dispatch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331720" y="1984248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1984248"/>
            <a:ext cx="7178040" cy="256032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46920" y="1947672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18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25968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Pull request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331720" y="2606040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2606040"/>
            <a:ext cx="1196340" cy="25603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46920" y="2569464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18688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Issues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331720" y="3227832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31720" y="3227832"/>
            <a:ext cx="797560" cy="256032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46920" y="3191256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3840480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Repository dispatch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331720" y="3849624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31720" y="3849624"/>
            <a:ext cx="797560" cy="25603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381304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4462272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Workflow run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331720" y="4471416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4471416"/>
            <a:ext cx="797560" cy="256032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46920" y="443484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" y="5084064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43C"/>
                </a:solidFill>
              </a:rPr>
              <a:t>Slash command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331720" y="5093208"/>
            <a:ext cx="7178040" cy="256032"/>
          </a:xfrm>
          <a:prstGeom prst="roundRect">
            <a:avLst/>
          </a:prstGeom>
          <a:solidFill>
            <a:srgbClr val="DCEEE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31720" y="5093208"/>
            <a:ext cx="2392680" cy="25603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46920" y="5056632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287000" y="1353312"/>
            <a:ext cx="1325880" cy="4297680"/>
          </a:xfrm>
          <a:prstGeom prst="roundRect">
            <a:avLst>
              <a:gd name="adj" fmla="val 5517"/>
            </a:avLst>
          </a:prstGeom>
          <a:solidFill>
            <a:srgbClr val="092D3A"/>
          </a:solidFill>
          <a:ln w="12700">
            <a:solidFill>
              <a:srgbClr val="092D3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1755648"/>
            <a:ext cx="502920" cy="50292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0405872" y="2487168"/>
            <a:ext cx="1078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C39A"/>
                </a:solidFill>
              </a:rPr>
              <a:t>EVENT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2C39A"/>
                </a:solidFill>
              </a:rPr>
              <a:t>DRIVEN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10442448" y="3474720"/>
            <a:ext cx="1005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Detect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Analyze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Quality pipeline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Three complementary gates test correctness, usability, and change quality.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401568" cy="429768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00784"/>
            <a:ext cx="822960" cy="310896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465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GATE 1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81528" y="1627632"/>
            <a:ext cx="566928" cy="566928"/>
          </a:xfrm>
          <a:prstGeom prst="ellipse">
            <a:avLst/>
          </a:prstGeom>
          <a:solidFill>
            <a:srgbClr val="092D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6976" y="1783080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D3A"/>
                </a:solidFill>
              </a:rPr>
              <a:t>Documentation Auditor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41248" y="2907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Source + link accuracy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86968" y="3456432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Code examples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External links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Terminology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41248" y="5102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Repository evidence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89120" y="1417320"/>
            <a:ext cx="3401568" cy="4297680"/>
          </a:xfrm>
          <a:prstGeom prst="roundRect">
            <a:avLst>
              <a:gd name="adj" fmla="val 2151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1700784"/>
            <a:ext cx="82296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17465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GATE 2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903720" y="1627632"/>
            <a:ext cx="566928" cy="566928"/>
          </a:xfrm>
          <a:prstGeom prst="ellipse">
            <a:avLst/>
          </a:prstGeom>
          <a:solidFill>
            <a:srgbClr val="092D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1783080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663440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D3A"/>
                </a:solidFill>
              </a:rPr>
              <a:t>Noob Tester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663440" y="2907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First-use experience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709160" y="3456432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5 required journeys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Desktop + mobile viewports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Evidence validator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663440" y="5102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Real site + source cross-check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211312" y="1417320"/>
            <a:ext cx="3401568" cy="429768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85632" y="1700784"/>
            <a:ext cx="822960" cy="310896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485632" y="17465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GATE 3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10725912" y="1627632"/>
            <a:ext cx="566928" cy="566928"/>
          </a:xfrm>
          <a:prstGeom prst="ellipse">
            <a:avLst/>
          </a:prstGeom>
          <a:solidFill>
            <a:srgbClr val="092D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783080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485632" y="24871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92D3A"/>
                </a:solidFill>
              </a:rPr>
              <a:t>PR Docs Reviewer</a:t>
            </a:r>
            <a:endParaRPr lang="en-US" sz="1800" dirty="0"/>
          </a:p>
        </p:txBody>
      </p:sp>
      <p:sp>
        <p:nvSpPr>
          <p:cNvPr id="28" name="Text 23"/>
          <p:cNvSpPr/>
          <p:nvPr/>
        </p:nvSpPr>
        <p:spPr>
          <a:xfrm>
            <a:off x="8485632" y="29077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Change-time quality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531352" y="3456432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MDX syntax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Diataxis fit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6343C"/>
                </a:solidFill>
              </a:rPr>
              <a:t>Style + accuracy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8485632" y="5102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Repository evidence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docs-vnext history &amp; impact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Verified GitHub PR history through 27 Aug 2026; repository coverage through 31 Aug 2026.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30352" y="1261872"/>
            <a:ext cx="2880360" cy="4526280"/>
          </a:xfrm>
          <a:prstGeom prst="roundRect">
            <a:avLst>
              <a:gd name="adj" fmla="val 2540"/>
            </a:avLst>
          </a:prstGeom>
          <a:solidFill>
            <a:srgbClr val="092D3A"/>
          </a:solidFill>
          <a:ln w="12700">
            <a:solidFill>
              <a:srgbClr val="092D3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14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22960" y="2093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merged docs-vnext PRs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8529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12/2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22960" y="33467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bot / human authored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410565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22960" y="45994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open docs-vnext PRs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94760" y="1444752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50208" y="1737360"/>
            <a:ext cx="0" cy="768096"/>
          </a:xfrm>
          <a:prstGeom prst="line">
            <a:avLst/>
          </a:prstGeom>
          <a:noFill/>
          <a:ln w="25400">
            <a:solidFill>
              <a:srgbClr val="CBE3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53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01 Mar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47488" y="1353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2D3A"/>
                </a:solidFill>
              </a:rPr>
              <a:t>PR #23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135331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43C"/>
                </a:solidFill>
              </a:rPr>
              <a:t>First traced agentic content PR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943600" y="1682496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Unbloat cloud evaluation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94760" y="2505456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50208" y="2798064"/>
            <a:ext cx="0" cy="768096"/>
          </a:xfrm>
          <a:prstGeom prst="line">
            <a:avLst/>
          </a:prstGeom>
          <a:noFill/>
          <a:ln w="25400">
            <a:solidFill>
              <a:srgbClr val="CBE3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4140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02 Mar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47488" y="24140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2D3A"/>
                </a:solidFill>
              </a:rPr>
              <a:t>PR #28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0" y="24140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43C"/>
                </a:solidFill>
              </a:rPr>
              <a:t>Glossary created from zero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43600" y="2743200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35 terms in one run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94760" y="3566160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50208" y="3858768"/>
            <a:ext cx="0" cy="768096"/>
          </a:xfrm>
          <a:prstGeom prst="line">
            <a:avLst/>
          </a:prstGeom>
          <a:noFill/>
          <a:ln w="25400">
            <a:solidFill>
              <a:srgbClr val="CBE3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15968" y="34747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04 Mar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47488" y="347472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2D3A"/>
                </a:solidFill>
              </a:rPr>
              <a:t>PR #46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347472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43C"/>
                </a:solidFill>
              </a:rPr>
              <a:t>Navigation reflow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943600" y="3803904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Product-pillar structure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794760" y="4626864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15968" y="4535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28 Jul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47488" y="4535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92D3A"/>
                </a:solidFill>
              </a:rPr>
              <a:t>Issue #640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453542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43C"/>
                </a:solidFill>
              </a:rPr>
              <a:t>Evaluation report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943600" y="4864608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docs-vnext +0.008 vs docs/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098280" y="1353312"/>
            <a:ext cx="2468880" cy="4224528"/>
          </a:xfrm>
          <a:prstGeom prst="roundRect">
            <a:avLst>
              <a:gd name="adj" fmla="val 2963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45168" y="169164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526</a:t>
            </a:r>
            <a:endParaRPr lang="en-US" sz="2700" dirty="0"/>
          </a:p>
        </p:txBody>
      </p:sp>
      <p:sp>
        <p:nvSpPr>
          <p:cNvPr id="36" name="Text 34"/>
          <p:cNvSpPr/>
          <p:nvPr/>
        </p:nvSpPr>
        <p:spPr>
          <a:xfrm>
            <a:off x="9345168" y="2185416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total MDX pages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345168" y="29443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274</a:t>
            </a:r>
            <a:endParaRPr lang="en-US" sz="2700" dirty="0"/>
          </a:p>
        </p:txBody>
      </p:sp>
      <p:sp>
        <p:nvSpPr>
          <p:cNvPr id="38" name="Text 36"/>
          <p:cNvSpPr/>
          <p:nvPr/>
        </p:nvSpPr>
        <p:spPr>
          <a:xfrm>
            <a:off x="9345168" y="3438144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vnext-only names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345168" y="419709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27</a:t>
            </a:r>
            <a:endParaRPr lang="en-US" sz="2700" dirty="0"/>
          </a:p>
        </p:txBody>
      </p:sp>
      <p:sp>
        <p:nvSpPr>
          <p:cNvPr id="40" name="Text 38"/>
          <p:cNvSpPr/>
          <p:nvPr/>
        </p:nvSpPr>
        <p:spPr>
          <a:xfrm>
            <a:off x="9345168" y="469087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current glossary terms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794760" y="58247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7880"/>
                </a:solidFill>
              </a:rPr>
              <a:t>Automation issues are ephemeral evidence: monitors create them, downstream agents act, and expiry/close rules resolve stale signals.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Deep dive: agentic chain in action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D5D7"/>
                </a:solidFill>
              </a:rPr>
              <a:t>Two real detections show how monitoring becomes routed documentation work.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</a:rPr>
              <a:t>UPSTREAM DOCS CHAIN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1719072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9339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9019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Upstream Docs Monitor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80160" y="235915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D5D7"/>
                </a:solidFill>
              </a:rPr>
              <a:t>Every 12h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224028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64992" y="1719072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993392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078224" y="19019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Issue #54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4078224" y="235915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D5D7"/>
                </a:solidFill>
              </a:rPr>
              <a:t>1 Foundry commit</a:t>
            </a:r>
            <a:endParaRPr lang="en-US" sz="10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24028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63056" y="1719072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1993392"/>
            <a:ext cx="384048" cy="3840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876288" y="19019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sync-and-convert</a:t>
            </a:r>
            <a:endParaRPr lang="en-US" sz="1350" dirty="0"/>
          </a:p>
        </p:txBody>
      </p:sp>
      <p:sp>
        <p:nvSpPr>
          <p:cNvPr id="18" name="Text 11"/>
          <p:cNvSpPr/>
          <p:nvPr/>
        </p:nvSpPr>
        <p:spPr>
          <a:xfrm>
            <a:off x="6876288" y="235915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D5D7"/>
                </a:solidFill>
              </a:rPr>
              <a:t>Dispatched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784" y="2240280"/>
            <a:ext cx="256032" cy="256032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8961120" y="1719072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1993392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674352" y="19019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Post-Sync Updater</a:t>
            </a:r>
            <a:endParaRPr lang="en-US" sz="1350" dirty="0"/>
          </a:p>
        </p:txBody>
      </p:sp>
      <p:sp>
        <p:nvSpPr>
          <p:cNvPr id="23" name="Text 14"/>
          <p:cNvSpPr/>
          <p:nvPr/>
        </p:nvSpPr>
        <p:spPr>
          <a:xfrm>
            <a:off x="9674352" y="2359152"/>
            <a:ext cx="1353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D5D7"/>
                </a:solidFill>
              </a:rPr>
              <a:t>PR or evidence-based noop</a:t>
            </a:r>
            <a:endParaRPr lang="en-US" sz="1050" dirty="0"/>
          </a:p>
        </p:txBody>
      </p:sp>
      <p:sp>
        <p:nvSpPr>
          <p:cNvPr id="24" name="Text 15"/>
          <p:cNvSpPr/>
          <p:nvPr/>
        </p:nvSpPr>
        <p:spPr>
          <a:xfrm>
            <a:off x="640080" y="331012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D5D7"/>
                </a:solidFill>
              </a:rPr>
              <a:t>Issue created about 3 minutes after the monitor run timestamp; downstream work is deliberately data-dependent.</a:t>
            </a:r>
            <a:endParaRPr lang="en-US" sz="1150" dirty="0"/>
          </a:p>
        </p:txBody>
      </p:sp>
      <p:sp>
        <p:nvSpPr>
          <p:cNvPr id="25" name="Text 16"/>
          <p:cNvSpPr/>
          <p:nvPr/>
        </p:nvSpPr>
        <p:spPr>
          <a:xfrm>
            <a:off x="566928" y="39502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</a:rPr>
              <a:t>SDK RELEASE CHAIN</a:t>
            </a:r>
            <a:endParaRPr lang="en-US" sz="1500" dirty="0"/>
          </a:p>
        </p:txBody>
      </p:sp>
      <p:sp>
        <p:nvSpPr>
          <p:cNvPr id="26" name="Shape 17"/>
          <p:cNvSpPr/>
          <p:nvPr/>
        </p:nvSpPr>
        <p:spPr>
          <a:xfrm>
            <a:off x="566928" y="4407408"/>
            <a:ext cx="11018520" cy="1417320"/>
          </a:xfrm>
          <a:prstGeom prst="roundRect">
            <a:avLst>
              <a:gd name="adj" fmla="val 5161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7" name="Text 18"/>
          <p:cNvSpPr/>
          <p:nvPr/>
        </p:nvSpPr>
        <p:spPr>
          <a:xfrm>
            <a:off x="841248" y="4681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SDK Release Monitor</a:t>
            </a:r>
            <a:endParaRPr lang="en-US" sz="1350" dirty="0"/>
          </a:p>
        </p:txBody>
      </p:sp>
      <p:sp>
        <p:nvSpPr>
          <p:cNvPr id="28" name="Text 19"/>
          <p:cNvSpPr/>
          <p:nvPr/>
        </p:nvSpPr>
        <p:spPr>
          <a:xfrm>
            <a:off x="841248" y="51023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F3F0"/>
                </a:solidFill>
              </a:rPr>
              <a:t>4 SDK repos + REST</a:t>
            </a:r>
            <a:endParaRPr lang="en-US" sz="10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27248" y="4910328"/>
            <a:ext cx="219456" cy="219456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538728" y="4681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Issue #53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3538728" y="51023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F3F0"/>
                </a:solidFill>
              </a:rPr>
              <a:t>Java 2.0.0-beta.2</a:t>
            </a:r>
            <a:endParaRPr lang="en-US" sz="105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4728" y="4910328"/>
            <a:ext cx="219456" cy="21945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236208" y="4681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Breaking changes</a:t>
            </a:r>
            <a:endParaRPr lang="en-US" sz="1350" dirty="0"/>
          </a:p>
        </p:txBody>
      </p:sp>
      <p:sp>
        <p:nvSpPr>
          <p:cNvPr id="34" name="Text 23"/>
          <p:cNvSpPr/>
          <p:nvPr/>
        </p:nvSpPr>
        <p:spPr>
          <a:xfrm>
            <a:off x="6236208" y="51023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F3F0"/>
                </a:solidFill>
              </a:rPr>
              <a:t>Index -&gt; AIProjectIndex</a:t>
            </a:r>
            <a:endParaRPr lang="en-US" sz="105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4910328"/>
            <a:ext cx="219456" cy="219456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8933688" y="46817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Impact routing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8933688" y="51023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F3F0"/>
                </a:solidFill>
              </a:rPr>
              <a:t>api-sdk + agent development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Deep dive: content improvements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Two merged agent PRs demonstrate net-new reference content and targeted simplification.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18488"/>
            <a:ext cx="214884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6420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 #28 | GLOSSARY MAINTAINER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2D3A"/>
                </a:solidFill>
              </a:rPr>
              <a:t>From zero to 35 terms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263347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343C"/>
                </a:solidFill>
              </a:rPr>
              <a:t>One weekly scan converted project vocabulary into a navigable reference surface.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310128"/>
            <a:ext cx="4617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6343C"/>
                </a:solidFill>
              </a:rPr>
              <a:t>194 additions across glossary + navigation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6343C"/>
                </a:solidFill>
              </a:rPr>
              <a:t>16 alphabetical sections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6343C"/>
                </a:solidFill>
              </a:rPr>
              <a:t>Foundry, MCP, retrieval, evaluation, and tooling terms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6343C"/>
                </a:solidFill>
              </a:rPr>
              <a:t>Generated from the prior seven days of repository change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32588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1618488"/>
            <a:ext cx="2560320" cy="310896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166420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 #23 | DOCUMENTATION UNBLOAT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10528" y="21762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2D3A"/>
                </a:solidFill>
              </a:rPr>
              <a:t>Less repetition, same technical signal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37960" y="2816352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43C"/>
                </a:solidFill>
              </a:rPr>
              <a:t>Words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43800" y="28163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7880"/>
                </a:solidFill>
              </a:rPr>
              <a:t>3,412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5632" y="282549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869680" y="28163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3,180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195560" y="2770632"/>
            <a:ext cx="82296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95560" y="28163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-7%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37960" y="3474720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43C"/>
                </a:solidFill>
              </a:rPr>
              <a:t>Bullets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543800" y="3474720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7880"/>
                </a:solidFill>
              </a:rPr>
              <a:t>29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3483864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869680" y="3474720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19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10195560" y="3429000"/>
            <a:ext cx="82296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0195560" y="347472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-34.5%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6537960" y="4133088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43C"/>
                </a:solidFill>
              </a:rPr>
              <a:t>Lines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7543800" y="4133088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D7880"/>
                </a:solidFill>
              </a:rPr>
              <a:t>913</a:t>
            </a:r>
            <a:endParaRPr lang="en-US" sz="12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4142232"/>
            <a:ext cx="201168" cy="20116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869680" y="4133088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884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10195560" y="4087368"/>
            <a:ext cx="82296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10195560" y="413308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-3%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6537960" y="49834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343C"/>
                </a:solidFill>
              </a:rPr>
              <a:t>Removed duplicate paragraphs, four repetitive prerequisite tips, a trivial tip, and redundant list structures.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Evaluation harness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D5D7"/>
                </a:solidFill>
              </a:rPr>
              <a:t>Issue #640: 100 evaluations across 4 servers and 1 executed model (28 Jul 2026).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D5D7"/>
                </a:solidFill>
              </a:rPr>
              <a:t>Latest run executed one model; the configured three-model matrix was not present in this report.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Server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0" y="15727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claude-sonnet-4.6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577840" y="1572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</a:rPr>
              <a:t>Pass rate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965960"/>
            <a:ext cx="6217920" cy="457200"/>
          </a:xfrm>
          <a:prstGeom prst="roundRect">
            <a:avLst>
              <a:gd name="adj" fmla="val 16000"/>
            </a:avLst>
          </a:prstGeom>
          <a:solidFill>
            <a:srgbClr val="103E49"/>
          </a:solidFill>
          <a:ln w="12700">
            <a:solidFill>
              <a:srgbClr val="103E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848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1. MS Learn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0" y="2084832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0.873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596128" y="20848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32%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87752"/>
            <a:ext cx="6217920" cy="457200"/>
          </a:xfrm>
          <a:prstGeom prst="roundRect">
            <a:avLst>
              <a:gd name="adj" fmla="val 16000"/>
            </a:avLst>
          </a:prstGeom>
          <a:solidFill>
            <a:srgbClr val="145967"/>
          </a:solidFill>
          <a:ln w="12700">
            <a:solidFill>
              <a:srgbClr val="1459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70662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2. FastMCP docs-vnext/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70662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C39A"/>
                </a:solidFill>
              </a:rPr>
              <a:t>0.863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596128" y="270662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36%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209544"/>
            <a:ext cx="6217920" cy="457200"/>
          </a:xfrm>
          <a:prstGeom prst="roundRect">
            <a:avLst>
              <a:gd name="adj" fmla="val 16000"/>
            </a:avLst>
          </a:prstGeom>
          <a:solidFill>
            <a:srgbClr val="103E49"/>
          </a:solidFill>
          <a:ln w="12700">
            <a:solidFill>
              <a:srgbClr val="103E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32841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3. FastMCP docs/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14800" y="33284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0.855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596128" y="33284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48%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831336"/>
            <a:ext cx="6217920" cy="457200"/>
          </a:xfrm>
          <a:prstGeom prst="roundRect">
            <a:avLst>
              <a:gd name="adj" fmla="val 16000"/>
            </a:avLst>
          </a:prstGeom>
          <a:solidFill>
            <a:srgbClr val="103E49"/>
          </a:solidFill>
          <a:ln w="12700">
            <a:solidFill>
              <a:srgbClr val="103E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50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4. Mintlify MCP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0" y="3950208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0.843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596128" y="39502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48%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" y="4645152"/>
            <a:ext cx="1417320" cy="310896"/>
          </a:xfrm>
          <a:prstGeom prst="roundRect">
            <a:avLst/>
          </a:prstGeom>
          <a:solidFill>
            <a:srgbClr val="E4A11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H1 MARGINAL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240280" y="468172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docs-vnext beats docs/ by +0.008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1792" y="5056632"/>
            <a:ext cx="1417320" cy="310896"/>
          </a:xfrm>
          <a:prstGeom prst="roundRect">
            <a:avLst/>
          </a:prstGeom>
          <a:solidFill>
            <a:srgbClr val="E4A11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5102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H2 MARGINAL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240280" y="509320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docs-vnext beats Mintlify by +0.020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1792" y="5468112"/>
            <a:ext cx="1417320" cy="310896"/>
          </a:xfrm>
          <a:prstGeom prst="roundRect">
            <a:avLst/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55138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H3 REJECTED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240280" y="550468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docs-vnext trails MS Learn by -0.010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1792" y="5879592"/>
            <a:ext cx="1417320" cy="310896"/>
          </a:xfrm>
          <a:prstGeom prst="roundRect">
            <a:avLst/>
          </a:prstGeom>
          <a:solidFill>
            <a:srgbClr val="168B6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" y="59253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H4 SUPPORTED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240280" y="591616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Ranking is consistent for the executed model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086600" y="1572768"/>
            <a:ext cx="4498848" cy="4553712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60920" y="1847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92D3A"/>
                </a:solidFill>
              </a:rPr>
              <a:t>Category delta: vnext - docs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7360920" y="24231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43C"/>
                </a:solidFill>
              </a:rPr>
              <a:t>Agent development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802368" y="2432304"/>
            <a:ext cx="960120" cy="228600"/>
          </a:xfrm>
          <a:prstGeom prst="roundRect">
            <a:avLst/>
          </a:prstGeom>
          <a:solidFill>
            <a:srgbClr val="E2EC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02368" y="2432304"/>
            <a:ext cx="45720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881360" y="2414016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8B6A"/>
                </a:solidFill>
              </a:rPr>
              <a:t>+0.000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360920" y="3035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43C"/>
                </a:solidFill>
              </a:rPr>
              <a:t>Getting started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802368" y="3044952"/>
            <a:ext cx="960120" cy="228600"/>
          </a:xfrm>
          <a:prstGeom prst="roundRect">
            <a:avLst/>
          </a:prstGeom>
          <a:solidFill>
            <a:srgbClr val="E2EC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044952"/>
            <a:ext cx="685800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881360" y="3026664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8B6A"/>
                </a:solidFill>
              </a:rPr>
              <a:t>+0.030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360920" y="364845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43C"/>
                </a:solidFill>
              </a:rPr>
              <a:t>Infrastructure &amp; security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802368" y="3657600"/>
            <a:ext cx="960120" cy="228600"/>
          </a:xfrm>
          <a:prstGeom prst="roundRect">
            <a:avLst/>
          </a:prstGeom>
          <a:solidFill>
            <a:srgbClr val="E2EC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802368" y="3657600"/>
            <a:ext cx="777240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881360" y="363931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8B6A"/>
                </a:solidFill>
              </a:rPr>
              <a:t>+0.034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360920" y="4261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43C"/>
                </a:solidFill>
              </a:rPr>
              <a:t>Observability &amp; evaluation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9802368" y="4270248"/>
            <a:ext cx="960120" cy="228600"/>
          </a:xfrm>
          <a:prstGeom prst="roundRect">
            <a:avLst/>
          </a:prstGeom>
          <a:solidFill>
            <a:srgbClr val="E2EC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802368" y="4270248"/>
            <a:ext cx="45720" cy="228600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881360" y="4251960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8B6A"/>
                </a:solidFill>
              </a:rPr>
              <a:t>+0.000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360920" y="4873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43C"/>
                </a:solidFill>
              </a:rPr>
              <a:t>SDK &amp; API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802368" y="4882896"/>
            <a:ext cx="960120" cy="228600"/>
          </a:xfrm>
          <a:prstGeom prst="roundRect">
            <a:avLst/>
          </a:prstGeom>
          <a:solidFill>
            <a:srgbClr val="E2ECE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02368" y="4882896"/>
            <a:ext cx="617220" cy="228600"/>
          </a:xfrm>
          <a:prstGeom prst="roundRect">
            <a:avLst/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881360" y="4864608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94C4C"/>
                </a:solidFill>
              </a:rPr>
              <a:t>-0.027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360920" y="5623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7880"/>
                </a:solidFill>
              </a:rPr>
              <a:t>Largest gains: infrastructure/security (+0.034) and getting-started (+0.030). Weak spot: observability remains flat at 0.767.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Community integration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External signals enter through controlled dispatch events and become scoped documentation evidence.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0749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64208"/>
            <a:ext cx="566928" cy="56692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81051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618488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92D3A"/>
                </a:solidFill>
              </a:rPr>
              <a:t>Microsoft Foundry discussions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664208" y="2029968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repository_dispatch -&gt; Discussion payload + labels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50749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081528"/>
            <a:ext cx="566928" cy="5669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22783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64208" y="3035808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92D3A"/>
                </a:solidFill>
              </a:rPr>
              <a:t>foundry-samples changes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1664208" y="3447288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scheduled/update agents -&gt; Code and sample drift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4251960"/>
            <a:ext cx="50749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498848"/>
            <a:ext cx="566928" cy="566928"/>
          </a:xfrm>
          <a:prstGeom prst="ellipse">
            <a:avLst/>
          </a:prstGeom>
          <a:solidFill>
            <a:srgbClr val="092D3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64515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4453128"/>
            <a:ext cx="3520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92D3A"/>
                </a:solidFill>
              </a:rPr>
              <a:t>Reddit community signals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664208" y="4864608"/>
            <a:ext cx="3520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7880"/>
                </a:solidFill>
              </a:rPr>
              <a:t>repository_dispatch -&gt; Real-world confusion and gaps</a:t>
            </a:r>
            <a:endParaRPr lang="en-US" sz="11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566928" cy="56692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812280" y="1417320"/>
            <a:ext cx="4754880" cy="3913632"/>
          </a:xfrm>
          <a:prstGeom prst="roundRect">
            <a:avLst>
              <a:gd name="adj" fmla="val 1869"/>
            </a:avLst>
          </a:prstGeom>
          <a:solidFill>
            <a:srgbClr val="092D3A"/>
          </a:solidFill>
          <a:ln w="12700">
            <a:solidFill>
              <a:srgbClr val="092D3A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178040" y="178308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</a:rPr>
              <a:t>Signal routing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7333488" y="2487168"/>
            <a:ext cx="3703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Classify doc gap, error, request, or SDK signal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Map the signal to affected docs-vnext pages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Create a time-bounded issue only when action is justified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Noop when evidence does not support documentation impact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8001000" y="4736592"/>
            <a:ext cx="2377440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001000" y="478231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HIGH-SIGNAL INPUTS ONLY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SDK monitoring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D5D7"/>
                </a:solidFill>
              </a:rPr>
              <a:t>Four language repositories plus the REST specification are checked every 12 hours.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21284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azure-sdk-for-python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19856" y="1481328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7556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JavaScript / TypeScript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02736" y="221284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azure-sdk-for-js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2784" y="1481328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17556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.NET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55664" y="221284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azure-sdk-for-net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25712" y="1481328"/>
            <a:ext cx="2487168" cy="1298448"/>
          </a:xfrm>
          <a:prstGeom prst="roundRect">
            <a:avLst>
              <a:gd name="adj" fmla="val 5634"/>
            </a:avLst>
          </a:prstGeom>
          <a:solidFill>
            <a:srgbClr val="123E49"/>
          </a:solidFill>
          <a:ln w="12700">
            <a:solidFill>
              <a:srgbClr val="2A5A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75564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Java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08592" y="2212848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azure-sdk-for-java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273552"/>
            <a:ext cx="11018520" cy="2240280"/>
          </a:xfrm>
          <a:prstGeom prst="roundRect">
            <a:avLst>
              <a:gd name="adj" fmla="val 3265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5844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F6EE"/>
                </a:solidFill>
              </a:rPr>
              <a:t>DETECTED EXAMPLE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9959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</a:rPr>
              <a:t>Java 2.0.0-beta.2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896112" y="45262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F3F0"/>
                </a:solidFill>
              </a:rPr>
              <a:t>Issue #53 | 05 Mar 2026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60520" y="3639312"/>
            <a:ext cx="868680" cy="310896"/>
          </a:xfrm>
          <a:prstGeom prst="roundRect">
            <a:avLst/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60520" y="3685032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HIGH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57800" y="3685032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Index renamed to AIProjectIndex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60520" y="4224528"/>
            <a:ext cx="868680" cy="310896"/>
          </a:xfrm>
          <a:prstGeom prst="roundRect">
            <a:avLst/>
          </a:prstGeom>
          <a:solidFill>
            <a:srgbClr val="E4A11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60520" y="4270248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MEDIUM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257800" y="42702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FoundryFeaturesOptInKeys constants removed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160520" y="4809744"/>
            <a:ext cx="868680" cy="310896"/>
          </a:xfrm>
          <a:prstGeom prst="roundRect">
            <a:avLst/>
          </a:prstGeom>
          <a:solidFill>
            <a:srgbClr val="168B6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60520" y="485546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LOW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257800" y="4855464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Custom DayOfWeek replaced by java.time.DayOfWeek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60520" y="5074920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8F3F0"/>
                </a:solidFill>
              </a:rPr>
              <a:t>Monitor -&gt; changelog diff -&gt; breaking-change analysis -&gt; docs impact map -&gt; issue or noop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2D3A"/>
                </a:solidFill>
              </a:rPr>
              <a:t>Key metrics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7880"/>
                </a:solidFill>
              </a:rPr>
              <a:t>Current repository inventory plus verified GitHub and evaluation snapshots.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68249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526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49808" y="21762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MDX pages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" y="245059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docs-vnext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419856" y="138988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168249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23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602736" y="21762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agent workflows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02736" y="245059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top-level definitions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8988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55664" y="168249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6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455664" y="21762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slash commands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55664" y="245059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human-invoked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25712" y="138988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08592" y="168249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308592" y="217627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workflow chains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08592" y="245059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workflow_run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72160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" y="40142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14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749808" y="450799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merged vnext PRs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49808" y="47823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12 bot-authored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19856" y="372160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02736" y="40142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274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3602736" y="450799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vnext-only names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02736" y="47823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vs canonical docs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72784" y="372160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55664" y="40142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0.863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6455664" y="450799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vnext eval score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55664" y="47823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claude-sonnet-4.6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25712" y="3721608"/>
            <a:ext cx="2487168" cy="1874520"/>
          </a:xfrm>
          <a:prstGeom prst="roundRect">
            <a:avLst>
              <a:gd name="adj" fmla="val 3902"/>
            </a:avLst>
          </a:prstGeom>
          <a:solidFill>
            <a:srgbClr val="EAF7F7"/>
          </a:solidFill>
          <a:ln w="12700">
            <a:solidFill>
              <a:srgbClr val="CBE3E5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308592" y="40142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090"/>
                </a:solidFill>
              </a:rPr>
              <a:t>+0.008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9308592" y="450799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343C"/>
                </a:solidFill>
              </a:rPr>
              <a:t>lift vs docs/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308592" y="4782312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D7880"/>
                </a:solidFill>
              </a:rPr>
              <a:t>Issue #640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66928" y="6172200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D7880"/>
                </a:solidFill>
              </a:rPr>
              <a:t>Inventory calculated by slides/build-slides.js at build time | GitHub history as of 27 Aug 2026 | Eval 28 Jul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510528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D78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10896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What's next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D5D7"/>
                </a:solidFill>
              </a:rPr>
              <a:t>Focus automation where measured user outcomes show the largest opportunity.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499616"/>
            <a:ext cx="566928" cy="310896"/>
          </a:xfrm>
          <a:prstGeom prst="roundRect">
            <a:avLst/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4533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01</a:t>
            </a:r>
            <a:endParaRPr lang="en-US" sz="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768" y="14173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95728" y="138988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Close the observability gap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395728" y="1865376"/>
            <a:ext cx="5806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FDADD"/>
                </a:solidFill>
              </a:rPr>
              <a:t>Expand evaluation and tracing coverage; current category score is flat at 0.767.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2395728" y="2450592"/>
            <a:ext cx="5989320" cy="0"/>
          </a:xfrm>
          <a:prstGeom prst="line">
            <a:avLst/>
          </a:prstGeom>
          <a:noFill/>
          <a:ln w="12700">
            <a:solidFill>
              <a:srgbClr val="3155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980944"/>
            <a:ext cx="566928" cy="310896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302666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02</a:t>
            </a:r>
            <a:endParaRPr lang="en-US" sz="9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898648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395728" y="28712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Increase agentic PR yield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2395728" y="3346704"/>
            <a:ext cx="5806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FDADD"/>
                </a:solidFill>
              </a:rPr>
              <a:t>Turn more validated monitor signals into merge-ready, tightly scoped changes.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2395728" y="3931920"/>
            <a:ext cx="5989320" cy="0"/>
          </a:xfrm>
          <a:prstGeom prst="line">
            <a:avLst/>
          </a:prstGeom>
          <a:noFill/>
          <a:ln w="12700">
            <a:solidFill>
              <a:srgbClr val="31556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8368" y="4462272"/>
            <a:ext cx="566928" cy="310896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8368" y="450799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03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4379976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395728" y="435254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Restore full eval breadth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2395728" y="4828032"/>
            <a:ext cx="5806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FDADD"/>
                </a:solidFill>
              </a:rPr>
              <a:t>Run the intended multi-model matrix and track category-level confidence over time.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2395728" y="5413248"/>
            <a:ext cx="5989320" cy="0"/>
          </a:xfrm>
          <a:prstGeom prst="line">
            <a:avLst/>
          </a:prstGeom>
          <a:noFill/>
          <a:ln w="12700">
            <a:solidFill>
              <a:srgbClr val="31556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823960" y="1389888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50800" dir="2700000">
              <a:srgbClr val="17343B">
                <a:alpha val="12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874520"/>
            <a:ext cx="960120" cy="9601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98280" y="31546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SUSTAINABLE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DOC OPS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9144000" y="4279392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8F3F0"/>
                </a:solidFill>
              </a:rPr>
              <a:t>Evidence in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8F3F0"/>
                </a:solidFill>
              </a:rPr>
              <a:t>Quality gates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8F3F0"/>
                </a:solidFill>
              </a:rPr>
              <a:t>Measured outcomes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658368" y="60624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ED2"/>
                </a:solidFill>
              </a:rPr>
              <a:t>foundry-docs | 31 Aug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9FCED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foundry-docs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Foundry-Docs: Agentic Documentation for Microsoft Foundry</dc:title>
  <dc:subject>Stakeholder overview of the foundry-docs agentic documentation platform</dc:subject>
  <dc:creator>Foundry-Docs Slide Deck Maintainer</dc:creator>
  <cp:lastModifiedBy>Foundry-Docs Slide Deck Maintainer</cp:lastModifiedBy>
  <cp:revision>1</cp:revision>
  <dcterms:created xsi:type="dcterms:W3CDTF">2026-08-31T17:08:53Z</dcterms:created>
  <dcterms:modified xsi:type="dcterms:W3CDTF">2026-08-31T17:08:53Z</dcterms:modified>
</cp:coreProperties>
</file>