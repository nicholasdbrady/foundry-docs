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Glossary</c:v>
                  </c:pt>
                  <c:pt idx="1">
                    <c:v>Reference</c:v>
                  </c:pt>
                  <c:pt idx="2">
                    <c:v>Overview</c:v>
                  </c:pt>
                  <c:pt idx="3">
                    <c:v>Get Started</c:v>
                  </c:pt>
                  <c:pt idx="4">
                    <c:v>Best Practices</c:v>
                  </c:pt>
                  <c:pt idx="5">
                    <c:v>Operate</c:v>
                  </c:pt>
                  <c:pt idx="6">
                    <c:v>Responsible AI</c:v>
                  </c:pt>
                  <c:pt idx="7">
                    <c:v>Manage</c:v>
                  </c:pt>
                  <c:pt idx="8">
                    <c:v>Dev Experience</c:v>
                  </c:pt>
                  <c:pt idx="9">
                    <c:v>Guardrails</c:v>
                  </c:pt>
                  <c:pt idx="10">
                    <c:v>API &amp; SDK</c:v>
                  </c:pt>
                  <c:pt idx="11">
                    <c:v>Security</c:v>
                  </c:pt>
                  <c:pt idx="12">
                    <c:v>Setup</c:v>
                  </c:pt>
                  <c:pt idx="13">
                    <c:v>Observability</c:v>
                  </c:pt>
                  <c:pt idx="14">
                    <c:v>Agents</c:v>
                  </c:pt>
                  <c:pt idx="15">
                    <c:v>Models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</c:v>
                </c:pt>
                <c:pt idx="1">
                  <c:v>1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11</c:v>
                </c:pt>
                <c:pt idx="9">
                  <c:v>15</c:v>
                </c:pt>
                <c:pt idx="10">
                  <c:v>17</c:v>
                </c:pt>
                <c:pt idx="11">
                  <c:v>20</c:v>
                </c:pt>
                <c:pt idx="12">
                  <c:v>20</c:v>
                </c:pt>
                <c:pt idx="13">
                  <c:v>24</c:v>
                </c:pt>
                <c:pt idx="14">
                  <c:v>57</c:v>
                </c:pt>
                <c:pt idx="15">
                  <c:v>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E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80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2FA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2560320"/>
            <a:ext cx="2011680" cy="201168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164592" cy="2011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Platform for Microsoft Foundry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 docs  ·  22 agentic workflows  ·  4 SDK repos monitored  ·  FastMCP server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Foundry-Docs?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that extracts, converts, and serves Microsoft Foundry documentation to AI assistants — with a fleet of autonomous agents keeping it accurate and up to date.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011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066544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0116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search_docs(query)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4942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full-text + vector 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267004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724912"/>
            <a:ext cx="246888" cy="246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6700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get_doc(path)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14400" y="29077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 specific doc by path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32841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38328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3284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list_sections()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14400" y="3566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all TOC sections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11480" y="3986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4041648"/>
            <a:ext cx="246888" cy="246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39867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get_section(section)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914400" y="42245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docs in a section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349240" y="256032"/>
            <a:ext cx="3566160" cy="4636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502920"/>
            <a:ext cx="1371600" cy="1371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9240" y="1965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 Server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349240" y="24505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Microsoft Foundry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via MCP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39496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39496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274</a:t>
            </a:r>
            <a:endParaRPr lang="en-US" sz="2600" dirty="0"/>
          </a:p>
        </p:txBody>
      </p:sp>
      <p:sp>
        <p:nvSpPr>
          <p:cNvPr id="27" name="Text 20"/>
          <p:cNvSpPr/>
          <p:nvPr/>
        </p:nvSpPr>
        <p:spPr>
          <a:xfrm>
            <a:off x="539496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58368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658368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2600" dirty="0"/>
          </a:p>
        </p:txBody>
      </p:sp>
      <p:sp>
        <p:nvSpPr>
          <p:cNvPr id="30" name="Text 23"/>
          <p:cNvSpPr/>
          <p:nvPr/>
        </p:nvSpPr>
        <p:spPr>
          <a:xfrm>
            <a:off x="65836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Sections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777240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77240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777240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Mode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373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371600"/>
            <a:ext cx="141732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319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 MDX 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607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foundry_docs_mcp/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IDEs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protocol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98064"/>
            <a:ext cx="237744" cy="23774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40080" y="2743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 from upstream MicrosoftDocs 4×/day via GitHub Actions</a:t>
            </a:r>
            <a:endParaRPr lang="en-US" sz="13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40080" y="32369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MS Learn markdown to Mintlify MDX — callouts, tabs, code groups</a:t>
            </a:r>
            <a:endParaRPr lang="en-US" sz="13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85616"/>
            <a:ext cx="237744" cy="23774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40080" y="37307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continuously improve accuracy, structure, and completeness</a:t>
            </a:r>
            <a:endParaRPr lang="en-US" sz="135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79392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40080" y="42245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 with hybrid Azure Search (keyword + vector + semantic reranking)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Coverage — 274 Pages Across 16 Sections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8595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 Agentic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AI agents maintaining docs automatically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Monitoring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84632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Upstream, SDK, community,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Reddit, diff reports, Dependabot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18688" y="15544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18688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5616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Testing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383280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tester, search quality,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post-index testbench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17336" y="15544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17336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1907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84264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 Content Updates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81928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updater, unbloat,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sync, labels, post-sync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20040" y="31546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20040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319272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6968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Quality Review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484632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Auditor, PR reviewer,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verify, audit-file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18688" y="31546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18688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3319272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85616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Community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3383280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Discussions monitor,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responder, auto-triage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117336" y="31546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17336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19272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84264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Operations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281928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maintainer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deck!)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 Trigger Coverage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90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84632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 + repo_dispatch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27832" y="1143000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9903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05072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92424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92424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opened/labeled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35624" y="1143000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12864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300216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 jobs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0040" y="2990088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32461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97280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84632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84632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open/sync/merge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27832" y="2990088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05072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92424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Chain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92424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workflow_run triggers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135624" y="2990088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24612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12864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300216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300216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main branch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Assurance Pipeline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Pre-Merge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push-docs-check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1148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pr-docs-reviewer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0428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143000"/>
            <a:ext cx="1920240" cy="3108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73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Post-Merge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5176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post-merge-verify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6517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4456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143000"/>
            <a:ext cx="1920240" cy="3108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4068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17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006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Healing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89204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docs-auditor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89204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daily-doc-updater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89204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unbloat-docs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04088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68096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41732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04088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13232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docs-noob-tester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713232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search-testbench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713232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post-index-test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 found 299 broken foundry-classic links · PR reviewer runs on every pull request · Daily auditor heals regressions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 History &amp; Impact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024128"/>
            <a:ext cx="1920240" cy="12344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0972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320040" y="177393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 PRs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20299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lifetime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96312" y="1024128"/>
            <a:ext cx="1920240" cy="12344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96312" y="10972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2496312" y="177393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PRs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96312" y="20299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auto-created &amp; merged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72584" y="1024128"/>
            <a:ext cx="1920240" cy="12344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72584" y="10972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672584" y="177393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 Alerts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72584" y="20299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changes detected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48856" y="1024128"/>
            <a:ext cx="1920240" cy="12344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48856" y="10972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6848856" y="177393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Pages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48856" y="20299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beyond docs/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0040" y="2423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Milestones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20040" y="2862072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0352" y="278892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Feb 27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61288" y="278892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sync — PR #1: switch to azure-ai-docs-pr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200400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" y="3127248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Feb 28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61288" y="3127248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workflows live — agentic fleet operational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0040" y="3538728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3465576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 02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61288" y="346557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#23: cloud-eval unbloat (−7% words, −34.5% bullets)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0040" y="3877056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0352" y="3803904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 02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61288" y="380390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#28: glossary created — 35 terms, 16 sections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0040" y="4215384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0352" y="414223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 04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61288" y="414223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#46: navigation reflow to product-pillar structure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0040" y="4553712"/>
            <a:ext cx="128016" cy="1280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352" y="448056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 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61288" y="448056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#50: full SDK samples for all 267 API endpoints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0" y="2423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Automation Signals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029200" y="2788920"/>
            <a:ext cx="3749040" cy="45720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2880360"/>
            <a:ext cx="256032" cy="256032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5468112" y="282549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 upstream-sync issues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5468112" y="302666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 changes detected &amp; dispatched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5029200" y="3337560"/>
            <a:ext cx="3749040" cy="45720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3429000"/>
            <a:ext cx="256032" cy="256032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468112" y="337413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SDK release issues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468112" y="357530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#18 baseline · #33 v2 GA · #53 Java 2.0.0-beta.2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5029200" y="3886200"/>
            <a:ext cx="3749040" cy="45720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pic>
        <p:nvPicPr>
          <p:cNvPr id="4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977640"/>
            <a:ext cx="256032" cy="256032"/>
          </a:xfrm>
          <a:prstGeom prst="rect">
            <a:avLst/>
          </a:prstGeom>
        </p:spPr>
      </p:pic>
      <p:sp>
        <p:nvSpPr>
          <p:cNvPr id="50" name="Text 45"/>
          <p:cNvSpPr/>
          <p:nvPr/>
        </p:nvSpPr>
        <p:spPr>
          <a:xfrm>
            <a:off x="5468112" y="39227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Open: 299 broken links</a:t>
            </a:r>
            <a:endParaRPr lang="en-US" sz="1050" dirty="0"/>
          </a:p>
        </p:txBody>
      </p:sp>
      <p:sp>
        <p:nvSpPr>
          <p:cNvPr id="51" name="Text 46"/>
          <p:cNvSpPr/>
          <p:nvPr/>
        </p:nvSpPr>
        <p:spPr>
          <a:xfrm>
            <a:off x="5468112" y="412394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noob-tester found foundry-classic link rot (#56)</a:t>
            </a:r>
            <a:endParaRPr lang="en-US" sz="900" dirty="0"/>
          </a:p>
        </p:txBody>
      </p:sp>
      <p:sp>
        <p:nvSpPr>
          <p:cNvPr id="52" name="Shape 47"/>
          <p:cNvSpPr/>
          <p:nvPr/>
        </p:nvSpPr>
        <p:spPr>
          <a:xfrm>
            <a:off x="5029200" y="4434840"/>
            <a:ext cx="3749040" cy="45720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4526280"/>
            <a:ext cx="256032" cy="256032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5468112" y="447141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 new pages in vnext</a:t>
            </a:r>
            <a:endParaRPr lang="en-US" sz="1050" dirty="0"/>
          </a:p>
        </p:txBody>
      </p:sp>
      <p:sp>
        <p:nvSpPr>
          <p:cNvPr id="55" name="Text 49"/>
          <p:cNvSpPr/>
          <p:nvPr/>
        </p:nvSpPr>
        <p:spPr>
          <a:xfrm>
            <a:off x="5468112" y="467258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created pages not in canonical docs/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Agentic Chain in Action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Docs Chain: monitor → issue → sync → update → PR (or noop)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325880"/>
            <a:ext cx="1572768" cy="2560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1472184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49047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20040" y="2075688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Monitor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3192" y="244144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docs-upstream-monitor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2770632"/>
            <a:ext cx="1389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 every 8h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azure-ai-docs-pr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new commits in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articles/foundry/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929384" y="2606040"/>
            <a:ext cx="201168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48840" y="1325880"/>
            <a:ext cx="1572768" cy="25603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697480" y="1472184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97480" y="149047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148840" y="2075688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Issue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221992" y="244144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Creates #54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240280" y="2770632"/>
            <a:ext cx="1389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upstream-sync label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changed files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to commits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payload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758184" y="2606040"/>
            <a:ext cx="201168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77640" y="1325880"/>
            <a:ext cx="1572768" cy="2560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26280" y="1472184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6280" y="149047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977640" y="2075688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Sync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050792" y="244144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docs-vnext-sync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069080" y="2770632"/>
            <a:ext cx="1389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convert scripts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MDX changes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staging branch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586984" y="2606040"/>
            <a:ext cx="201168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06440" y="1325880"/>
            <a:ext cx="1572768" cy="2560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355080" y="1472184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55080" y="149047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806440" y="2075688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Analyze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879592" y="244144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2770632"/>
            <a:ext cx="1389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workflow_run trigger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Diffs upstream changes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docs-vnext content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Assesses impact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415784" y="2606040"/>
            <a:ext cx="201168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35240" y="1325880"/>
            <a:ext cx="1572768" cy="25603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183880" y="1472184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183880" y="149047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635240" y="2075688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PR / Noop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708392" y="2441448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creates PR or noop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726680" y="2770632"/>
            <a:ext cx="1389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docs-vnext PR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targeted fixes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logs noop if no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change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20040" y="4069080"/>
            <a:ext cx="8503920" cy="822960"/>
          </a:xfrm>
          <a:prstGeom prst="rect">
            <a:avLst/>
          </a:prstGeom>
          <a:solidFill>
            <a:srgbClr val="F2FAFA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4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87952"/>
            <a:ext cx="320040" cy="320040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868680" y="413308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Chain: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868680" y="4370832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sdk-release-monitor (schedule: every 12h) detected Java 2.0.0-beta.2 on 2026-03-04 → created Issue #53 with breaking changes assessment: Index → AIProjectIndex rename, FoundryFeaturesOptInKeys removed, DayOfWeek type change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Content Improvements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1024128"/>
            <a:ext cx="4114800" cy="3840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24128"/>
            <a:ext cx="4114800" cy="2926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4241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 #28 — Glossary Creation</a:t>
            </a:r>
            <a:endParaRPr lang="en-US" sz="11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426464"/>
            <a:ext cx="1097280" cy="1097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25786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 2026-03-02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907792"/>
            <a:ext cx="1097280" cy="841248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294436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457200" y="3383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added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1719072" y="2907792"/>
            <a:ext cx="1097280" cy="841248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719072" y="294436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1719072" y="3383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980944" y="2907792"/>
            <a:ext cx="1097280" cy="841248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980944" y="294436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+194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2980944" y="3383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added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11480" y="3858768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glossary-maintainer scanned the last 7 days of commits, identified 35 terms across: Core Foundry, MCP Ecosystem, Search &amp; Retrieval, Agent Tools, Evaluation, and Developer Tooling. Created glossary.mdx and added it to docs.json navigation in one run.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754880" y="1024128"/>
            <a:ext cx="4114800" cy="384048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54880" y="1024128"/>
            <a:ext cx="4114800" cy="2926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92040" y="104241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 #23 — Unbloat: cloud-evaluation.mdx</a:t>
            </a:r>
            <a:endParaRPr lang="en-US" sz="115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426464"/>
            <a:ext cx="1097280" cy="109728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4754880" y="25786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 2026-03-02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4937760" y="2907792"/>
            <a:ext cx="1097280" cy="841248"/>
          </a:xfrm>
          <a:prstGeom prst="rect">
            <a:avLst/>
          </a:prstGeom>
          <a:solidFill>
            <a:srgbClr val="022C33"/>
          </a:solidFill>
          <a:ln w="12700">
            <a:solidFill>
              <a:srgbClr val="022C33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937760" y="294436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−7%</a:t>
            </a:r>
            <a:endParaRPr lang="en-US" sz="2600" dirty="0"/>
          </a:p>
        </p:txBody>
      </p:sp>
      <p:sp>
        <p:nvSpPr>
          <p:cNvPr id="26" name="Text 22"/>
          <p:cNvSpPr/>
          <p:nvPr/>
        </p:nvSpPr>
        <p:spPr>
          <a:xfrm>
            <a:off x="4937760" y="3383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reduced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6199632" y="2907792"/>
            <a:ext cx="1097280" cy="841248"/>
          </a:xfrm>
          <a:prstGeom prst="rect">
            <a:avLst/>
          </a:prstGeom>
          <a:solidFill>
            <a:srgbClr val="022C33"/>
          </a:solidFill>
          <a:ln w="12700">
            <a:solidFill>
              <a:srgbClr val="022C33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199632" y="294436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−35%</a:t>
            </a:r>
            <a:endParaRPr lang="en-US" sz="2600" dirty="0"/>
          </a:p>
        </p:txBody>
      </p:sp>
      <p:sp>
        <p:nvSpPr>
          <p:cNvPr id="29" name="Text 25"/>
          <p:cNvSpPr/>
          <p:nvPr/>
        </p:nvSpPr>
        <p:spPr>
          <a:xfrm>
            <a:off x="6199632" y="3383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points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7461504" y="2907792"/>
            <a:ext cx="1097280" cy="841248"/>
          </a:xfrm>
          <a:prstGeom prst="rect">
            <a:avLst/>
          </a:prstGeom>
          <a:solidFill>
            <a:srgbClr val="022C33"/>
          </a:solidFill>
          <a:ln w="12700">
            <a:solidFill>
              <a:srgbClr val="022C33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7461504" y="294436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−39</a:t>
            </a:r>
            <a:endParaRPr lang="en-US" sz="2600" dirty="0"/>
          </a:p>
        </p:txBody>
      </p:sp>
      <p:sp>
        <p:nvSpPr>
          <p:cNvPr id="32" name="Text 28"/>
          <p:cNvSpPr/>
          <p:nvPr/>
        </p:nvSpPr>
        <p:spPr>
          <a:xfrm>
            <a:off x="7461504" y="3383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removed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4892040" y="385876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duplicate 'Before you begin' Tip callouts removed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4892040" y="40416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Verbose bullet lists → concise prose sentences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4892040" y="42245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paragraph restating evaluator support info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4892040" y="44074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Trivial 'you can reuse this code' tip removed</a:t>
            </a:r>
            <a:endParaRPr lang="en-US" sz="950" dirty="0"/>
          </a:p>
        </p:txBody>
      </p:sp>
      <p:sp>
        <p:nvSpPr>
          <p:cNvPr id="37" name="Text 33"/>
          <p:cNvSpPr/>
          <p:nvPr/>
        </p:nvSpPr>
        <p:spPr>
          <a:xfrm>
            <a:off x="4892040" y="459028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'Interpret results' bullets → reference table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 Harness Results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8961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evaluations · 4 servers · 3 frontier models · Issue #57 — 2026-03-05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5166360" cy="1737360"/>
        </p:xfrm>
        <a:graphic>
          <a:graphicData uri="http://schemas.openxmlformats.org/drawingml/2006/table">
            <a:tbl>
              <a:tblPr/>
              <a:tblGrid>
                <a:gridCol w="1645920"/>
                <a:gridCol w="886968"/>
                <a:gridCol w="886968"/>
                <a:gridCol w="886968"/>
                <a:gridCol w="859536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claude-opus-4.6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gemini-3-pro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gpt-5.3-codex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Learn 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Mintlify MCP 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docs-vnext/ 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 (baseline)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3017520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0040" y="3401568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8912" y="3447288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344728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MARGINAL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084832" y="3456432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(0.906) vs docs/ (0.904), δ=+0.002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0040" y="3794760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384048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38404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084832" y="3849624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Mintlify MCP (0.908), δ=−0.002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0040" y="4187952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42336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423367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084832" y="4242816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MS Learn (0.908), δ=−0.002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0040" y="4581144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8912" y="4626864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H4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22960" y="4626864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MIXED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084832" y="4636008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vary: gpt-5.3 ranks docs-vnext 2nd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87568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Breakdown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87568" y="15727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agent-development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87568" y="1828800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687568" y="1828800"/>
            <a:ext cx="2505822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95360" y="1828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0.971 ▲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87568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getting-started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87568" y="2487168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87568" y="2487168"/>
            <a:ext cx="1553383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595360" y="24871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0.887 ▲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687568" y="28895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infra-security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687568" y="3145536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568" y="3145536"/>
            <a:ext cx="2006925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95360" y="31455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0.927 ▲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687568" y="35478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687568" y="3803904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687568" y="3803904"/>
            <a:ext cx="589605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595360" y="38039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0.802 —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5687568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sdk-api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687568" y="4462272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87568" y="4462272"/>
            <a:ext cx="2233696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595360" y="44622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0.947 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65760" y="47914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leads in agent-development (0.971) and getting-started (0.887) — areas benefiting most from Mintlify MDX enhancements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Integration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62456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896" y="1435608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29768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Discussions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29768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microsoft-foundry/discussions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8056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repository_dispatch fires whenever a new discussion is posted. The agent reads context from cache-memory and determines if docs need updating or a response is warranted.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4408" y="1143000"/>
            <a:ext cx="2743200" cy="35204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06824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43560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74136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Feedback Responder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374136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issue_comment events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92424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responds to discussions referencing documentation gaps. Surfaces the most relevant docs and flags content needing improvement.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08776" y="1143000"/>
            <a:ext cx="2743200" cy="3520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51192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2" y="1435608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18504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Auto-Triage Issues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18504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issues: opened, labeled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336792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and triages new GitHub issues, routing documentation bugs to the appropriate agent workflows. Integrates with label-ops for structured labeling.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Monitoring — 4 Repos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new azure-ai-projects releases and assesses documentation impact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1920240" cy="2926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55648"/>
            <a:ext cx="658368" cy="658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Azure/azure-sdk-for-python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93192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554480"/>
            <a:ext cx="1920240" cy="292608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755648"/>
            <a:ext cx="658368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87752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2679192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660904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sdk/ai/ai-projects/CHANGELOG.md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816352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816352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855464" y="1554480"/>
            <a:ext cx="1920240" cy="2926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55464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755648"/>
            <a:ext cx="658368" cy="6583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855464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946904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4928616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sdk/ai/Azure.AI.Projects/CHANGELOG.md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5084064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5084064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7123176" y="1554480"/>
            <a:ext cx="1920240" cy="29260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123176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1755648"/>
            <a:ext cx="658368" cy="6583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23176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7214616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Azure/azure-sdk-for-java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7196328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7351776" y="3931920"/>
            <a:ext cx="1463040" cy="347472"/>
          </a:xfrm>
          <a:prstGeom prst="rect">
            <a:avLst/>
          </a:prstGeom>
          <a:solidFill>
            <a:srgbClr val="C9A800"/>
          </a:solidFill>
          <a:ln w="12700">
            <a:solidFill>
              <a:srgbClr val="C9A800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351776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v2.0.0-beta.2 🆕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44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274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MDX Pages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docs-vnext/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27832" y="111556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34416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59352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64992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64992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definitions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35624" y="111556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344168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67144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272784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 Sections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72784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areas covered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20040" y="326440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49300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1560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57200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Slash Commands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5720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 /unbloat /sdk-check…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27832" y="326440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3493008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959352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64992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Repos Tracked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64992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JS · .NET · Java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35624" y="326440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4" y="3493008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67144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272784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Scheduled Jobs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272784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3200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11480" y="124358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801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3444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299 broken foundry-classic links surfaced by noob-tester (#56)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65376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9019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85623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observability-evaluation coverage — eval weak spot (0.802)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87168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52374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7802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overview page generated from agent-surfaced coverage gaps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1455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09981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gap filling — auto-draft missing pages from upstream signals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11480" y="37307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767328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37216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→ Mintlify deployment via GitHub Pages or Vercel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411480" y="435254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4389120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120" y="434340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ops dashboard embedding MCP server telemetry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· github.com/nicholasdbrady/foundry-docs · run #12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 Overview</dc:title>
  <dc:subject>PptxGenJS Presentation</dc:subject>
  <dc:creator>Foundry-Docs Slide Agent</dc:creator>
  <cp:lastModifiedBy>Foundry-Docs Slide Agent</cp:lastModifiedBy>
  <cp:revision>1</cp:revision>
  <dcterms:created xsi:type="dcterms:W3CDTF">2026-03-05T19:00:11Z</dcterms:created>
  <dcterms:modified xsi:type="dcterms:W3CDTF">2026-03-05T19:00:11Z</dcterms:modified>
</cp:coreProperties>
</file>