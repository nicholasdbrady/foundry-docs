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Pages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0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dPt>
            <c:idx val="11"/>
            <c:invertIfNegative val="0"/>
            <c:bubble3D val="0"/>
            <c:spPr>
              <a:solidFill>
                <a:srgbClr val="02C39A"/>
              </a:solidFill>
              <a:effectLst/>
            </c:spPr>
          </c:dPt>
          <c:dPt>
            <c:idx val="12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3"/>
            <c:invertIfNegative val="0"/>
            <c:bubble3D val="0"/>
            <c:spPr>
              <a:solidFill>
                <a:srgbClr val="00A896"/>
              </a:solidFill>
              <a:effectLst/>
            </c:spPr>
          </c:dPt>
          <c:cat>
            <c:multiLvlStrRef>
              <c:f>Sheet1!$A$2:$A$15</c:f>
              <c:multiLvlStrCache>
                <c:ptCount val="14"/>
                <c:lvl>
                  <c:pt idx="0">
                    <c:v>Models</c:v>
                  </c:pt>
                  <c:pt idx="1">
                    <c:v>Agents</c:v>
                  </c:pt>
                  <c:pt idx="2">
                    <c:v>Observability</c:v>
                  </c:pt>
                  <c:pt idx="3">
                    <c:v>Setup</c:v>
                  </c:pt>
                  <c:pt idx="4">
                    <c:v>Security</c:v>
                  </c:pt>
                  <c:pt idx="5">
                    <c:v>Guardrails</c:v>
                  </c:pt>
                  <c:pt idx="6">
                    <c:v>API &amp; SDK</c:v>
                  </c:pt>
                  <c:pt idx="7">
                    <c:v>Developer Exp.</c:v>
                  </c:pt>
                  <c:pt idx="8">
                    <c:v>Manage</c:v>
                  </c:pt>
                  <c:pt idx="9">
                    <c:v>Responsible AI</c:v>
                  </c:pt>
                  <c:pt idx="10">
                    <c:v>Operate</c:v>
                  </c:pt>
                  <c:pt idx="11">
                    <c:v>Best Practices</c:v>
                  </c:pt>
                  <c:pt idx="12">
                    <c:v>Get Started</c:v>
                  </c:pt>
                  <c:pt idx="13">
                    <c:v>Overview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72</c:v>
                </c:pt>
                <c:pt idx="1">
                  <c:v>57</c:v>
                </c:pt>
                <c:pt idx="2">
                  <c:v>24</c:v>
                </c:pt>
                <c:pt idx="3">
                  <c:v>20</c:v>
                </c:pt>
                <c:pt idx="4">
                  <c:v>20</c:v>
                </c:pt>
                <c:pt idx="5">
                  <c:v>15</c:v>
                </c:pt>
                <c:pt idx="6">
                  <c:v>14</c:v>
                </c:pt>
                <c:pt idx="7">
                  <c:v>11</c:v>
                </c:pt>
                <c:pt idx="8">
                  <c:v>9</c:v>
                </c:pt>
                <c:pt idx="9">
                  <c:v>8</c:v>
                </c:pt>
                <c:pt idx="10">
                  <c:v>7</c:v>
                </c:pt>
                <c:pt idx="11">
                  <c:v>5</c:v>
                </c:pt>
                <c:pt idx="12">
                  <c:v>4</c:v>
                </c:pt>
                <c:pt idx="13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A3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D4E8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4F9FB"/>
        </a:solidFill>
        <a:ln>
          <a:noFill/>
        </a:ln>
        <a:effectLst/>
      </c:spPr>
    </c:plotArea>
    <c:plotVisOnly val="1"/>
    <c:dispBlanksAs val="span"/>
  </c:chart>
  <c:spPr>
    <a:solidFill>
      <a:srgbClr val="F4F9FB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image" Target="../media/image-6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645920"/>
            <a:ext cx="5029200" cy="5029200"/>
          </a:xfrm>
          <a:prstGeom prst="ellipse">
            <a:avLst/>
          </a:prstGeom>
          <a:solidFill>
            <a:srgbClr val="028090">
              <a:alpha val="20000"/>
            </a:srgbClr>
          </a:solidFill>
          <a:ln w="12700">
            <a:solidFill>
              <a:srgbClr val="028090">
                <a:alpha val="20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772400" y="2286000"/>
            <a:ext cx="2560320" cy="2560320"/>
          </a:xfrm>
          <a:prstGeom prst="ellipse">
            <a:avLst/>
          </a:prstGeom>
          <a:solidFill>
            <a:srgbClr val="02C39A">
              <a:alpha val="15000"/>
            </a:srgbClr>
          </a:solidFill>
          <a:ln w="12700">
            <a:solidFill>
              <a:srgbClr val="02C39A">
                <a:alpha val="1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" cy="51435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731520"/>
            <a:ext cx="2560320" cy="32004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73152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 OVERVIEW  ·  2026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1234440"/>
            <a:ext cx="77724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Foundry-Docs</a:t>
            </a:r>
            <a:endParaRPr lang="en-US" sz="52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6858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Documentation for Microsoft Foundry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457200" y="2926080"/>
            <a:ext cx="6583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intelligent MCP server + autonomous agent pipeline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 keeps Microsoft Foundry docs current, accurate, and discoverable.</a:t>
            </a:r>
            <a:endParaRPr lang="en-US" sz="14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06640" y="2743200"/>
            <a:ext cx="1371600" cy="137160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3449"/>
          </a:solidFill>
          <a:ln w="12700">
            <a:solidFill>
              <a:srgbClr val="1A3449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7200" y="4828032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8F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nicholasdbrady/foundry-docs  ·  github.com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is Foundry-Docs?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572000" cy="4041648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02920" y="91440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Platform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02920" y="1325880"/>
            <a:ext cx="41605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Foundry-Docs is a custom MCP (Model Context Protocol) documentation server for Microsoft Foundry — purpose-built for AI coding assistants.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continuously syncs from the upstream MicrosoftDocs/azure-ai-docs-pr source, converts raw content into clean Mintlify MDX, and exposes the result through a FastMCP server that any AI tool can query.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
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entire documentation pipeline is autonomous — a fleet of GitHub Actions agents monitors, improves, tests, and publishes documentation with no human intervention required.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120640" y="804672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188720"/>
            <a:ext cx="475488" cy="47548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961888" y="941832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 Server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5961888" y="128016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endpoint serves 267 MDX docs to AI assistants (Copilot, Cursor, Claude)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5120640" y="2176272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9240" y="2560320"/>
            <a:ext cx="475488" cy="47548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961888" y="2313432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Sync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5961888" y="265176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Monitors azure-ai-docs-pr, syncs 4× daily and converts to clean Mintlify MDX</a:t>
            </a:r>
            <a:endParaRPr lang="en-US" sz="1100" dirty="0"/>
          </a:p>
        </p:txBody>
      </p:sp>
      <p:sp>
        <p:nvSpPr>
          <p:cNvPr id="15" name="Shape 11"/>
          <p:cNvSpPr/>
          <p:nvPr/>
        </p:nvSpPr>
        <p:spPr>
          <a:xfrm>
            <a:off x="5120640" y="3547872"/>
            <a:ext cx="374904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9240" y="3931920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5961888" y="3685032"/>
            <a:ext cx="272491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Pipeline</a:t>
            </a:r>
            <a:endParaRPr lang="en-US" sz="1400" dirty="0"/>
          </a:p>
        </p:txBody>
      </p:sp>
      <p:sp>
        <p:nvSpPr>
          <p:cNvPr id="18" name="Text 13"/>
          <p:cNvSpPr/>
          <p:nvPr/>
        </p:nvSpPr>
        <p:spPr>
          <a:xfrm>
            <a:off x="5961888" y="4023360"/>
            <a:ext cx="27249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25+ agentic workflows: audit, heal, test, update, review — fully autonomous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449"/>
          </a:solidFill>
          <a:ln w="12700">
            <a:solidFill>
              <a:srgbClr val="1A34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1554480" cy="2011680"/>
          </a:xfrm>
          <a:prstGeom prst="rect">
            <a:avLst/>
          </a:prstGeom>
          <a:solidFill>
            <a:srgbClr val="1A3449"/>
          </a:solidFill>
          <a:ln w="25400">
            <a:solidFill>
              <a:srgbClr val="2E4A6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280160"/>
            <a:ext cx="1554480" cy="73152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5568" y="1463040"/>
            <a:ext cx="512064" cy="5120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67512" y="20574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Upstream Source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667512" y="246888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azure-ai-docs-pr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(MicrosoftDocs)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2148840" y="2267712"/>
            <a:ext cx="45720" cy="36576"/>
          </a:xfrm>
          <a:prstGeom prst="rect">
            <a:avLst/>
          </a:prstGeom>
          <a:solidFill>
            <a:srgbClr val="4A7090"/>
          </a:solidFill>
          <a:ln w="12700">
            <a:solidFill>
              <a:srgbClr val="4A709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194560" y="1280160"/>
            <a:ext cx="1554480" cy="2011680"/>
          </a:xfrm>
          <a:prstGeom prst="rect">
            <a:avLst/>
          </a:prstGeom>
          <a:solidFill>
            <a:srgbClr val="1A3449"/>
          </a:solidFill>
          <a:ln w="25400">
            <a:solidFill>
              <a:srgbClr val="028090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94560" y="1280160"/>
            <a:ext cx="1554480" cy="7315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15768" y="1463040"/>
            <a:ext cx="512064" cy="51206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2267712" y="20574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 Convert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2267712" y="246888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docs-upstream-monitor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sync-and-convert.yml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3749040" y="2267712"/>
            <a:ext cx="45720" cy="36576"/>
          </a:xfrm>
          <a:prstGeom prst="rect">
            <a:avLst/>
          </a:prstGeom>
          <a:solidFill>
            <a:srgbClr val="4A7090"/>
          </a:solidFill>
          <a:ln w="12700">
            <a:solidFill>
              <a:srgbClr val="4A7090"/>
            </a:solidFill>
            <a:prstDash val="solid"/>
          </a:ln>
        </p:spPr>
      </p:sp>
      <p:sp>
        <p:nvSpPr>
          <p:cNvPr id="16" name="Shape 12"/>
          <p:cNvSpPr/>
          <p:nvPr/>
        </p:nvSpPr>
        <p:spPr>
          <a:xfrm>
            <a:off x="3794760" y="1280160"/>
            <a:ext cx="1554480" cy="2011680"/>
          </a:xfrm>
          <a:prstGeom prst="rect">
            <a:avLst/>
          </a:prstGeom>
          <a:solidFill>
            <a:srgbClr val="1A3449"/>
          </a:solidFill>
          <a:ln w="25400">
            <a:solidFill>
              <a:srgbClr val="00A896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3794760" y="1280160"/>
            <a:ext cx="1554480" cy="7315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15968" y="1463040"/>
            <a:ext cx="512064" cy="51206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3867912" y="20574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docs-vnext</a:t>
            </a:r>
            <a:endParaRPr lang="en-US" sz="1200" dirty="0"/>
          </a:p>
        </p:txBody>
      </p:sp>
      <p:sp>
        <p:nvSpPr>
          <p:cNvPr id="20" name="Text 15"/>
          <p:cNvSpPr/>
          <p:nvPr/>
        </p:nvSpPr>
        <p:spPr>
          <a:xfrm>
            <a:off x="3867912" y="246888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267 MDX pages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Mintlify format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349240" y="2267712"/>
            <a:ext cx="45720" cy="36576"/>
          </a:xfrm>
          <a:prstGeom prst="rect">
            <a:avLst/>
          </a:prstGeom>
          <a:solidFill>
            <a:srgbClr val="4A7090"/>
          </a:solidFill>
          <a:ln w="12700">
            <a:solidFill>
              <a:srgbClr val="4A7090"/>
            </a:solidFill>
            <a:prstDash val="solid"/>
          </a:ln>
        </p:spPr>
      </p:sp>
      <p:sp>
        <p:nvSpPr>
          <p:cNvPr id="22" name="Shape 17"/>
          <p:cNvSpPr/>
          <p:nvPr/>
        </p:nvSpPr>
        <p:spPr>
          <a:xfrm>
            <a:off x="5394960" y="1280160"/>
            <a:ext cx="1554480" cy="2011680"/>
          </a:xfrm>
          <a:prstGeom prst="rect">
            <a:avLst/>
          </a:prstGeom>
          <a:solidFill>
            <a:srgbClr val="1A3449"/>
          </a:solidFill>
          <a:ln w="25400">
            <a:solidFill>
              <a:srgbClr val="02C39A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5394960" y="1280160"/>
            <a:ext cx="1554480" cy="7315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16168" y="1463040"/>
            <a:ext cx="512064" cy="512064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5468112" y="20574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 Pipeline</a:t>
            </a:r>
            <a:endParaRPr lang="en-US" sz="1200" dirty="0"/>
          </a:p>
        </p:txBody>
      </p:sp>
      <p:sp>
        <p:nvSpPr>
          <p:cNvPr id="26" name="Text 20"/>
          <p:cNvSpPr/>
          <p:nvPr/>
        </p:nvSpPr>
        <p:spPr>
          <a:xfrm>
            <a:off x="5468112" y="246888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 · Heal · Test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· Update</a:t>
            </a:r>
            <a:endParaRPr lang="en-US" sz="1000" dirty="0"/>
          </a:p>
        </p:txBody>
      </p:sp>
      <p:sp>
        <p:nvSpPr>
          <p:cNvPr id="27" name="Shape 21"/>
          <p:cNvSpPr/>
          <p:nvPr/>
        </p:nvSpPr>
        <p:spPr>
          <a:xfrm>
            <a:off x="6949440" y="2267712"/>
            <a:ext cx="45720" cy="36576"/>
          </a:xfrm>
          <a:prstGeom prst="rect">
            <a:avLst/>
          </a:prstGeom>
          <a:solidFill>
            <a:srgbClr val="4A7090"/>
          </a:solidFill>
          <a:ln w="12700">
            <a:solidFill>
              <a:srgbClr val="4A7090"/>
            </a:solidFill>
            <a:prstDash val="solid"/>
          </a:ln>
        </p:spPr>
      </p:sp>
      <p:sp>
        <p:nvSpPr>
          <p:cNvPr id="28" name="Shape 22"/>
          <p:cNvSpPr/>
          <p:nvPr/>
        </p:nvSpPr>
        <p:spPr>
          <a:xfrm>
            <a:off x="6995160" y="1280160"/>
            <a:ext cx="1554480" cy="2011680"/>
          </a:xfrm>
          <a:prstGeom prst="rect">
            <a:avLst/>
          </a:prstGeom>
          <a:solidFill>
            <a:srgbClr val="1A3449"/>
          </a:solidFill>
          <a:ln w="25400">
            <a:solidFill>
              <a:srgbClr val="F0A500"/>
            </a:solidFill>
            <a:prstDash val="solid"/>
          </a:ln>
        </p:spPr>
      </p:sp>
      <p:sp>
        <p:nvSpPr>
          <p:cNvPr id="29" name="Shape 23"/>
          <p:cNvSpPr/>
          <p:nvPr/>
        </p:nvSpPr>
        <p:spPr>
          <a:xfrm>
            <a:off x="6995160" y="1280160"/>
            <a:ext cx="1554480" cy="7315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516368" y="1463040"/>
            <a:ext cx="512064" cy="512064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7068312" y="2057400"/>
            <a:ext cx="140817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MCP Server</a:t>
            </a:r>
            <a:endParaRPr lang="en-US" sz="1200" dirty="0"/>
          </a:p>
        </p:txBody>
      </p:sp>
      <p:sp>
        <p:nvSpPr>
          <p:cNvPr id="32" name="Text 25"/>
          <p:cNvSpPr/>
          <p:nvPr/>
        </p:nvSpPr>
        <p:spPr>
          <a:xfrm>
            <a:off x="7068312" y="2468880"/>
            <a:ext cx="140817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FastMCP endpoint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foundry_docs_mcp/</a:t>
            </a:r>
            <a:endParaRPr lang="en-US" sz="1000" dirty="0"/>
          </a:p>
        </p:txBody>
      </p:sp>
      <p:sp>
        <p:nvSpPr>
          <p:cNvPr id="33" name="Text 26"/>
          <p:cNvSpPr/>
          <p:nvPr/>
        </p:nvSpPr>
        <p:spPr>
          <a:xfrm>
            <a:off x="457200" y="36576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9A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 Learn pulls from azure-ai-docs-pr 4× daily  ·  Agents improve docs continuously  ·  MCP server always reflects latest state</a:t>
            </a:r>
            <a:endParaRPr lang="en-US" sz="1100" dirty="0"/>
          </a:p>
        </p:txBody>
      </p:sp>
      <p:sp>
        <p:nvSpPr>
          <p:cNvPr id="34" name="Shape 27"/>
          <p:cNvSpPr/>
          <p:nvPr/>
        </p:nvSpPr>
        <p:spPr>
          <a:xfrm>
            <a:off x="457200" y="4160520"/>
            <a:ext cx="1298448" cy="658368"/>
          </a:xfrm>
          <a:prstGeom prst="rect">
            <a:avLst/>
          </a:prstGeom>
          <a:solidFill>
            <a:srgbClr val="2E4A6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5" name="Text 28"/>
          <p:cNvSpPr/>
          <p:nvPr/>
        </p:nvSpPr>
        <p:spPr>
          <a:xfrm>
            <a:off x="457200" y="41605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Audit</a:t>
            </a:r>
            <a:endParaRPr lang="en-US" sz="1100" dirty="0"/>
          </a:p>
        </p:txBody>
      </p:sp>
      <p:sp>
        <p:nvSpPr>
          <p:cNvPr id="36" name="Shape 29"/>
          <p:cNvSpPr/>
          <p:nvPr/>
        </p:nvSpPr>
        <p:spPr>
          <a:xfrm>
            <a:off x="1847088" y="4160520"/>
            <a:ext cx="1298448" cy="658368"/>
          </a:xfrm>
          <a:prstGeom prst="rect">
            <a:avLst/>
          </a:prstGeom>
          <a:solidFill>
            <a:srgbClr val="2E4A6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7" name="Text 30"/>
          <p:cNvSpPr/>
          <p:nvPr/>
        </p:nvSpPr>
        <p:spPr>
          <a:xfrm>
            <a:off x="1847088" y="41605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Heal</a:t>
            </a:r>
            <a:endParaRPr lang="en-US" sz="1100" dirty="0"/>
          </a:p>
        </p:txBody>
      </p:sp>
      <p:sp>
        <p:nvSpPr>
          <p:cNvPr id="38" name="Shape 31"/>
          <p:cNvSpPr/>
          <p:nvPr/>
        </p:nvSpPr>
        <p:spPr>
          <a:xfrm>
            <a:off x="3236976" y="4160520"/>
            <a:ext cx="1298448" cy="658368"/>
          </a:xfrm>
          <a:prstGeom prst="rect">
            <a:avLst/>
          </a:prstGeom>
          <a:solidFill>
            <a:srgbClr val="2E4A6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9" name="Text 32"/>
          <p:cNvSpPr/>
          <p:nvPr/>
        </p:nvSpPr>
        <p:spPr>
          <a:xfrm>
            <a:off x="3236976" y="41605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🧪 Test</a:t>
            </a:r>
            <a:endParaRPr lang="en-US" sz="1100" dirty="0"/>
          </a:p>
        </p:txBody>
      </p:sp>
      <p:sp>
        <p:nvSpPr>
          <p:cNvPr id="40" name="Shape 33"/>
          <p:cNvSpPr/>
          <p:nvPr/>
        </p:nvSpPr>
        <p:spPr>
          <a:xfrm>
            <a:off x="4626864" y="4160520"/>
            <a:ext cx="1298448" cy="658368"/>
          </a:xfrm>
          <a:prstGeom prst="rect">
            <a:avLst/>
          </a:prstGeom>
          <a:solidFill>
            <a:srgbClr val="2E4A6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1" name="Text 34"/>
          <p:cNvSpPr/>
          <p:nvPr/>
        </p:nvSpPr>
        <p:spPr>
          <a:xfrm>
            <a:off x="4626864" y="41605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🔄 Update</a:t>
            </a:r>
            <a:endParaRPr lang="en-US" sz="1100" dirty="0"/>
          </a:p>
        </p:txBody>
      </p:sp>
      <p:sp>
        <p:nvSpPr>
          <p:cNvPr id="42" name="Shape 35"/>
          <p:cNvSpPr/>
          <p:nvPr/>
        </p:nvSpPr>
        <p:spPr>
          <a:xfrm>
            <a:off x="6016752" y="4160520"/>
            <a:ext cx="1298448" cy="658368"/>
          </a:xfrm>
          <a:prstGeom prst="rect">
            <a:avLst/>
          </a:prstGeom>
          <a:solidFill>
            <a:srgbClr val="2E4A6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3" name="Text 36"/>
          <p:cNvSpPr/>
          <p:nvPr/>
        </p:nvSpPr>
        <p:spPr>
          <a:xfrm>
            <a:off x="6016752" y="41605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👁 Review</a:t>
            </a:r>
            <a:endParaRPr lang="en-US" sz="1100" dirty="0"/>
          </a:p>
        </p:txBody>
      </p:sp>
      <p:sp>
        <p:nvSpPr>
          <p:cNvPr id="44" name="Shape 37"/>
          <p:cNvSpPr/>
          <p:nvPr/>
        </p:nvSpPr>
        <p:spPr>
          <a:xfrm>
            <a:off x="7406640" y="4160520"/>
            <a:ext cx="1298448" cy="658368"/>
          </a:xfrm>
          <a:prstGeom prst="rect">
            <a:avLst/>
          </a:prstGeom>
          <a:solidFill>
            <a:srgbClr val="2E4A62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45" name="Text 38"/>
          <p:cNvSpPr/>
          <p:nvPr/>
        </p:nvSpPr>
        <p:spPr>
          <a:xfrm>
            <a:off x="7406640" y="4160520"/>
            <a:ext cx="129844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🔔 Monitor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Coverage  —  267 MDX Pages</a:t>
            </a:r>
            <a:endParaRPr lang="en-US" sz="2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274320" y="777240"/>
          <a:ext cx="859536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Agentic Workflows  —  25 Autonomous Agents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04672"/>
            <a:ext cx="54864" cy="160020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38912" y="941832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32688" y="914400"/>
            <a:ext cx="1947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Monitoring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932688" y="1207008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agents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38912" y="1490472"/>
            <a:ext cx="244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releases, upstream docs, community discussions, push checks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172968" y="804672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804672"/>
            <a:ext cx="54864" cy="160020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941832"/>
            <a:ext cx="384048" cy="38404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31336" y="914400"/>
            <a:ext cx="1947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Healing &amp; Updating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3831336" y="1207008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3337560" y="1490472"/>
            <a:ext cx="244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doc healer, updater, unbloat, post-sync updater, glossary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071616" y="804672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071616" y="804672"/>
            <a:ext cx="54864" cy="160020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6208" y="941832"/>
            <a:ext cx="384048" cy="38404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729984" y="914400"/>
            <a:ext cx="1947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 &amp; QA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729984" y="1207008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6236208" y="1490472"/>
            <a:ext cx="244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Noob tester, multi-device tester, search testbench, regression gate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74320" y="2606040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274320" y="2606040"/>
            <a:ext cx="54864" cy="160020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8912" y="2743200"/>
            <a:ext cx="384048" cy="38404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32688" y="2715768"/>
            <a:ext cx="1947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Review &amp; Audit</a:t>
            </a:r>
            <a:endParaRPr lang="en-US" sz="1300" dirty="0"/>
          </a:p>
        </p:txBody>
      </p:sp>
      <p:sp>
        <p:nvSpPr>
          <p:cNvPr id="26" name="Text 20"/>
          <p:cNvSpPr/>
          <p:nvPr/>
        </p:nvSpPr>
        <p:spPr>
          <a:xfrm>
            <a:off x="932688" y="3008376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0A5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438912" y="3291840"/>
            <a:ext cx="244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reviewer, docs auditor, file auditor, post-merge verify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172968" y="2606040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3172968" y="2606040"/>
            <a:ext cx="54864" cy="1600200"/>
          </a:xfrm>
          <a:prstGeom prst="rect">
            <a:avLst/>
          </a:prstGeom>
          <a:solidFill>
            <a:srgbClr val="1A3449"/>
          </a:solidFill>
          <a:ln w="12700">
            <a:solidFill>
              <a:srgbClr val="1A3449"/>
            </a:solidFill>
            <a:prstDash val="solid"/>
          </a:ln>
        </p:spPr>
      </p:sp>
      <p:pic>
        <p:nvPicPr>
          <p:cNvPr id="3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37560" y="2743200"/>
            <a:ext cx="384048" cy="384048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831336" y="2715768"/>
            <a:ext cx="1947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Slash Commands</a:t>
            </a:r>
            <a:endParaRPr lang="en-US" sz="1300" dirty="0"/>
          </a:p>
        </p:txBody>
      </p:sp>
      <p:sp>
        <p:nvSpPr>
          <p:cNvPr id="32" name="Text 25"/>
          <p:cNvSpPr/>
          <p:nvPr/>
        </p:nvSpPr>
        <p:spPr>
          <a:xfrm>
            <a:off x="3831336" y="3008376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344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agents</a:t>
            </a:r>
            <a:endParaRPr lang="en-US" sz="1100" dirty="0"/>
          </a:p>
        </p:txBody>
      </p:sp>
      <p:sp>
        <p:nvSpPr>
          <p:cNvPr id="33" name="Text 26"/>
          <p:cNvSpPr/>
          <p:nvPr/>
        </p:nvSpPr>
        <p:spPr>
          <a:xfrm>
            <a:off x="3337560" y="3291840"/>
            <a:ext cx="244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/sdk-check, /check-discussions, /audit-file, /run-noob-test + more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071616" y="2606040"/>
            <a:ext cx="269748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Shape 28"/>
          <p:cNvSpPr/>
          <p:nvPr/>
        </p:nvSpPr>
        <p:spPr>
          <a:xfrm>
            <a:off x="6071616" y="2606040"/>
            <a:ext cx="54864" cy="160020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pic>
        <p:nvPicPr>
          <p:cNvPr id="3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36208" y="2743200"/>
            <a:ext cx="384048" cy="384048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729984" y="2715768"/>
            <a:ext cx="1947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Sync &amp; Convert</a:t>
            </a:r>
            <a:endParaRPr lang="en-US" sz="1300" dirty="0"/>
          </a:p>
        </p:txBody>
      </p:sp>
      <p:sp>
        <p:nvSpPr>
          <p:cNvPr id="38" name="Text 30"/>
          <p:cNvSpPr/>
          <p:nvPr/>
        </p:nvSpPr>
        <p:spPr>
          <a:xfrm>
            <a:off x="6729984" y="3008376"/>
            <a:ext cx="1947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agents</a:t>
            </a:r>
            <a:endParaRPr lang="en-US" sz="1100" dirty="0"/>
          </a:p>
        </p:txBody>
      </p:sp>
      <p:sp>
        <p:nvSpPr>
          <p:cNvPr id="39" name="Text 31"/>
          <p:cNvSpPr/>
          <p:nvPr/>
        </p:nvSpPr>
        <p:spPr>
          <a:xfrm>
            <a:off x="6236208" y="3291840"/>
            <a:ext cx="24414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docs-vnext sync, diff report, index sync, post-index testbench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449"/>
          </a:solidFill>
          <a:ln w="12700">
            <a:solidFill>
              <a:srgbClr val="1A34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Trigger Coverage  —  Event-Driven Workflow Architecture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182880" y="804672"/>
            <a:ext cx="2029968" cy="178308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0120" y="969264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56032" y="1463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237744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237744" y="21945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to daily cron jobs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continuous monitoring</a:t>
            </a:r>
            <a:endParaRPr lang="en-US" sz="900" dirty="0"/>
          </a:p>
        </p:txBody>
      </p:sp>
      <p:sp>
        <p:nvSpPr>
          <p:cNvPr id="9" name="Shape 6"/>
          <p:cNvSpPr/>
          <p:nvPr/>
        </p:nvSpPr>
        <p:spPr>
          <a:xfrm>
            <a:off x="2331720" y="804672"/>
            <a:ext cx="2029968" cy="178308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08960" y="969264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2404872" y="1463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3200" dirty="0"/>
          </a:p>
        </p:txBody>
      </p:sp>
      <p:sp>
        <p:nvSpPr>
          <p:cNvPr id="12" name="Text 8"/>
          <p:cNvSpPr/>
          <p:nvPr/>
        </p:nvSpPr>
        <p:spPr>
          <a:xfrm>
            <a:off x="2386584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</a:t>
            </a:r>
            <a:endParaRPr lang="en-US" sz="1000" dirty="0"/>
          </a:p>
        </p:txBody>
      </p:sp>
      <p:sp>
        <p:nvSpPr>
          <p:cNvPr id="13" name="Text 9"/>
          <p:cNvSpPr/>
          <p:nvPr/>
        </p:nvSpPr>
        <p:spPr>
          <a:xfrm>
            <a:off x="2386584" y="21945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docs on every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 to main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4480560" y="804672"/>
            <a:ext cx="2029968" cy="178308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969264"/>
            <a:ext cx="475488" cy="47548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4553712" y="1463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3200" dirty="0"/>
          </a:p>
        </p:txBody>
      </p:sp>
      <p:sp>
        <p:nvSpPr>
          <p:cNvPr id="17" name="Text 12"/>
          <p:cNvSpPr/>
          <p:nvPr/>
        </p:nvSpPr>
        <p:spPr>
          <a:xfrm>
            <a:off x="4535424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workflow_run</a:t>
            </a:r>
            <a:endParaRPr lang="en-US" sz="1000" dirty="0"/>
          </a:p>
        </p:txBody>
      </p:sp>
      <p:sp>
        <p:nvSpPr>
          <p:cNvPr id="18" name="Text 13"/>
          <p:cNvSpPr/>
          <p:nvPr/>
        </p:nvSpPr>
        <p:spPr>
          <a:xfrm>
            <a:off x="4535424" y="21945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 reactions: sync →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→ verify</a:t>
            </a:r>
            <a:endParaRPr lang="en-US" sz="900" dirty="0"/>
          </a:p>
        </p:txBody>
      </p:sp>
      <p:sp>
        <p:nvSpPr>
          <p:cNvPr id="19" name="Shape 14"/>
          <p:cNvSpPr/>
          <p:nvPr/>
        </p:nvSpPr>
        <p:spPr>
          <a:xfrm>
            <a:off x="6629400" y="804672"/>
            <a:ext cx="2029968" cy="178308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06640" y="969264"/>
            <a:ext cx="475488" cy="475488"/>
          </a:xfrm>
          <a:prstGeom prst="rect">
            <a:avLst/>
          </a:prstGeom>
        </p:spPr>
      </p:pic>
      <p:sp>
        <p:nvSpPr>
          <p:cNvPr id="21" name="Text 15"/>
          <p:cNvSpPr/>
          <p:nvPr/>
        </p:nvSpPr>
        <p:spPr>
          <a:xfrm>
            <a:off x="6702552" y="1463040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3200" dirty="0"/>
          </a:p>
        </p:txBody>
      </p:sp>
      <p:sp>
        <p:nvSpPr>
          <p:cNvPr id="22" name="Text 16"/>
          <p:cNvSpPr/>
          <p:nvPr/>
        </p:nvSpPr>
        <p:spPr>
          <a:xfrm>
            <a:off x="6684264" y="1938528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workflow_dispatch</a:t>
            </a:r>
            <a:endParaRPr lang="en-US" sz="1000" dirty="0"/>
          </a:p>
        </p:txBody>
      </p:sp>
      <p:sp>
        <p:nvSpPr>
          <p:cNvPr id="23" name="Text 17"/>
          <p:cNvSpPr/>
          <p:nvPr/>
        </p:nvSpPr>
        <p:spPr>
          <a:xfrm>
            <a:off x="6684264" y="219456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trigger 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workflow</a:t>
            </a:r>
            <a:endParaRPr lang="en-US" sz="900" dirty="0"/>
          </a:p>
        </p:txBody>
      </p:sp>
      <p:sp>
        <p:nvSpPr>
          <p:cNvPr id="24" name="Shape 18"/>
          <p:cNvSpPr/>
          <p:nvPr/>
        </p:nvSpPr>
        <p:spPr>
          <a:xfrm>
            <a:off x="182880" y="2752344"/>
            <a:ext cx="2029968" cy="178308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0120" y="2916936"/>
            <a:ext cx="475488" cy="475488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256032" y="3410712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3200" dirty="0"/>
          </a:p>
        </p:txBody>
      </p:sp>
      <p:sp>
        <p:nvSpPr>
          <p:cNvPr id="27" name="Text 20"/>
          <p:cNvSpPr/>
          <p:nvPr/>
        </p:nvSpPr>
        <p:spPr>
          <a:xfrm>
            <a:off x="237744" y="3886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issue_comment</a:t>
            </a:r>
            <a:endParaRPr lang="en-US" sz="1000" dirty="0"/>
          </a:p>
        </p:txBody>
      </p:sp>
      <p:sp>
        <p:nvSpPr>
          <p:cNvPr id="28" name="Text 21"/>
          <p:cNvSpPr/>
          <p:nvPr/>
        </p:nvSpPr>
        <p:spPr>
          <a:xfrm>
            <a:off x="237744" y="41422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commands: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/sdk-check, /audit-file…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2331720" y="2752344"/>
            <a:ext cx="2029968" cy="178308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108960" y="2916936"/>
            <a:ext cx="475488" cy="475488"/>
          </a:xfrm>
          <a:prstGeom prst="rect">
            <a:avLst/>
          </a:prstGeom>
        </p:spPr>
      </p:pic>
      <p:sp>
        <p:nvSpPr>
          <p:cNvPr id="31" name="Text 23"/>
          <p:cNvSpPr/>
          <p:nvPr/>
        </p:nvSpPr>
        <p:spPr>
          <a:xfrm>
            <a:off x="2404872" y="3410712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200" dirty="0"/>
          </a:p>
        </p:txBody>
      </p:sp>
      <p:sp>
        <p:nvSpPr>
          <p:cNvPr id="32" name="Text 24"/>
          <p:cNvSpPr/>
          <p:nvPr/>
        </p:nvSpPr>
        <p:spPr>
          <a:xfrm>
            <a:off x="2386584" y="3886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repository_dispatch</a:t>
            </a:r>
            <a:endParaRPr lang="en-US" sz="1000" dirty="0"/>
          </a:p>
        </p:txBody>
      </p:sp>
      <p:sp>
        <p:nvSpPr>
          <p:cNvPr id="33" name="Text 25"/>
          <p:cNvSpPr/>
          <p:nvPr/>
        </p:nvSpPr>
        <p:spPr>
          <a:xfrm>
            <a:off x="2386584" y="41422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events from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microsoft-foundry/discussions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4480560" y="2752344"/>
            <a:ext cx="2029968" cy="178308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5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57800" y="2916936"/>
            <a:ext cx="475488" cy="475488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4553712" y="3410712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3200" dirty="0"/>
          </a:p>
        </p:txBody>
      </p:sp>
      <p:sp>
        <p:nvSpPr>
          <p:cNvPr id="37" name="Text 28"/>
          <p:cNvSpPr/>
          <p:nvPr/>
        </p:nvSpPr>
        <p:spPr>
          <a:xfrm>
            <a:off x="4535424" y="3886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pull_request</a:t>
            </a:r>
            <a:endParaRPr lang="en-US" sz="1000" dirty="0"/>
          </a:p>
        </p:txBody>
      </p:sp>
      <p:sp>
        <p:nvSpPr>
          <p:cNvPr id="38" name="Text 29"/>
          <p:cNvSpPr/>
          <p:nvPr/>
        </p:nvSpPr>
        <p:spPr>
          <a:xfrm>
            <a:off x="4535424" y="41422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 docs review and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post-merge validation</a:t>
            </a:r>
            <a:endParaRPr lang="en-US" sz="900" dirty="0"/>
          </a:p>
        </p:txBody>
      </p:sp>
      <p:sp>
        <p:nvSpPr>
          <p:cNvPr id="39" name="Shape 30"/>
          <p:cNvSpPr/>
          <p:nvPr/>
        </p:nvSpPr>
        <p:spPr>
          <a:xfrm>
            <a:off x="6629400" y="2752344"/>
            <a:ext cx="2029968" cy="178308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40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06640" y="2916936"/>
            <a:ext cx="475488" cy="475488"/>
          </a:xfrm>
          <a:prstGeom prst="rect">
            <a:avLst/>
          </a:prstGeom>
        </p:spPr>
      </p:pic>
      <p:sp>
        <p:nvSpPr>
          <p:cNvPr id="41" name="Text 31"/>
          <p:cNvSpPr/>
          <p:nvPr/>
        </p:nvSpPr>
        <p:spPr>
          <a:xfrm>
            <a:off x="6702552" y="3410712"/>
            <a:ext cx="188366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3200" dirty="0"/>
          </a:p>
        </p:txBody>
      </p:sp>
      <p:sp>
        <p:nvSpPr>
          <p:cNvPr id="42" name="Text 32"/>
          <p:cNvSpPr/>
          <p:nvPr/>
        </p:nvSpPr>
        <p:spPr>
          <a:xfrm>
            <a:off x="6684264" y="3886200"/>
            <a:ext cx="1920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</a:t>
            </a:r>
            <a:endParaRPr lang="en-US" sz="1000" dirty="0"/>
          </a:p>
        </p:txBody>
      </p:sp>
      <p:sp>
        <p:nvSpPr>
          <p:cNvPr id="43" name="Text 33"/>
          <p:cNvSpPr/>
          <p:nvPr/>
        </p:nvSpPr>
        <p:spPr>
          <a:xfrm>
            <a:off x="6684264" y="414223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new release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7AAE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detection triggers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Quality Pipeline  —  Multi-Layer Documentation QA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474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886968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822960"/>
            <a:ext cx="2816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Source Docs Arrive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1993392" y="1335024"/>
            <a:ext cx="36576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274320" y="1389888"/>
            <a:ext cx="3474720" cy="512064"/>
          </a:xfrm>
          <a:prstGeom prst="rect">
            <a:avLst/>
          </a:prstGeom>
          <a:solidFill>
            <a:srgbClr val="EEF6F8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048" y="1453896"/>
            <a:ext cx="347472" cy="347472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41248" y="1389888"/>
            <a:ext cx="2816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Auditor scans for issues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1993392" y="1901952"/>
            <a:ext cx="36576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74320" y="1956816"/>
            <a:ext cx="3474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2020824"/>
            <a:ext cx="347472" cy="3474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41248" y="1956816"/>
            <a:ext cx="2816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Daily Healer auto-fixes</a:t>
            </a:r>
            <a:endParaRPr lang="en-US" sz="1200" dirty="0"/>
          </a:p>
        </p:txBody>
      </p:sp>
      <p:sp>
        <p:nvSpPr>
          <p:cNvPr id="15" name="Shape 10"/>
          <p:cNvSpPr/>
          <p:nvPr/>
        </p:nvSpPr>
        <p:spPr>
          <a:xfrm>
            <a:off x="1993392" y="2468880"/>
            <a:ext cx="36576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6" name="Shape 11"/>
          <p:cNvSpPr/>
          <p:nvPr/>
        </p:nvSpPr>
        <p:spPr>
          <a:xfrm>
            <a:off x="274320" y="2523744"/>
            <a:ext cx="3474720" cy="512064"/>
          </a:xfrm>
          <a:prstGeom prst="rect">
            <a:avLst/>
          </a:prstGeom>
          <a:solidFill>
            <a:srgbClr val="EEF6F8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587752"/>
            <a:ext cx="347472" cy="347472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841248" y="2523744"/>
            <a:ext cx="2816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Noob Tester validates UX</a:t>
            </a:r>
            <a:endParaRPr lang="en-US" sz="1200" dirty="0"/>
          </a:p>
        </p:txBody>
      </p:sp>
      <p:sp>
        <p:nvSpPr>
          <p:cNvPr id="19" name="Shape 13"/>
          <p:cNvSpPr/>
          <p:nvPr/>
        </p:nvSpPr>
        <p:spPr>
          <a:xfrm>
            <a:off x="1993392" y="3035808"/>
            <a:ext cx="36576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0" name="Shape 14"/>
          <p:cNvSpPr/>
          <p:nvPr/>
        </p:nvSpPr>
        <p:spPr>
          <a:xfrm>
            <a:off x="274320" y="3090672"/>
            <a:ext cx="3474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4048" y="3154680"/>
            <a:ext cx="347472" cy="347472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841248" y="3090672"/>
            <a:ext cx="2816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Multi-Device Test runs</a:t>
            </a:r>
            <a:endParaRPr lang="en-US" sz="1200" dirty="0"/>
          </a:p>
        </p:txBody>
      </p:sp>
      <p:sp>
        <p:nvSpPr>
          <p:cNvPr id="23" name="Shape 16"/>
          <p:cNvSpPr/>
          <p:nvPr/>
        </p:nvSpPr>
        <p:spPr>
          <a:xfrm>
            <a:off x="1993392" y="3602736"/>
            <a:ext cx="36576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4" name="Shape 17"/>
          <p:cNvSpPr/>
          <p:nvPr/>
        </p:nvSpPr>
        <p:spPr>
          <a:xfrm>
            <a:off x="274320" y="3657600"/>
            <a:ext cx="3474720" cy="512064"/>
          </a:xfrm>
          <a:prstGeom prst="rect">
            <a:avLst/>
          </a:prstGeom>
          <a:solidFill>
            <a:srgbClr val="EEF6F8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4048" y="3721608"/>
            <a:ext cx="347472" cy="347472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841248" y="3657600"/>
            <a:ext cx="2816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PR Reviewer approves</a:t>
            </a:r>
            <a:endParaRPr lang="en-US" sz="1200" dirty="0"/>
          </a:p>
        </p:txBody>
      </p:sp>
      <p:sp>
        <p:nvSpPr>
          <p:cNvPr id="27" name="Shape 19"/>
          <p:cNvSpPr/>
          <p:nvPr/>
        </p:nvSpPr>
        <p:spPr>
          <a:xfrm>
            <a:off x="1993392" y="4169664"/>
            <a:ext cx="36576" cy="54864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28" name="Shape 20"/>
          <p:cNvSpPr/>
          <p:nvPr/>
        </p:nvSpPr>
        <p:spPr>
          <a:xfrm>
            <a:off x="274320" y="4224528"/>
            <a:ext cx="3474720" cy="512064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4048" y="4288536"/>
            <a:ext cx="347472" cy="347472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841248" y="4224528"/>
            <a:ext cx="281635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Published &amp; Live</a:t>
            </a:r>
            <a:endParaRPr lang="en-US" sz="1200" dirty="0"/>
          </a:p>
        </p:txBody>
      </p:sp>
      <p:sp>
        <p:nvSpPr>
          <p:cNvPr id="31" name="Shape 22"/>
          <p:cNvSpPr/>
          <p:nvPr/>
        </p:nvSpPr>
        <p:spPr>
          <a:xfrm>
            <a:off x="4023360" y="822960"/>
            <a:ext cx="48920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2" name="Text 23"/>
          <p:cNvSpPr/>
          <p:nvPr/>
        </p:nvSpPr>
        <p:spPr>
          <a:xfrm>
            <a:off x="4206240" y="914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Documentation Auditor</a:t>
            </a:r>
            <a:endParaRPr lang="en-US" sz="1300" dirty="0"/>
          </a:p>
        </p:txBody>
      </p:sp>
      <p:sp>
        <p:nvSpPr>
          <p:cNvPr id="33" name="Text 24"/>
          <p:cNvSpPr/>
          <p:nvPr/>
        </p:nvSpPr>
        <p:spPr>
          <a:xfrm>
            <a:off x="4206240" y="1207008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structural scans across all 267 MDX pages — checks frontmatter, broken links, MDX syntax errors, missing descriptions</a:t>
            </a:r>
            <a:endParaRPr lang="en-US" sz="1100" dirty="0"/>
          </a:p>
        </p:txBody>
      </p:sp>
      <p:sp>
        <p:nvSpPr>
          <p:cNvPr id="34" name="Shape 25"/>
          <p:cNvSpPr/>
          <p:nvPr/>
        </p:nvSpPr>
        <p:spPr>
          <a:xfrm>
            <a:off x="4023360" y="1901952"/>
            <a:ext cx="48920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5" name="Text 26"/>
          <p:cNvSpPr/>
          <p:nvPr/>
        </p:nvSpPr>
        <p:spPr>
          <a:xfrm>
            <a:off x="4206240" y="199339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Noob Tester</a:t>
            </a:r>
            <a:endParaRPr lang="en-US" sz="1300" dirty="0"/>
          </a:p>
        </p:txBody>
      </p:sp>
      <p:sp>
        <p:nvSpPr>
          <p:cNvPr id="36" name="Text 27"/>
          <p:cNvSpPr/>
          <p:nvPr/>
        </p:nvSpPr>
        <p:spPr>
          <a:xfrm>
            <a:off x="4206240" y="228600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Simulates a first-time developer asking beginner questions. Surfaces gaps in get-started coverage and confusing terminology</a:t>
            </a:r>
            <a:endParaRPr lang="en-US" sz="1100" dirty="0"/>
          </a:p>
        </p:txBody>
      </p:sp>
      <p:sp>
        <p:nvSpPr>
          <p:cNvPr id="37" name="Shape 28"/>
          <p:cNvSpPr/>
          <p:nvPr/>
        </p:nvSpPr>
        <p:spPr>
          <a:xfrm>
            <a:off x="4023360" y="2980944"/>
            <a:ext cx="48920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38" name="Text 29"/>
          <p:cNvSpPr/>
          <p:nvPr/>
        </p:nvSpPr>
        <p:spPr>
          <a:xfrm>
            <a:off x="4206240" y="307238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Multi-Device Tester</a:t>
            </a:r>
            <a:endParaRPr lang="en-US" sz="1300" dirty="0"/>
          </a:p>
        </p:txBody>
      </p:sp>
      <p:sp>
        <p:nvSpPr>
          <p:cNvPr id="39" name="Text 30"/>
          <p:cNvSpPr/>
          <p:nvPr/>
        </p:nvSpPr>
        <p:spPr>
          <a:xfrm>
            <a:off x="4206240" y="3364992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rendering across mobile, tablet, desktop viewports. Catches layout issues before they reach production</a:t>
            </a:r>
            <a:endParaRPr lang="en-US" sz="1100" dirty="0"/>
          </a:p>
        </p:txBody>
      </p:sp>
      <p:sp>
        <p:nvSpPr>
          <p:cNvPr id="40" name="Shape 31"/>
          <p:cNvSpPr/>
          <p:nvPr/>
        </p:nvSpPr>
        <p:spPr>
          <a:xfrm>
            <a:off x="4023360" y="4059936"/>
            <a:ext cx="489204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Text 32"/>
          <p:cNvSpPr/>
          <p:nvPr/>
        </p:nvSpPr>
        <p:spPr>
          <a:xfrm>
            <a:off x="4206240" y="41513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 Documentation Reviewer</a:t>
            </a:r>
            <a:endParaRPr lang="en-US" sz="1300" dirty="0"/>
          </a:p>
        </p:txBody>
      </p:sp>
      <p:sp>
        <p:nvSpPr>
          <p:cNvPr id="42" name="Text 33"/>
          <p:cNvSpPr/>
          <p:nvPr/>
        </p:nvSpPr>
        <p:spPr>
          <a:xfrm>
            <a:off x="4206240" y="4443984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A3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every docs PR for accuracy, completeness, and style. Leaves inline suggestions using GitHub review comments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449"/>
          </a:solidFill>
          <a:ln w="12700">
            <a:solidFill>
              <a:srgbClr val="1A34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Integration  —  Connected to the Foundry Ecosystem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3977640"/>
          </a:xfrm>
          <a:prstGeom prst="rect">
            <a:avLst/>
          </a:prstGeom>
          <a:solidFill>
            <a:srgbClr val="1A3449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960120"/>
            <a:ext cx="502920" cy="502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91440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microsoft-foundry/discussions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1078992" y="1243584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Cross-repo dispatch integration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438912" y="1572768"/>
            <a:ext cx="3877056" cy="27432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75488" y="16916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Listens for new discussions via repository_dispatch events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75488" y="21488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Responds automatically to questions about Foundry docs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475488" y="2606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Routes complex queries to the right documentation section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475488" y="30632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/check-discussions slash command for manual sweeps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75488" y="35204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Discussion Feedback Responder handles in-thread replies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709160" y="822960"/>
            <a:ext cx="4206240" cy="3977640"/>
          </a:xfrm>
          <a:prstGeom prst="rect">
            <a:avLst/>
          </a:prstGeom>
          <a:solidFill>
            <a:srgbClr val="1A3449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pic>
        <p:nvPicPr>
          <p:cNvPr id="15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960120"/>
            <a:ext cx="502920" cy="502920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5513832" y="914400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foundry-samples monitoring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513832" y="1243584"/>
            <a:ext cx="3246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00A8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sample repo integration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4873752" y="1572768"/>
            <a:ext cx="3877056" cy="27432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910328" y="16916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Monitors azure-ai-samples for new Foundry code examples</a:t>
            </a:r>
            <a:endParaRPr lang="en-US" sz="1100" dirty="0"/>
          </a:p>
        </p:txBody>
      </p:sp>
      <p:sp>
        <p:nvSpPr>
          <p:cNvPr id="20" name="Text 16"/>
          <p:cNvSpPr/>
          <p:nvPr/>
        </p:nvSpPr>
        <p:spPr>
          <a:xfrm>
            <a:off x="4910328" y="21488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Detects when new samples lack corresponding documentation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910328" y="26060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Auto-creates tracking issues for undocumented samples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4910328" y="30632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Links code examples to relevant MDX pages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4910328" y="3520440"/>
            <a:ext cx="38404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 Ensures docs coverage stays aligned with code samples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9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SDK Release Monitoring  —  4 Repos Tracked Continuously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42062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274320" y="822960"/>
            <a:ext cx="54864" cy="196596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05840"/>
            <a:ext cx="475488" cy="47548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060704" y="9875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Python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38912" y="153619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azure-sdk-for-python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438912" y="17830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Package: azure-ai-projects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38912" y="2148840"/>
            <a:ext cx="1207008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38912" y="21488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detection</a:t>
            </a:r>
            <a:endParaRPr lang="en-US" sz="800" dirty="0"/>
          </a:p>
        </p:txBody>
      </p:sp>
      <p:sp>
        <p:nvSpPr>
          <p:cNvPr id="12" name="Shape 9"/>
          <p:cNvSpPr/>
          <p:nvPr/>
        </p:nvSpPr>
        <p:spPr>
          <a:xfrm>
            <a:off x="1700784" y="2148840"/>
            <a:ext cx="1207008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700784" y="21488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impact assessment</a:t>
            </a:r>
            <a:endParaRPr lang="en-US" sz="800" dirty="0"/>
          </a:p>
        </p:txBody>
      </p:sp>
      <p:sp>
        <p:nvSpPr>
          <p:cNvPr id="14" name="Shape 11"/>
          <p:cNvSpPr/>
          <p:nvPr/>
        </p:nvSpPr>
        <p:spPr>
          <a:xfrm>
            <a:off x="2962656" y="2148840"/>
            <a:ext cx="1207008" cy="256032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2962656" y="21488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Auto-issue creation</a:t>
            </a:r>
            <a:endParaRPr lang="en-US" sz="800" dirty="0"/>
          </a:p>
        </p:txBody>
      </p:sp>
      <p:sp>
        <p:nvSpPr>
          <p:cNvPr id="16" name="Shape 13"/>
          <p:cNvSpPr/>
          <p:nvPr/>
        </p:nvSpPr>
        <p:spPr>
          <a:xfrm>
            <a:off x="4709160" y="822960"/>
            <a:ext cx="42062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709160" y="822960"/>
            <a:ext cx="54864" cy="196596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005840"/>
            <a:ext cx="475488" cy="475488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5495544" y="98755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JavaScript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4873752" y="153619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azure-sdk-for-js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4873752" y="178308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Package: @azure/ai-projects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4873752" y="2148840"/>
            <a:ext cx="1207008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873752" y="21488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detection</a:t>
            </a:r>
            <a:endParaRPr lang="en-US" sz="800" dirty="0"/>
          </a:p>
        </p:txBody>
      </p:sp>
      <p:sp>
        <p:nvSpPr>
          <p:cNvPr id="24" name="Shape 20"/>
          <p:cNvSpPr/>
          <p:nvPr/>
        </p:nvSpPr>
        <p:spPr>
          <a:xfrm>
            <a:off x="6135624" y="2148840"/>
            <a:ext cx="1207008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135624" y="21488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impact assessment</a:t>
            </a:r>
            <a:endParaRPr lang="en-US" sz="800" dirty="0"/>
          </a:p>
        </p:txBody>
      </p:sp>
      <p:sp>
        <p:nvSpPr>
          <p:cNvPr id="26" name="Shape 22"/>
          <p:cNvSpPr/>
          <p:nvPr/>
        </p:nvSpPr>
        <p:spPr>
          <a:xfrm>
            <a:off x="7397496" y="2148840"/>
            <a:ext cx="1207008" cy="256032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397496" y="214884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Auto-issue creation</a:t>
            </a:r>
            <a:endParaRPr lang="en-US" sz="800" dirty="0"/>
          </a:p>
        </p:txBody>
      </p:sp>
      <p:sp>
        <p:nvSpPr>
          <p:cNvPr id="28" name="Shape 24"/>
          <p:cNvSpPr/>
          <p:nvPr/>
        </p:nvSpPr>
        <p:spPr>
          <a:xfrm>
            <a:off x="274320" y="2971800"/>
            <a:ext cx="42062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5"/>
          <p:cNvSpPr/>
          <p:nvPr/>
        </p:nvSpPr>
        <p:spPr>
          <a:xfrm>
            <a:off x="274320" y="2971800"/>
            <a:ext cx="54864" cy="1965960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pic>
        <p:nvPicPr>
          <p:cNvPr id="3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3154680"/>
            <a:ext cx="475488" cy="47548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1060704" y="313639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.NET / C#</a:t>
            </a:r>
            <a:endParaRPr lang="en-US" sz="1600" dirty="0"/>
          </a:p>
        </p:txBody>
      </p:sp>
      <p:sp>
        <p:nvSpPr>
          <p:cNvPr id="32" name="Text 27"/>
          <p:cNvSpPr/>
          <p:nvPr/>
        </p:nvSpPr>
        <p:spPr>
          <a:xfrm>
            <a:off x="438912" y="36850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azure-sdk-for-net</a:t>
            </a:r>
            <a:endParaRPr lang="en-US" sz="1100" dirty="0"/>
          </a:p>
        </p:txBody>
      </p:sp>
      <p:sp>
        <p:nvSpPr>
          <p:cNvPr id="33" name="Text 28"/>
          <p:cNvSpPr/>
          <p:nvPr/>
        </p:nvSpPr>
        <p:spPr>
          <a:xfrm>
            <a:off x="438912" y="39319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Package: Azure.AI.Projects</a:t>
            </a:r>
            <a:endParaRPr lang="en-US" sz="1100" dirty="0"/>
          </a:p>
        </p:txBody>
      </p:sp>
      <p:sp>
        <p:nvSpPr>
          <p:cNvPr id="34" name="Shape 29"/>
          <p:cNvSpPr/>
          <p:nvPr/>
        </p:nvSpPr>
        <p:spPr>
          <a:xfrm>
            <a:off x="438912" y="4297680"/>
            <a:ext cx="1207008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438912" y="42976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detection</a:t>
            </a:r>
            <a:endParaRPr lang="en-US" sz="800" dirty="0"/>
          </a:p>
        </p:txBody>
      </p:sp>
      <p:sp>
        <p:nvSpPr>
          <p:cNvPr id="36" name="Shape 31"/>
          <p:cNvSpPr/>
          <p:nvPr/>
        </p:nvSpPr>
        <p:spPr>
          <a:xfrm>
            <a:off x="1700784" y="4297680"/>
            <a:ext cx="1207008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7" name="Text 32"/>
          <p:cNvSpPr/>
          <p:nvPr/>
        </p:nvSpPr>
        <p:spPr>
          <a:xfrm>
            <a:off x="1700784" y="42976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impact assessment</a:t>
            </a:r>
            <a:endParaRPr lang="en-US" sz="800" dirty="0"/>
          </a:p>
        </p:txBody>
      </p:sp>
      <p:sp>
        <p:nvSpPr>
          <p:cNvPr id="38" name="Shape 33"/>
          <p:cNvSpPr/>
          <p:nvPr/>
        </p:nvSpPr>
        <p:spPr>
          <a:xfrm>
            <a:off x="2962656" y="4297680"/>
            <a:ext cx="1207008" cy="256032"/>
          </a:xfrm>
          <a:prstGeom prst="rect">
            <a:avLst/>
          </a:prstGeom>
          <a:solidFill>
            <a:srgbClr val="02C39A"/>
          </a:solidFill>
          <a:ln w="12700">
            <a:solidFill>
              <a:srgbClr val="02C39A"/>
            </a:solidFill>
            <a:prstDash val="solid"/>
          </a:ln>
        </p:spPr>
      </p:sp>
      <p:sp>
        <p:nvSpPr>
          <p:cNvPr id="39" name="Text 34"/>
          <p:cNvSpPr/>
          <p:nvPr/>
        </p:nvSpPr>
        <p:spPr>
          <a:xfrm>
            <a:off x="2962656" y="42976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Auto-issue creation</a:t>
            </a:r>
            <a:endParaRPr lang="en-US" sz="800" dirty="0"/>
          </a:p>
        </p:txBody>
      </p:sp>
      <p:sp>
        <p:nvSpPr>
          <p:cNvPr id="40" name="Shape 35"/>
          <p:cNvSpPr/>
          <p:nvPr/>
        </p:nvSpPr>
        <p:spPr>
          <a:xfrm>
            <a:off x="4709160" y="2971800"/>
            <a:ext cx="4206240" cy="1965960"/>
          </a:xfrm>
          <a:prstGeom prst="rect">
            <a:avLst/>
          </a:prstGeom>
          <a:solidFill>
            <a:srgbClr val="FFFFFF"/>
          </a:solidFill>
          <a:ln w="9525">
            <a:solidFill>
              <a:srgbClr val="D4E8EE"/>
            </a:solidFill>
            <a:prstDash val="solid"/>
          </a:ln>
          <a:effectLst>
            <a:outerShdw sx="100000" sy="100000" kx="0" ky="0" algn="bl" rotWithShape="0" blurRad="762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6"/>
          <p:cNvSpPr/>
          <p:nvPr/>
        </p:nvSpPr>
        <p:spPr>
          <a:xfrm>
            <a:off x="4709160" y="2971800"/>
            <a:ext cx="54864" cy="1965960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pic>
        <p:nvPicPr>
          <p:cNvPr id="4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92040" y="3154680"/>
            <a:ext cx="475488" cy="475488"/>
          </a:xfrm>
          <a:prstGeom prst="rect">
            <a:avLst/>
          </a:prstGeom>
        </p:spPr>
      </p:pic>
      <p:sp>
        <p:nvSpPr>
          <p:cNvPr id="43" name="Text 37"/>
          <p:cNvSpPr/>
          <p:nvPr/>
        </p:nvSpPr>
        <p:spPr>
          <a:xfrm>
            <a:off x="5495544" y="3136392"/>
            <a:ext cx="3246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A3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Java</a:t>
            </a:r>
            <a:endParaRPr lang="en-US" sz="1600" dirty="0"/>
          </a:p>
        </p:txBody>
      </p:sp>
      <p:sp>
        <p:nvSpPr>
          <p:cNvPr id="44" name="Text 38"/>
          <p:cNvSpPr/>
          <p:nvPr/>
        </p:nvSpPr>
        <p:spPr>
          <a:xfrm>
            <a:off x="4873752" y="36850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Repo: azure-sdk-for-java</a:t>
            </a:r>
            <a:endParaRPr lang="en-US" sz="1100" dirty="0"/>
          </a:p>
        </p:txBody>
      </p:sp>
      <p:sp>
        <p:nvSpPr>
          <p:cNvPr id="45" name="Text 39"/>
          <p:cNvSpPr/>
          <p:nvPr/>
        </p:nvSpPr>
        <p:spPr>
          <a:xfrm>
            <a:off x="4873752" y="393192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Package: azure-ai-projects</a:t>
            </a:r>
            <a:endParaRPr lang="en-US" sz="1100" dirty="0"/>
          </a:p>
        </p:txBody>
      </p:sp>
      <p:sp>
        <p:nvSpPr>
          <p:cNvPr id="46" name="Shape 40"/>
          <p:cNvSpPr/>
          <p:nvPr/>
        </p:nvSpPr>
        <p:spPr>
          <a:xfrm>
            <a:off x="4873752" y="4297680"/>
            <a:ext cx="1207008" cy="2560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47" name="Text 41"/>
          <p:cNvSpPr/>
          <p:nvPr/>
        </p:nvSpPr>
        <p:spPr>
          <a:xfrm>
            <a:off x="4873752" y="42976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Changelog detection</a:t>
            </a:r>
            <a:endParaRPr lang="en-US" sz="800" dirty="0"/>
          </a:p>
        </p:txBody>
      </p:sp>
      <p:sp>
        <p:nvSpPr>
          <p:cNvPr id="48" name="Shape 42"/>
          <p:cNvSpPr/>
          <p:nvPr/>
        </p:nvSpPr>
        <p:spPr>
          <a:xfrm>
            <a:off x="6135624" y="4297680"/>
            <a:ext cx="1207008" cy="2560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49" name="Text 43"/>
          <p:cNvSpPr/>
          <p:nvPr/>
        </p:nvSpPr>
        <p:spPr>
          <a:xfrm>
            <a:off x="6135624" y="42976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 impact assessment</a:t>
            </a:r>
            <a:endParaRPr lang="en-US" sz="800" dirty="0"/>
          </a:p>
        </p:txBody>
      </p:sp>
      <p:sp>
        <p:nvSpPr>
          <p:cNvPr id="50" name="Shape 44"/>
          <p:cNvSpPr/>
          <p:nvPr/>
        </p:nvSpPr>
        <p:spPr>
          <a:xfrm>
            <a:off x="7397496" y="4297680"/>
            <a:ext cx="1207008" cy="256032"/>
          </a:xfrm>
          <a:prstGeom prst="rect">
            <a:avLst/>
          </a:prstGeom>
          <a:solidFill>
            <a:srgbClr val="F0A500"/>
          </a:solidFill>
          <a:ln w="12700">
            <a:solidFill>
              <a:srgbClr val="F0A500"/>
            </a:solidFill>
            <a:prstDash val="solid"/>
          </a:ln>
        </p:spPr>
      </p:sp>
      <p:sp>
        <p:nvSpPr>
          <p:cNvPr id="51" name="Text 45"/>
          <p:cNvSpPr/>
          <p:nvPr/>
        </p:nvSpPr>
        <p:spPr>
          <a:xfrm>
            <a:off x="7397496" y="4297680"/>
            <a:ext cx="1207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Auto-issue creation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3449"/>
          </a:solidFill>
          <a:ln w="12700">
            <a:solidFill>
              <a:srgbClr val="1A3449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Metrics  —  Live Numbers from the Repository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633472" cy="1719072"/>
          </a:xfrm>
          <a:prstGeom prst="rect">
            <a:avLst/>
          </a:prstGeom>
          <a:solidFill>
            <a:srgbClr val="1A3449"/>
          </a:solidFill>
          <a:ln w="19050">
            <a:solidFill>
              <a:srgbClr val="028090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49424" y="941832"/>
            <a:ext cx="475488" cy="47548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38912" y="96926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267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438912" y="185623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MDX Documentation Pages</a:t>
            </a:r>
            <a:endParaRPr lang="en-US" sz="1200" dirty="0"/>
          </a:p>
        </p:txBody>
      </p:sp>
      <p:sp>
        <p:nvSpPr>
          <p:cNvPr id="8" name="Shape 5"/>
          <p:cNvSpPr/>
          <p:nvPr/>
        </p:nvSpPr>
        <p:spPr>
          <a:xfrm>
            <a:off x="3090672" y="804672"/>
            <a:ext cx="2633472" cy="1719072"/>
          </a:xfrm>
          <a:prstGeom prst="rect">
            <a:avLst/>
          </a:prstGeom>
          <a:solidFill>
            <a:srgbClr val="1A3449"/>
          </a:solidFill>
          <a:ln w="19050">
            <a:solidFill>
              <a:srgbClr val="00A896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5776" y="941832"/>
            <a:ext cx="475488" cy="47548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255264" y="96926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25</a:t>
            </a:r>
            <a:endParaRPr lang="en-US" sz="5200" dirty="0"/>
          </a:p>
        </p:txBody>
      </p:sp>
      <p:sp>
        <p:nvSpPr>
          <p:cNvPr id="11" name="Text 7"/>
          <p:cNvSpPr/>
          <p:nvPr/>
        </p:nvSpPr>
        <p:spPr>
          <a:xfrm>
            <a:off x="3255264" y="185623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GitHub Workflows</a:t>
            </a:r>
            <a:endParaRPr lang="en-US" sz="1200" dirty="0"/>
          </a:p>
        </p:txBody>
      </p:sp>
      <p:sp>
        <p:nvSpPr>
          <p:cNvPr id="12" name="Shape 8"/>
          <p:cNvSpPr/>
          <p:nvPr/>
        </p:nvSpPr>
        <p:spPr>
          <a:xfrm>
            <a:off x="5907024" y="804672"/>
            <a:ext cx="2633472" cy="1719072"/>
          </a:xfrm>
          <a:prstGeom prst="rect">
            <a:avLst/>
          </a:prstGeom>
          <a:solidFill>
            <a:srgbClr val="1A3449"/>
          </a:solidFill>
          <a:ln w="19050">
            <a:solidFill>
              <a:srgbClr val="02C39A"/>
            </a:solidFill>
            <a:prstDash val="solid"/>
          </a:ln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941832"/>
            <a:ext cx="475488" cy="47548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071616" y="96926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2C39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5</a:t>
            </a:r>
            <a:endParaRPr lang="en-US" sz="5200" dirty="0"/>
          </a:p>
        </p:txBody>
      </p:sp>
      <p:sp>
        <p:nvSpPr>
          <p:cNvPr id="15" name="Text 10"/>
          <p:cNvSpPr/>
          <p:nvPr/>
        </p:nvSpPr>
        <p:spPr>
          <a:xfrm>
            <a:off x="6071616" y="185623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Slash Command Triggers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274320" y="2724912"/>
            <a:ext cx="2633472" cy="1719072"/>
          </a:xfrm>
          <a:prstGeom prst="rect">
            <a:avLst/>
          </a:prstGeom>
          <a:solidFill>
            <a:srgbClr val="1A3449"/>
          </a:solidFill>
          <a:ln w="19050">
            <a:solidFill>
              <a:srgbClr val="F0A500"/>
            </a:solidFill>
            <a:prstDash val="solid"/>
          </a:ln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49424" y="2862072"/>
            <a:ext cx="475488" cy="47548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438912" y="2889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F0A50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12</a:t>
            </a:r>
            <a:endParaRPr lang="en-US" sz="5200" dirty="0"/>
          </a:p>
        </p:txBody>
      </p:sp>
      <p:sp>
        <p:nvSpPr>
          <p:cNvPr id="19" name="Text 13"/>
          <p:cNvSpPr/>
          <p:nvPr/>
        </p:nvSpPr>
        <p:spPr>
          <a:xfrm>
            <a:off x="438912" y="37764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Chained workflow_run Events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3090672" y="2724912"/>
            <a:ext cx="2633472" cy="1719072"/>
          </a:xfrm>
          <a:prstGeom prst="rect">
            <a:avLst/>
          </a:prstGeom>
          <a:solidFill>
            <a:srgbClr val="1A3449"/>
          </a:solidFill>
          <a:ln w="19050">
            <a:solidFill>
              <a:srgbClr val="028090"/>
            </a:solidFill>
            <a:prstDash val="solid"/>
          </a:ln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65776" y="2862072"/>
            <a:ext cx="475488" cy="47548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255264" y="2889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2809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15</a:t>
            </a:r>
            <a:endParaRPr lang="en-US" sz="5200" dirty="0"/>
          </a:p>
        </p:txBody>
      </p:sp>
      <p:sp>
        <p:nvSpPr>
          <p:cNvPr id="23" name="Text 16"/>
          <p:cNvSpPr/>
          <p:nvPr/>
        </p:nvSpPr>
        <p:spPr>
          <a:xfrm>
            <a:off x="3255264" y="37764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Cron Jobs</a:t>
            </a:r>
            <a:endParaRPr lang="en-US" sz="1200" dirty="0"/>
          </a:p>
        </p:txBody>
      </p:sp>
      <p:sp>
        <p:nvSpPr>
          <p:cNvPr id="24" name="Shape 17"/>
          <p:cNvSpPr/>
          <p:nvPr/>
        </p:nvSpPr>
        <p:spPr>
          <a:xfrm>
            <a:off x="5907024" y="2724912"/>
            <a:ext cx="2633472" cy="1719072"/>
          </a:xfrm>
          <a:prstGeom prst="rect">
            <a:avLst/>
          </a:prstGeom>
          <a:solidFill>
            <a:srgbClr val="1A3449"/>
          </a:solidFill>
          <a:ln w="19050">
            <a:solidFill>
              <a:srgbClr val="00A896"/>
            </a:solidFill>
            <a:prstDash val="solid"/>
          </a:ln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82128" y="2862072"/>
            <a:ext cx="475488" cy="47548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071616" y="2889504"/>
            <a:ext cx="2286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200" b="1" dirty="0">
                <a:solidFill>
                  <a:srgbClr val="00A89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4</a:t>
            </a:r>
            <a:endParaRPr lang="en-US" sz="5200" dirty="0"/>
          </a:p>
        </p:txBody>
      </p:sp>
      <p:sp>
        <p:nvSpPr>
          <p:cNvPr id="27" name="Text 19"/>
          <p:cNvSpPr/>
          <p:nvPr/>
        </p:nvSpPr>
        <p:spPr>
          <a:xfrm>
            <a:off x="6071616" y="377647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SDK Repos Monitored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1F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926080"/>
            <a:ext cx="5029200" cy="5029200"/>
          </a:xfrm>
          <a:prstGeom prst="ellipse">
            <a:avLst/>
          </a:prstGeom>
          <a:solidFill>
            <a:srgbClr val="028090">
              <a:alpha val="12000"/>
            </a:srgbClr>
          </a:solidFill>
          <a:ln w="12700">
            <a:solidFill>
              <a:srgbClr val="028090">
                <a:alpha val="12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0" y="-1371600"/>
            <a:ext cx="4114800" cy="4114800"/>
          </a:xfrm>
          <a:prstGeom prst="ellipse">
            <a:avLst/>
          </a:prstGeom>
          <a:solidFill>
            <a:srgbClr val="02C39A">
              <a:alpha val="10000"/>
            </a:srgbClr>
          </a:solidFill>
          <a:ln w="12700">
            <a:solidFill>
              <a:srgbClr val="02C39A">
                <a:alpha val="10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0"/>
            <a:ext cx="85039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What's Next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365760" y="822960"/>
            <a:ext cx="8412480" cy="73152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65760" y="822960"/>
            <a:ext cx="457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005840"/>
            <a:ext cx="347472" cy="34747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051560" y="896112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Expanded Test Coverage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3703320" y="914400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semantic search quality tests, link-checker integration, and cross-browser rendering validation to the QA pipeline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3657600" y="987552"/>
            <a:ext cx="27432" cy="41148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365760" y="1636776"/>
            <a:ext cx="8412480" cy="731520"/>
          </a:xfrm>
          <a:prstGeom prst="rect">
            <a:avLst/>
          </a:prstGeom>
          <a:solidFill>
            <a:srgbClr val="1A3449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65760" y="1636776"/>
            <a:ext cx="45720" cy="7315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819656"/>
            <a:ext cx="347472" cy="34747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1051560" y="1709928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Multi-Repo Source Tracking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703320" y="1728216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 upstream monitoring to track additional MicrosoftDocs repositories beyond azure-ai-docs-pr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3657600" y="1801368"/>
            <a:ext cx="27432" cy="41148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365760" y="2450592"/>
            <a:ext cx="8412480" cy="73152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365760" y="2450592"/>
            <a:ext cx="457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2633472"/>
            <a:ext cx="347472" cy="347472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1051560" y="2523744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Deeper SDK Integration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3703320" y="2542032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Auto-generate API reference stubs from SDK changelogs and surface code diffs directly in documentation</a:t>
            </a:r>
            <a:endParaRPr lang="en-US" sz="1100" dirty="0"/>
          </a:p>
        </p:txBody>
      </p:sp>
      <p:sp>
        <p:nvSpPr>
          <p:cNvPr id="23" name="Shape 18"/>
          <p:cNvSpPr/>
          <p:nvPr/>
        </p:nvSpPr>
        <p:spPr>
          <a:xfrm>
            <a:off x="3657600" y="2615184"/>
            <a:ext cx="27432" cy="41148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24" name="Shape 19"/>
          <p:cNvSpPr/>
          <p:nvPr/>
        </p:nvSpPr>
        <p:spPr>
          <a:xfrm>
            <a:off x="365760" y="3264408"/>
            <a:ext cx="8412480" cy="731520"/>
          </a:xfrm>
          <a:prstGeom prst="rect">
            <a:avLst/>
          </a:prstGeom>
          <a:solidFill>
            <a:srgbClr val="1A3449"/>
          </a:solidFill>
          <a:ln w="12700">
            <a:solidFill>
              <a:srgbClr val="00A896"/>
            </a:solidFill>
            <a:prstDash val="solid"/>
          </a:ln>
        </p:spPr>
      </p:sp>
      <p:sp>
        <p:nvSpPr>
          <p:cNvPr id="25" name="Shape 20"/>
          <p:cNvSpPr/>
          <p:nvPr/>
        </p:nvSpPr>
        <p:spPr>
          <a:xfrm>
            <a:off x="365760" y="3264408"/>
            <a:ext cx="45720" cy="731520"/>
          </a:xfrm>
          <a:prstGeom prst="rect">
            <a:avLst/>
          </a:prstGeom>
          <a:solidFill>
            <a:srgbClr val="00A896"/>
          </a:solidFill>
          <a:ln w="12700">
            <a:solidFill>
              <a:srgbClr val="00A896"/>
            </a:solidFill>
            <a:prstDash val="solid"/>
          </a:ln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3447288"/>
            <a:ext cx="347472" cy="347472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1051560" y="333756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Docs Health Dashboard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3703320" y="3355848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live metrics dashboard tracking coverage gaps, staleness scores, and test pass rates over time</a:t>
            </a:r>
            <a:endParaRPr lang="en-US" sz="1100" dirty="0"/>
          </a:p>
        </p:txBody>
      </p:sp>
      <p:sp>
        <p:nvSpPr>
          <p:cNvPr id="29" name="Shape 23"/>
          <p:cNvSpPr/>
          <p:nvPr/>
        </p:nvSpPr>
        <p:spPr>
          <a:xfrm>
            <a:off x="3657600" y="3429000"/>
            <a:ext cx="27432" cy="41148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  <p:sp>
        <p:nvSpPr>
          <p:cNvPr id="30" name="Shape 24"/>
          <p:cNvSpPr/>
          <p:nvPr/>
        </p:nvSpPr>
        <p:spPr>
          <a:xfrm>
            <a:off x="365760" y="4078224"/>
            <a:ext cx="8412480" cy="731520"/>
          </a:xfrm>
          <a:prstGeom prst="rect">
            <a:avLst/>
          </a:prstGeom>
          <a:solidFill>
            <a:srgbClr val="1A3449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31" name="Shape 25"/>
          <p:cNvSpPr/>
          <p:nvPr/>
        </p:nvSpPr>
        <p:spPr>
          <a:xfrm>
            <a:off x="365760" y="4078224"/>
            <a:ext cx="45720" cy="731520"/>
          </a:xfrm>
          <a:prstGeom prst="rect">
            <a:avLst/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6928" y="4261104"/>
            <a:ext cx="347472" cy="347472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1051560" y="4151376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Community Q&amp;A Memory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3703320" y="4169664"/>
            <a:ext cx="4919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C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 resolved discussion answers as curated FAQ pages within the docs-vnext knowledge base</a:t>
            </a:r>
            <a:endParaRPr lang="en-US" sz="1100" dirty="0"/>
          </a:p>
        </p:txBody>
      </p:sp>
      <p:sp>
        <p:nvSpPr>
          <p:cNvPr id="35" name="Shape 28"/>
          <p:cNvSpPr/>
          <p:nvPr/>
        </p:nvSpPr>
        <p:spPr>
          <a:xfrm>
            <a:off x="3657600" y="4242816"/>
            <a:ext cx="27432" cy="411480"/>
          </a:xfrm>
          <a:prstGeom prst="rect">
            <a:avLst/>
          </a:prstGeom>
          <a:solidFill>
            <a:srgbClr val="2E4A62"/>
          </a:solidFill>
          <a:ln w="12700">
            <a:solidFill>
              <a:srgbClr val="2E4A62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Foundry-Docs: Agentic Documentation for Microsoft Foundry</dc:title>
  <dc:subject>PptxGenJS Presentation</dc:subject>
  <dc:creator>Foundry-Docs Agent</dc:creator>
  <cp:lastModifiedBy>Foundry-Docs Agent</cp:lastModifiedBy>
  <cp:revision>1</cp:revision>
  <dcterms:created xsi:type="dcterms:W3CDTF">2026-02-28T09:06:54Z</dcterms:created>
  <dcterms:modified xsi:type="dcterms:W3CDTF">2026-02-28T09:06:54Z</dcterms:modified>
</cp:coreProperties>
</file>