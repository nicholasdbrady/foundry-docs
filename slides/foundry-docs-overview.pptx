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1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2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000000"/>
                </a:solidFill>
                <a:latin typeface="Arial"/>
              </a:defRPr>
            </a:pPr>
            <a:r>
              <a:rPr sz="1300" b="0" i="0" u="none" strike="noStrike">
                <a:solidFill>
                  <a:srgbClr val="000000"/>
                </a:solidFill>
                <a:latin typeface="Arial"/>
              </a:rPr>
              <a:t>46 Merged PRs</a:t>
            </a:r>
          </a:p>
        </c:rich>
      </c:tx>
      <c:layout/>
      <c:overlay val="0"/>
    </c:title>
    <c:autoTitleDeleted val="0"/>
    <c:plotArea>
      <c:layout/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PR Authorship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E2E8F0"/>
              </a:solidFill>
              <a:effectLst/>
            </c:spPr>
          </c:dPt>
          <c:dPt>
            <c:idx val="1"/>
            <c:bubble3D val="0"/>
            <c:spPr>
              <a:solidFill>
                <a:srgbClr val="028090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1E293B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1E293B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Sheet1!$A$2:$A$3</c:f>
              <c:strCache>
                <c:ptCount val="2"/>
                <c:pt idx="0">
                  <c:v>Human (34)</c:v>
                </c:pt>
                <c:pt idx="1">
                  <c:v>Bot/Agent (12)</c:v>
                </c:pt>
              </c:strCache>
            </c:strRef>
          </c:cat>
          <c:val>
            <c:numRef>
              <c:f>Sheet1!$B$2:$B$3</c:f>
              <c:numCache>
                <c:ptCount val="2"/>
                <c:pt idx="0">
                  <c:v>34</c:v>
                </c:pt>
                <c:pt idx="1">
                  <c:v>12</c:v>
                </c:pt>
              </c:numCache>
            </c:numRef>
          </c:val>
        </c:ser>
        <c:firstSliceAng val="0"/>
      </c:pieChart>
      <c:spPr>
        <a:noFill/>
        <a:ln>
          <a:noFill/>
        </a:ln>
        <a:effectLst/>
      </c:spPr>
    </c:plotArea>
    <c:legend>
      <c:legendPos val="b"/>
      <c:overlay val="0"/>
    </c:legend>
    <c:plotVisOnly val="1"/>
    <c:dispBlanksAs val="span"/>
  </c:chart>
  <c:spPr>
    <a:solidFill>
      <a:srgbClr val="F0FAFB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r>
              <a:rPr sz="1200" b="0" i="0" u="none" strike="noStrike">
                <a:solidFill>
                  <a:srgbClr val="000000"/>
                </a:solidFill>
                <a:latin typeface="Arial"/>
              </a:rPr>
              <a:t>200 Evaluations · claude-sonnet-4.6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Average Score</c:v>
                </c:pt>
              </c:strCache>
            </c:strRef>
          </c:tx>
          <c:spPr>
            <a:solidFill>
              <a:srgbClr val="02809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E293B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028090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0A896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5A8A90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AAAAAA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docs/ (Control C)</c:v>
                  </c:pt>
                  <c:pt idx="1">
                    <c:v>docs-vnext
(Treatment)</c:v>
                  </c:pt>
                  <c:pt idx="2">
                    <c:v>MS Learn
(Control A)</c:v>
                  </c:pt>
                  <c:pt idx="3">
                    <c:v>Mintlify MCP
(Control B)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0.927</c:v>
                </c:pt>
                <c:pt idx="1">
                  <c:v>0.921</c:v>
                </c:pt>
                <c:pt idx="2">
                  <c:v>0.921</c:v>
                </c:pt>
                <c:pt idx="3">
                  <c:v>0.921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1E293B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95"/>
          <c:min val="0.88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11F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64592" y="0"/>
            <a:ext cx="8979408" cy="54864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822960"/>
            <a:ext cx="822960" cy="82296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11480" y="1737360"/>
            <a:ext cx="8412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Foundry-Docs</a:t>
            </a:r>
            <a:endParaRPr lang="en-US" sz="4400" dirty="0"/>
          </a:p>
        </p:txBody>
      </p:sp>
      <p:sp>
        <p:nvSpPr>
          <p:cNvPr id="6" name="Text 3"/>
          <p:cNvSpPr/>
          <p:nvPr/>
        </p:nvSpPr>
        <p:spPr>
          <a:xfrm>
            <a:off x="411480" y="251460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Agentic Documentation for Microsoft Foundry</a:t>
            </a:r>
            <a:endParaRPr lang="en-US" sz="2000" dirty="0"/>
          </a:p>
        </p:txBody>
      </p:sp>
      <p:sp>
        <p:nvSpPr>
          <p:cNvPr id="7" name="Shape 4"/>
          <p:cNvSpPr/>
          <p:nvPr/>
        </p:nvSpPr>
        <p:spPr>
          <a:xfrm>
            <a:off x="411480" y="3090672"/>
            <a:ext cx="3200400" cy="36576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411480" y="324612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8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280 docs  ·  33 agentic workflows  ·  46 merged PRs  ·  200 eval queries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6400800" y="4663440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A8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May 2026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0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73152"/>
            <a:ext cx="84124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Foundry-Docs?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274320" y="822960"/>
            <a:ext cx="4297680" cy="356616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960120"/>
            <a:ext cx="457200" cy="4572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051560" y="96012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136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FastMCP Server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411480" y="1508760"/>
            <a:ext cx="402336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FastMCP server serving Microsoft Foundry documentation as searchable, agent-accessible MDX content.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content variants: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docs/  — canonical upstream mirror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docs-vnext/  — agent-improved derivative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 backends: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TF-IDF (always available)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AI Search — keyword + vector + semantic reranking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4846320" y="822960"/>
            <a:ext cx="4023360" cy="356616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74920" y="960120"/>
            <a:ext cx="457200" cy="45720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5623560" y="96012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136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Agentic Approach</a:t>
            </a:r>
            <a:endParaRPr lang="en-US" sz="1600" dirty="0"/>
          </a:p>
        </p:txBody>
      </p:sp>
      <p:sp>
        <p:nvSpPr>
          <p:cNvPr id="11" name="Text 7"/>
          <p:cNvSpPr/>
          <p:nvPr/>
        </p:nvSpPr>
        <p:spPr>
          <a:xfrm>
            <a:off x="4983480" y="1508760"/>
            <a:ext cx="374904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Documentation is maintained and improved by a fleet of 33 agentic GitHub Actions workflows.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monitor, sync, audit, and improve docs autonomously — creating PRs, filing issues, and running evaluations with minimal human intervention.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of 46 merged PRs were authored by agents.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136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11F24"/>
          </a:solidFill>
          <a:ln w="12700">
            <a:solidFill>
              <a:srgbClr val="011F2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73152"/>
            <a:ext cx="84124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274320" y="1005840"/>
            <a:ext cx="1371600" cy="2377440"/>
          </a:xfrm>
          <a:prstGeom prst="rect">
            <a:avLst/>
          </a:prstGeom>
          <a:solidFill>
            <a:srgbClr val="01434D"/>
          </a:solidFill>
          <a:ln w="6350">
            <a:solidFill>
              <a:srgbClr val="00A89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4380" y="1188720"/>
            <a:ext cx="411480" cy="41148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274320" y="1691640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Upstream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274320" y="2286000"/>
            <a:ext cx="1371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0C4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Detects commits in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A0C4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MicrosoftDocs/azure-ai-docs-pr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1700784" y="2194560"/>
            <a:ext cx="324612" cy="0"/>
          </a:xfrm>
          <a:prstGeom prst="line">
            <a:avLst/>
          </a:prstGeom>
          <a:noFill/>
          <a:ln w="19050">
            <a:solidFill>
              <a:srgbClr val="00A896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2080260" y="1005840"/>
            <a:ext cx="1371600" cy="2377440"/>
          </a:xfrm>
          <a:prstGeom prst="rect">
            <a:avLst/>
          </a:prstGeom>
          <a:solidFill>
            <a:srgbClr val="01434D"/>
          </a:solidFill>
          <a:ln w="6350">
            <a:solidFill>
              <a:srgbClr val="00A89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0" y="1188720"/>
            <a:ext cx="411480" cy="41148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2080260" y="1691640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Sync &amp;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Convert</a:t>
            </a:r>
            <a:endParaRPr lang="en-US" sz="1300" dirty="0"/>
          </a:p>
        </p:txBody>
      </p:sp>
      <p:sp>
        <p:nvSpPr>
          <p:cNvPr id="12" name="Text 8"/>
          <p:cNvSpPr/>
          <p:nvPr/>
        </p:nvSpPr>
        <p:spPr>
          <a:xfrm>
            <a:off x="2080260" y="2286000"/>
            <a:ext cx="1371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0C4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MS Learn markdown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A0C4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Mintlify MDX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3506724" y="2194560"/>
            <a:ext cx="324612" cy="0"/>
          </a:xfrm>
          <a:prstGeom prst="line">
            <a:avLst/>
          </a:prstGeom>
          <a:noFill/>
          <a:ln w="19050">
            <a:solidFill>
              <a:srgbClr val="00A896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3886200" y="1005840"/>
            <a:ext cx="1371600" cy="2377440"/>
          </a:xfrm>
          <a:prstGeom prst="rect">
            <a:avLst/>
          </a:prstGeom>
          <a:solidFill>
            <a:srgbClr val="01434D"/>
          </a:solidFill>
          <a:ln w="6350">
            <a:solidFill>
              <a:srgbClr val="00A89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66260" y="1188720"/>
            <a:ext cx="411480" cy="411480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3886200" y="1691640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Post-Sync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Updater</a:t>
            </a:r>
            <a:endParaRPr lang="en-US" sz="1300" dirty="0"/>
          </a:p>
        </p:txBody>
      </p:sp>
      <p:sp>
        <p:nvSpPr>
          <p:cNvPr id="17" name="Text 12"/>
          <p:cNvSpPr/>
          <p:nvPr/>
        </p:nvSpPr>
        <p:spPr>
          <a:xfrm>
            <a:off x="3886200" y="2286000"/>
            <a:ext cx="1371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0C4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Analyzes changes,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A0C4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creates docs-vnext PRs</a:t>
            </a:r>
            <a:endParaRPr lang="en-US" sz="1000" dirty="0"/>
          </a:p>
        </p:txBody>
      </p:sp>
      <p:sp>
        <p:nvSpPr>
          <p:cNvPr id="18" name="Shape 13"/>
          <p:cNvSpPr/>
          <p:nvPr/>
        </p:nvSpPr>
        <p:spPr>
          <a:xfrm>
            <a:off x="5312664" y="2194560"/>
            <a:ext cx="324612" cy="0"/>
          </a:xfrm>
          <a:prstGeom prst="line">
            <a:avLst/>
          </a:prstGeom>
          <a:noFill/>
          <a:ln w="19050">
            <a:solidFill>
              <a:srgbClr val="00A896"/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5692140" y="1005840"/>
            <a:ext cx="1371600" cy="2377440"/>
          </a:xfrm>
          <a:prstGeom prst="rect">
            <a:avLst/>
          </a:prstGeom>
          <a:solidFill>
            <a:srgbClr val="01434D"/>
          </a:solidFill>
          <a:ln w="6350">
            <a:solidFill>
              <a:srgbClr val="00A89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72200" y="1188720"/>
            <a:ext cx="411480" cy="411480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5692140" y="1691640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Index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Sync</a:t>
            </a:r>
            <a:endParaRPr lang="en-US" sz="1300" dirty="0"/>
          </a:p>
        </p:txBody>
      </p:sp>
      <p:sp>
        <p:nvSpPr>
          <p:cNvPr id="22" name="Text 16"/>
          <p:cNvSpPr/>
          <p:nvPr/>
        </p:nvSpPr>
        <p:spPr>
          <a:xfrm>
            <a:off x="5692140" y="2286000"/>
            <a:ext cx="1371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0C4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AI Search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A0C4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hybrid retrieval</a:t>
            </a:r>
            <a:endParaRPr lang="en-US" sz="1000" dirty="0"/>
          </a:p>
        </p:txBody>
      </p:sp>
      <p:sp>
        <p:nvSpPr>
          <p:cNvPr id="23" name="Shape 17"/>
          <p:cNvSpPr/>
          <p:nvPr/>
        </p:nvSpPr>
        <p:spPr>
          <a:xfrm>
            <a:off x="7118604" y="2194560"/>
            <a:ext cx="324612" cy="0"/>
          </a:xfrm>
          <a:prstGeom prst="line">
            <a:avLst/>
          </a:prstGeom>
          <a:noFill/>
          <a:ln w="19050">
            <a:solidFill>
              <a:srgbClr val="00A896"/>
            </a:solidFill>
            <a:prstDash val="solid"/>
          </a:ln>
        </p:spPr>
      </p:sp>
      <p:sp>
        <p:nvSpPr>
          <p:cNvPr id="24" name="Shape 18"/>
          <p:cNvSpPr/>
          <p:nvPr/>
        </p:nvSpPr>
        <p:spPr>
          <a:xfrm>
            <a:off x="7498080" y="1005840"/>
            <a:ext cx="1371600" cy="2377440"/>
          </a:xfrm>
          <a:prstGeom prst="rect">
            <a:avLst/>
          </a:prstGeom>
          <a:solidFill>
            <a:srgbClr val="01434D"/>
          </a:solidFill>
          <a:ln w="6350">
            <a:solidFill>
              <a:srgbClr val="00A89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pic>
        <p:nvPicPr>
          <p:cNvPr id="25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78140" y="1188720"/>
            <a:ext cx="411480" cy="411480"/>
          </a:xfrm>
          <a:prstGeom prst="rect">
            <a:avLst/>
          </a:prstGeom>
        </p:spPr>
      </p:pic>
      <p:sp>
        <p:nvSpPr>
          <p:cNvPr id="26" name="Text 19"/>
          <p:cNvSpPr/>
          <p:nvPr/>
        </p:nvSpPr>
        <p:spPr>
          <a:xfrm>
            <a:off x="7498080" y="1691640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Harness</a:t>
            </a:r>
            <a:endParaRPr lang="en-US" sz="1300" dirty="0"/>
          </a:p>
        </p:txBody>
      </p:sp>
      <p:sp>
        <p:nvSpPr>
          <p:cNvPr id="27" name="Text 20"/>
          <p:cNvSpPr/>
          <p:nvPr/>
        </p:nvSpPr>
        <p:spPr>
          <a:xfrm>
            <a:off x="7498080" y="2286000"/>
            <a:ext cx="1371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0C4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4-server × model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A0C4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quality gate</a:t>
            </a:r>
            <a:endParaRPr lang="en-US" sz="1000" dirty="0"/>
          </a:p>
        </p:txBody>
      </p:sp>
      <p:sp>
        <p:nvSpPr>
          <p:cNvPr id="28" name="Shape 21"/>
          <p:cNvSpPr/>
          <p:nvPr/>
        </p:nvSpPr>
        <p:spPr>
          <a:xfrm>
            <a:off x="274320" y="3611880"/>
            <a:ext cx="3840480" cy="457200"/>
          </a:xfrm>
          <a:prstGeom prst="rect">
            <a:avLst/>
          </a:prstGeom>
          <a:solidFill>
            <a:srgbClr val="01434D"/>
          </a:solidFill>
          <a:ln w="6350">
            <a:solidFill>
              <a:srgbClr val="028090"/>
            </a:solidFill>
            <a:prstDash val="solid"/>
          </a:ln>
        </p:spPr>
      </p:sp>
      <p:sp>
        <p:nvSpPr>
          <p:cNvPr id="29" name="Text 22"/>
          <p:cNvSpPr/>
          <p:nvPr/>
        </p:nvSpPr>
        <p:spPr>
          <a:xfrm>
            <a:off x="365760" y="3639312"/>
            <a:ext cx="3657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docs/ — canonical upstream (280 MDX pages)</a:t>
            </a:r>
            <a:endParaRPr lang="en-US" sz="1200" dirty="0"/>
          </a:p>
        </p:txBody>
      </p:sp>
      <p:sp>
        <p:nvSpPr>
          <p:cNvPr id="30" name="Shape 23"/>
          <p:cNvSpPr/>
          <p:nvPr/>
        </p:nvSpPr>
        <p:spPr>
          <a:xfrm>
            <a:off x="5029200" y="3611880"/>
            <a:ext cx="3840480" cy="457200"/>
          </a:xfrm>
          <a:prstGeom prst="rect">
            <a:avLst/>
          </a:prstGeom>
          <a:solidFill>
            <a:srgbClr val="01434D"/>
          </a:solidFill>
          <a:ln w="6350">
            <a:solidFill>
              <a:srgbClr val="02C39A"/>
            </a:solidFill>
            <a:prstDash val="solid"/>
          </a:ln>
        </p:spPr>
      </p:sp>
      <p:sp>
        <p:nvSpPr>
          <p:cNvPr id="31" name="Text 24"/>
          <p:cNvSpPr/>
          <p:nvPr/>
        </p:nvSpPr>
        <p:spPr>
          <a:xfrm>
            <a:off x="5120640" y="3639312"/>
            <a:ext cx="3657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docs-vnext/ — agent-improved (+14 unique pages)</a:t>
            </a:r>
            <a:endParaRPr lang="en-US" sz="1200" dirty="0"/>
          </a:p>
        </p:txBody>
      </p:sp>
      <p:sp>
        <p:nvSpPr>
          <p:cNvPr id="32" name="Text 25"/>
          <p:cNvSpPr/>
          <p:nvPr/>
        </p:nvSpPr>
        <p:spPr>
          <a:xfrm>
            <a:off x="365760" y="42519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A8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variants served via FastMCP  ·  TF-IDF local + Azure AI Search hybrid</a:t>
            </a:r>
            <a:endParaRPr lang="en-US" sz="1200" dirty="0"/>
          </a:p>
        </p:txBody>
      </p:sp>
      <p:sp>
        <p:nvSpPr>
          <p:cNvPr id="33" name="Shape 26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0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73152"/>
            <a:ext cx="84124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Documentation Coverage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274320" y="777240"/>
            <a:ext cx="2560320" cy="128016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274320" y="868680"/>
            <a:ext cx="2560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280</a:t>
            </a:r>
            <a:endParaRPr lang="en-US" sz="5200" dirty="0"/>
          </a:p>
        </p:txBody>
      </p:sp>
      <p:sp>
        <p:nvSpPr>
          <p:cNvPr id="6" name="Text 4"/>
          <p:cNvSpPr/>
          <p:nvPr/>
        </p:nvSpPr>
        <p:spPr>
          <a:xfrm>
            <a:off x="274320" y="1508760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CF0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MDX pages in docs-vnext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3108960" y="777240"/>
            <a:ext cx="2560320" cy="1280160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3108960" y="868680"/>
            <a:ext cx="2560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5200" dirty="0"/>
          </a:p>
        </p:txBody>
      </p:sp>
      <p:sp>
        <p:nvSpPr>
          <p:cNvPr id="9" name="Text 7"/>
          <p:cNvSpPr/>
          <p:nvPr/>
        </p:nvSpPr>
        <p:spPr>
          <a:xfrm>
            <a:off x="3108960" y="1508760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EEF9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agent-created unique pages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943600" y="777240"/>
            <a:ext cx="2926080" cy="1280160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943600" y="868680"/>
            <a:ext cx="2926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0136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266</a:t>
            </a:r>
            <a:endParaRPr lang="en-US" sz="5200" dirty="0"/>
          </a:p>
        </p:txBody>
      </p:sp>
      <p:sp>
        <p:nvSpPr>
          <p:cNvPr id="12" name="Text 10"/>
          <p:cNvSpPr/>
          <p:nvPr/>
        </p:nvSpPr>
        <p:spPr>
          <a:xfrm>
            <a:off x="5943600" y="150876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136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pages shared with docs/ baseline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274320" y="2350008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models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1417320" y="2331720"/>
            <a:ext cx="6080760" cy="237744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589520" y="2350008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73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274320" y="2660904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1417320" y="2642616"/>
            <a:ext cx="4997885" cy="237744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506645" y="266090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274320" y="2971800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observability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417320" y="2953512"/>
            <a:ext cx="1999154" cy="237744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507914" y="2971800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274320" y="3282696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1417320" y="3264408"/>
            <a:ext cx="1665962" cy="237744"/>
          </a:xfrm>
          <a:prstGeom prst="rect">
            <a:avLst/>
          </a:prstGeom>
          <a:solidFill>
            <a:srgbClr val="047A86"/>
          </a:solidFill>
          <a:ln w="12700">
            <a:solidFill>
              <a:srgbClr val="047A86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174722" y="3282696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274320" y="3593592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setup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1417320" y="3575304"/>
            <a:ext cx="1665962" cy="237744"/>
          </a:xfrm>
          <a:prstGeom prst="rect">
            <a:avLst/>
          </a:prstGeom>
          <a:solidFill>
            <a:srgbClr val="056A74"/>
          </a:solidFill>
          <a:ln w="12700">
            <a:solidFill>
              <a:srgbClr val="056A74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174722" y="359359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274320" y="3904488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guardrails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1417320" y="3886200"/>
            <a:ext cx="1249471" cy="237744"/>
          </a:xfrm>
          <a:prstGeom prst="rect">
            <a:avLst/>
          </a:prstGeom>
          <a:solidFill>
            <a:srgbClr val="5A8A90"/>
          </a:solidFill>
          <a:ln w="12700">
            <a:solidFill>
              <a:srgbClr val="5A8A9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758231" y="3904488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274320" y="4215384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api-sdk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417320" y="4197096"/>
            <a:ext cx="1416067" cy="237744"/>
          </a:xfrm>
          <a:prstGeom prst="rect">
            <a:avLst/>
          </a:prstGeom>
          <a:solidFill>
            <a:srgbClr val="035D68"/>
          </a:solidFill>
          <a:ln w="12700">
            <a:solidFill>
              <a:srgbClr val="035D6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2924827" y="421538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274320" y="4526280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dev-exp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417320" y="4507992"/>
            <a:ext cx="916279" cy="237744"/>
          </a:xfrm>
          <a:prstGeom prst="rect">
            <a:avLst/>
          </a:prstGeom>
          <a:solidFill>
            <a:srgbClr val="8BBFC4"/>
          </a:solidFill>
          <a:ln w="12700">
            <a:solidFill>
              <a:srgbClr val="8BBFC4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2425039" y="4526280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0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73152"/>
            <a:ext cx="84124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Agentic Workflows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274320" y="777240"/>
            <a:ext cx="2103120" cy="1371600"/>
          </a:xfrm>
          <a:prstGeom prst="rect">
            <a:avLst/>
          </a:prstGeom>
          <a:solidFill>
            <a:srgbClr val="01363D"/>
          </a:solidFill>
          <a:ln w="12700">
            <a:solidFill>
              <a:srgbClr val="01363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274320" y="82296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</a:t>
            </a:r>
            <a:endParaRPr lang="en-US" sz="6200" dirty="0"/>
          </a:p>
        </p:txBody>
      </p:sp>
      <p:sp>
        <p:nvSpPr>
          <p:cNvPr id="6" name="Text 4"/>
          <p:cNvSpPr/>
          <p:nvPr/>
        </p:nvSpPr>
        <p:spPr>
          <a:xfrm>
            <a:off x="274320" y="160020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agentic workflows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2651760" y="777240"/>
            <a:ext cx="1920240" cy="137160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2651760" y="822960"/>
            <a:ext cx="1920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6200" dirty="0"/>
          </a:p>
        </p:txBody>
      </p:sp>
      <p:sp>
        <p:nvSpPr>
          <p:cNvPr id="9" name="Text 7"/>
          <p:cNvSpPr/>
          <p:nvPr/>
        </p:nvSpPr>
        <p:spPr>
          <a:xfrm>
            <a:off x="2651760" y="1600200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CF0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workflow chains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846320" y="777240"/>
            <a:ext cx="1920240" cy="1371600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4846320" y="822960"/>
            <a:ext cx="1920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6200" dirty="0"/>
          </a:p>
        </p:txBody>
      </p:sp>
      <p:sp>
        <p:nvSpPr>
          <p:cNvPr id="12" name="Text 10"/>
          <p:cNvSpPr/>
          <p:nvPr/>
        </p:nvSpPr>
        <p:spPr>
          <a:xfrm>
            <a:off x="4846320" y="1600200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EEF9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bot-authored PRs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7040880" y="777240"/>
            <a:ext cx="1828800" cy="1371600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7040880" y="822960"/>
            <a:ext cx="1828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0" b="1" dirty="0">
                <a:solidFill>
                  <a:srgbClr val="0136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6200" dirty="0"/>
          </a:p>
        </p:txBody>
      </p:sp>
      <p:sp>
        <p:nvSpPr>
          <p:cNvPr id="15" name="Text 13"/>
          <p:cNvSpPr/>
          <p:nvPr/>
        </p:nvSpPr>
        <p:spPr>
          <a:xfrm>
            <a:off x="7040880" y="160020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136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SDK detections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274320" y="2331720"/>
            <a:ext cx="4114800" cy="105156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274320" y="2331720"/>
            <a:ext cx="73152" cy="105156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38912" y="2377440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136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Monitoring &amp; Detection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438912" y="2715768"/>
            <a:ext cx="384048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Upstream Docs Monitor · SDK Release Monitor · Community Discussions · Reddit Monitor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709160" y="2331720"/>
            <a:ext cx="4114800" cy="105156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4709160" y="2331720"/>
            <a:ext cx="73152" cy="1051560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873752" y="2377440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136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Content Maintenance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4873752" y="2715768"/>
            <a:ext cx="384048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Doc Updater · Glossary Maintainer · Docs Unbloat · Changelog Updater · Model Catalog Sync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274320" y="3520440"/>
            <a:ext cx="4114800" cy="105156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274320" y="3520440"/>
            <a:ext cx="73152" cy="1051560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38912" y="3566160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136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Quality &amp; Testing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438912" y="3904488"/>
            <a:ext cx="384048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Docs Auditor · Noob Tester · PR Reviewer · Post-Merge Verify · Search Testbench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4709160" y="3520440"/>
            <a:ext cx="4114800" cy="105156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4709160" y="3520440"/>
            <a:ext cx="73152" cy="1051560"/>
          </a:xfrm>
          <a:prstGeom prst="rect">
            <a:avLst/>
          </a:prstGeom>
          <a:solidFill>
            <a:srgbClr val="047A86"/>
          </a:solidFill>
          <a:ln w="12700">
            <a:solidFill>
              <a:srgbClr val="047A8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873752" y="3566160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136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Automation &amp; Ops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4873752" y="3904488"/>
            <a:ext cx="384048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Sync &amp; Convert · Post-Sync Updater · Index Sync · Label Dispatch · Slide Deck Maintainer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136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11F24"/>
          </a:solidFill>
          <a:ln w="12700">
            <a:solidFill>
              <a:srgbClr val="011F2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73152"/>
            <a:ext cx="84124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Trigger Coverage — Event-Driven Design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274320" y="822960"/>
            <a:ext cx="4206240" cy="868680"/>
          </a:xfrm>
          <a:prstGeom prst="rect">
            <a:avLst/>
          </a:prstGeom>
          <a:solidFill>
            <a:srgbClr val="01434D"/>
          </a:solidFill>
          <a:ln w="6350">
            <a:solidFill>
              <a:srgbClr val="00A89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84048" y="86868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schedule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3200400" y="868680"/>
            <a:ext cx="1188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4A2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workflows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384048" y="1207008"/>
            <a:ext cx="3931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0C4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Cron-based polling — upstream docs, SDK releases, community signals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846320" y="822960"/>
            <a:ext cx="4206240" cy="868680"/>
          </a:xfrm>
          <a:prstGeom prst="rect">
            <a:avLst/>
          </a:prstGeom>
          <a:solidFill>
            <a:srgbClr val="01434D"/>
          </a:solidFill>
          <a:ln w="6350">
            <a:solidFill>
              <a:srgbClr val="00A89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956048" y="86868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workflow_run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7772400" y="868680"/>
            <a:ext cx="1188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4A2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workflows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956048" y="1207008"/>
            <a:ext cx="3931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0C4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Chain reactions — post-sync, post-index, post-merge verification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274320" y="1847088"/>
            <a:ext cx="4206240" cy="868680"/>
          </a:xfrm>
          <a:prstGeom prst="rect">
            <a:avLst/>
          </a:prstGeom>
          <a:solidFill>
            <a:srgbClr val="01434D"/>
          </a:solidFill>
          <a:ln w="6350">
            <a:solidFill>
              <a:srgbClr val="00A89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84048" y="1892808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issue_comment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3200400" y="1892808"/>
            <a:ext cx="1188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4A2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33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84048" y="2231136"/>
            <a:ext cx="3931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0C4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Slash command dispatch — /audit, /noob-test, /unbloat, /update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846320" y="1847088"/>
            <a:ext cx="4206240" cy="868680"/>
          </a:xfrm>
          <a:prstGeom prst="rect">
            <a:avLst/>
          </a:prstGeom>
          <a:solidFill>
            <a:srgbClr val="01434D"/>
          </a:solidFill>
          <a:ln w="6350">
            <a:solidFill>
              <a:srgbClr val="00A89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956048" y="1892808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push (main)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7772400" y="1892808"/>
            <a:ext cx="1188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4A2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workflows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956048" y="2231136"/>
            <a:ext cx="3931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0C4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Automatic triggers — diff reports, index sync on docs changes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274320" y="2871216"/>
            <a:ext cx="4206240" cy="868680"/>
          </a:xfrm>
          <a:prstGeom prst="rect">
            <a:avLst/>
          </a:prstGeom>
          <a:solidFill>
            <a:srgbClr val="01434D"/>
          </a:solidFill>
          <a:ln w="6350">
            <a:solidFill>
              <a:srgbClr val="00A896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84048" y="2916936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pull_request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3200400" y="2916936"/>
            <a:ext cx="1188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4A2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workflows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384048" y="3255264"/>
            <a:ext cx="3931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0C4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 review, docs noob test, documentation verification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4846320" y="2871216"/>
            <a:ext cx="4206240" cy="868680"/>
          </a:xfrm>
          <a:prstGeom prst="rect">
            <a:avLst/>
          </a:prstGeom>
          <a:solidFill>
            <a:srgbClr val="01434D"/>
          </a:solidFill>
          <a:ln w="6350">
            <a:solidFill>
              <a:srgbClr val="00A896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956048" y="2916936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workflow_dispatch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7772400" y="2916936"/>
            <a:ext cx="1188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4A2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33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4956048" y="3255264"/>
            <a:ext cx="3931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0C4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 or API trigger — sync-and-convert, eval harness, slides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274320" y="3895344"/>
            <a:ext cx="4206240" cy="868680"/>
          </a:xfrm>
          <a:prstGeom prst="rect">
            <a:avLst/>
          </a:prstGeom>
          <a:solidFill>
            <a:srgbClr val="01434D"/>
          </a:solidFill>
          <a:ln w="6350">
            <a:solidFill>
              <a:srgbClr val="00A896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84048" y="3941064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repository_dispatch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3200400" y="3941064"/>
            <a:ext cx="1188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4A2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workflows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384048" y="4279392"/>
            <a:ext cx="3931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0C4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Cross-repo events — community discussions, upstream changes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4846320" y="3895344"/>
            <a:ext cx="4206240" cy="868680"/>
          </a:xfrm>
          <a:prstGeom prst="rect">
            <a:avLst/>
          </a:prstGeom>
          <a:solidFill>
            <a:srgbClr val="01434D"/>
          </a:solidFill>
          <a:ln w="6350">
            <a:solidFill>
              <a:srgbClr val="00A896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956048" y="3941064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issues (opened)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7772400" y="3941064"/>
            <a:ext cx="1188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4A2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workflow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4956048" y="4279392"/>
            <a:ext cx="3931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0C4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Auto-triage — label detection, automated responses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0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73152"/>
            <a:ext cx="84124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Quality Pipeline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274320" y="777240"/>
            <a:ext cx="2743200" cy="41148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274320" y="777240"/>
            <a:ext cx="2743200" cy="64008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868680"/>
            <a:ext cx="411480" cy="41148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68680" y="868680"/>
            <a:ext cx="2057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Docs Auditor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411480" y="1554480"/>
            <a:ext cx="2468880" cy="3108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Broken internal links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Missing frontmatter (title/description)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Invalid MDX syntax (bare HTML)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Mintlify component violations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Self-closing tag compliance (&lt;br /&gt;)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3200400" y="777240"/>
            <a:ext cx="2743200" cy="41148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3200400" y="777240"/>
            <a:ext cx="2743200" cy="640080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91840" y="868680"/>
            <a:ext cx="411480" cy="41148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3794760" y="868680"/>
            <a:ext cx="2057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Noob Tester</a:t>
            </a:r>
            <a:endParaRPr lang="en-US" sz="1400" dirty="0"/>
          </a:p>
        </p:txBody>
      </p:sp>
      <p:sp>
        <p:nvSpPr>
          <p:cNvPr id="13" name="Text 9"/>
          <p:cNvSpPr/>
          <p:nvPr/>
        </p:nvSpPr>
        <p:spPr>
          <a:xfrm>
            <a:off x="3337560" y="1554480"/>
            <a:ext cx="2468880" cy="3108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Simulates first-time developer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 3 viewport sizes (mobile / tablet / desktop)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Validates prerequisite completeness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Checks code example copy-paste viability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Flags unexplained jargon</a:t>
            </a:r>
            <a:endParaRPr lang="en-US" sz="1200" dirty="0"/>
          </a:p>
        </p:txBody>
      </p:sp>
      <p:sp>
        <p:nvSpPr>
          <p:cNvPr id="14" name="Shape 10"/>
          <p:cNvSpPr/>
          <p:nvPr/>
        </p:nvSpPr>
        <p:spPr>
          <a:xfrm>
            <a:off x="6126480" y="777240"/>
            <a:ext cx="2743200" cy="41148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6126480" y="777240"/>
            <a:ext cx="2743200" cy="640080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868680"/>
            <a:ext cx="411480" cy="411480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6720840" y="868680"/>
            <a:ext cx="2057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 Reviewer</a:t>
            </a:r>
            <a:endParaRPr lang="en-US" sz="1400" dirty="0"/>
          </a:p>
        </p:txBody>
      </p:sp>
      <p:sp>
        <p:nvSpPr>
          <p:cNvPr id="18" name="Text 13"/>
          <p:cNvSpPr/>
          <p:nvPr/>
        </p:nvSpPr>
        <p:spPr>
          <a:xfrm>
            <a:off x="6263640" y="1554480"/>
            <a:ext cx="2468880" cy="3108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Diátaxis framework compliance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Terminology enforcement (Foundry resource, not AI hub)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Neutral tone — no we/our language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ALL_CAPS placeholder conventions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Cross-reference link accuracy</a:t>
            </a:r>
            <a:endParaRPr lang="en-US" sz="1200" dirty="0"/>
          </a:p>
        </p:txBody>
      </p:sp>
      <p:sp>
        <p:nvSpPr>
          <p:cNvPr id="19" name="Text 14"/>
          <p:cNvSpPr/>
          <p:nvPr/>
        </p:nvSpPr>
        <p:spPr>
          <a:xfrm>
            <a:off x="365760" y="4800600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A8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three agents run on every PR · Slash commands available for on-demand runs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0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73152"/>
            <a:ext cx="84124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docs-vnext History &amp; Impact</a:t>
            </a:r>
            <a:endParaRPr lang="en-US" sz="26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274320" y="777240"/>
          <a:ext cx="3200400" cy="25603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/>
          <p:nvPr/>
        </p:nvSpPr>
        <p:spPr>
          <a:xfrm>
            <a:off x="3749040" y="804672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136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Milestones</a:t>
            </a:r>
            <a:endParaRPr lang="en-US" sz="1500" dirty="0"/>
          </a:p>
        </p:txBody>
      </p:sp>
      <p:sp>
        <p:nvSpPr>
          <p:cNvPr id="6" name="Shape 3"/>
          <p:cNvSpPr/>
          <p:nvPr/>
        </p:nvSpPr>
        <p:spPr>
          <a:xfrm>
            <a:off x="3749040" y="1307592"/>
            <a:ext cx="164592" cy="164592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3826764" y="1472184"/>
            <a:ext cx="0" cy="384048"/>
          </a:xfrm>
          <a:prstGeom prst="line">
            <a:avLst/>
          </a:prstGeom>
          <a:noFill/>
          <a:ln w="12700">
            <a:solidFill>
              <a:srgbClr val="00A896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4023360" y="1261872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Feb 2026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5074920" y="1261872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agentic PR merged — docs-vnext baseline created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3749040" y="1856232"/>
            <a:ext cx="164592" cy="164592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3826764" y="2020824"/>
            <a:ext cx="0" cy="384048"/>
          </a:xfrm>
          <a:prstGeom prst="line">
            <a:avLst/>
          </a:prstGeom>
          <a:noFill/>
          <a:ln w="12700">
            <a:solidFill>
              <a:srgbClr val="00A896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023360" y="1810512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 1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5074920" y="1810512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Unbloat: cloud-evaluation.mdx − 29 lines, 10 bullets (PR #23)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3749040" y="2404872"/>
            <a:ext cx="164592" cy="164592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3826764" y="2569464"/>
            <a:ext cx="0" cy="384048"/>
          </a:xfrm>
          <a:prstGeom prst="line">
            <a:avLst/>
          </a:prstGeom>
          <a:noFill/>
          <a:ln w="12700">
            <a:solidFill>
              <a:srgbClr val="00A896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4023360" y="2359152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 2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5074920" y="2359152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Glossary created: 35 terms across 16 sections (PR #28)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3749040" y="2953512"/>
            <a:ext cx="164592" cy="164592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3826764" y="3118104"/>
            <a:ext cx="0" cy="384048"/>
          </a:xfrm>
          <a:prstGeom prst="line">
            <a:avLst/>
          </a:prstGeom>
          <a:noFill/>
          <a:ln w="12700">
            <a:solidFill>
              <a:srgbClr val="00A896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4023360" y="2907792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 15</a:t>
            </a:r>
            <a:endParaRPr lang="en-US" sz="1100" dirty="0"/>
          </a:p>
        </p:txBody>
      </p:sp>
      <p:sp>
        <p:nvSpPr>
          <p:cNvPr id="21" name="Text 18"/>
          <p:cNvSpPr/>
          <p:nvPr/>
        </p:nvSpPr>
        <p:spPr>
          <a:xfrm>
            <a:off x="5074920" y="2907792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Noob Tester fixes merged — 4 consecutive improvement PRs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3749040" y="3502152"/>
            <a:ext cx="164592" cy="164592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3826764" y="3666744"/>
            <a:ext cx="0" cy="384048"/>
          </a:xfrm>
          <a:prstGeom prst="line">
            <a:avLst/>
          </a:prstGeom>
          <a:noFill/>
          <a:ln w="12700">
            <a:solidFill>
              <a:srgbClr val="00A896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4023360" y="3456432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 2026</a:t>
            </a:r>
            <a:endParaRPr lang="en-US" sz="1100" dirty="0"/>
          </a:p>
        </p:txBody>
      </p:sp>
      <p:sp>
        <p:nvSpPr>
          <p:cNvPr id="25" name="Text 22"/>
          <p:cNvSpPr/>
          <p:nvPr/>
        </p:nvSpPr>
        <p:spPr>
          <a:xfrm>
            <a:off x="5074920" y="3456432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 harness launched: 4-server × model matrix, 200 queries</a:t>
            </a:r>
            <a:endParaRPr lang="en-US" sz="1100" dirty="0"/>
          </a:p>
        </p:txBody>
      </p:sp>
      <p:sp>
        <p:nvSpPr>
          <p:cNvPr id="26" name="Shape 23"/>
          <p:cNvSpPr/>
          <p:nvPr/>
        </p:nvSpPr>
        <p:spPr>
          <a:xfrm>
            <a:off x="3749040" y="4050792"/>
            <a:ext cx="164592" cy="164592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4023360" y="4005072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May 2026</a:t>
            </a:r>
            <a:endParaRPr lang="en-US" sz="1100" dirty="0"/>
          </a:p>
        </p:txBody>
      </p:sp>
      <p:sp>
        <p:nvSpPr>
          <p:cNvPr id="28" name="Text 25"/>
          <p:cNvSpPr/>
          <p:nvPr/>
        </p:nvSpPr>
        <p:spPr>
          <a:xfrm>
            <a:off x="5074920" y="4005072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SDK release detections · 5+ upstream sync issue cycles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274320" y="3474720"/>
            <a:ext cx="3200400" cy="1325880"/>
          </a:xfrm>
          <a:prstGeom prst="rect">
            <a:avLst/>
          </a:prstGeom>
          <a:solidFill>
            <a:srgbClr val="01363D"/>
          </a:solidFill>
          <a:ln w="12700">
            <a:solidFill>
              <a:srgbClr val="01363D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320040" y="3547872"/>
            <a:ext cx="3108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266</a:t>
            </a:r>
            <a:endParaRPr lang="en-US" sz="30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A0C4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pages shared with docs/ baseline</a:t>
            </a:r>
            <a:endParaRPr lang="en-US" sz="3000" dirty="0"/>
          </a:p>
        </p:txBody>
      </p:sp>
      <p:sp>
        <p:nvSpPr>
          <p:cNvPr id="31" name="Text 28"/>
          <p:cNvSpPr/>
          <p:nvPr/>
        </p:nvSpPr>
        <p:spPr>
          <a:xfrm>
            <a:off x="320040" y="4187952"/>
            <a:ext cx="31089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4A2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+14</a:t>
            </a:r>
            <a:endParaRPr lang="en-US" sz="30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A0C4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pages created exclusively by agents</a:t>
            </a:r>
            <a:endParaRPr lang="en-US" sz="3000" dirty="0"/>
          </a:p>
        </p:txBody>
      </p:sp>
      <p:sp>
        <p:nvSpPr>
          <p:cNvPr id="32" name="Shape 29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11F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1363D"/>
          </a:solidFill>
          <a:ln w="12700">
            <a:solidFill>
              <a:srgbClr val="01363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73152"/>
            <a:ext cx="84124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 Dive: Agentic Chain in Action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274320" y="822960"/>
            <a:ext cx="1463040" cy="2011680"/>
          </a:xfrm>
          <a:prstGeom prst="rect">
            <a:avLst/>
          </a:prstGeom>
          <a:solidFill>
            <a:srgbClr val="01434D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914400"/>
            <a:ext cx="365760" cy="365760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9144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274320" y="1389888"/>
            <a:ext cx="1463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Upstream Monitor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274320" y="1874520"/>
            <a:ext cx="14630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0C4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Scheduled scan detects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A0C4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2+ commits in MicrosoftDocs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A0C4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arrowhead upstream repo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1792224" y="1828800"/>
            <a:ext cx="210312" cy="0"/>
          </a:xfrm>
          <a:prstGeom prst="line">
            <a:avLst/>
          </a:prstGeom>
          <a:noFill/>
          <a:ln w="19050">
            <a:solidFill>
              <a:srgbClr val="02809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057400" y="822960"/>
            <a:ext cx="1463040" cy="2011680"/>
          </a:xfrm>
          <a:prstGeom prst="rect">
            <a:avLst/>
          </a:prstGeom>
          <a:solidFill>
            <a:srgbClr val="01434D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606040" y="914400"/>
            <a:ext cx="365760" cy="365760"/>
          </a:xfrm>
          <a:prstGeom prst="ellipse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606040" y="9144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2057400" y="1389888"/>
            <a:ext cx="1463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Creates Issue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2057400" y="1874520"/>
            <a:ext cx="14630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0C4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Files upstream-sync issue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A0C4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(e.g. #207, #193) with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A0C4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commit details &amp; file list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575304" y="1828800"/>
            <a:ext cx="210312" cy="0"/>
          </a:xfrm>
          <a:prstGeom prst="line">
            <a:avLst/>
          </a:prstGeom>
          <a:noFill/>
          <a:ln w="19050">
            <a:solidFill>
              <a:srgbClr val="00A89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840480" y="822960"/>
            <a:ext cx="1463040" cy="2011680"/>
          </a:xfrm>
          <a:prstGeom prst="rect">
            <a:avLst/>
          </a:prstGeom>
          <a:solidFill>
            <a:srgbClr val="01434D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389120" y="914400"/>
            <a:ext cx="365760" cy="365760"/>
          </a:xfrm>
          <a:prstGeom prst="ellipse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389120" y="9144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3840480" y="1389888"/>
            <a:ext cx="1463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Dispatches Sync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3840480" y="1874520"/>
            <a:ext cx="14630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0C4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sync-and-convert workflow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A0C4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dispatched automatically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A0C4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docs + docs-vnext updated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358384" y="1828800"/>
            <a:ext cx="210312" cy="0"/>
          </a:xfrm>
          <a:prstGeom prst="line">
            <a:avLst/>
          </a:prstGeom>
          <a:noFill/>
          <a:ln w="19050">
            <a:solidFill>
              <a:srgbClr val="02C39A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623560" y="822960"/>
            <a:ext cx="1463040" cy="2011680"/>
          </a:xfrm>
          <a:prstGeom prst="rect">
            <a:avLst/>
          </a:prstGeom>
          <a:solidFill>
            <a:srgbClr val="01434D"/>
          </a:solidFill>
          <a:ln w="12700">
            <a:solidFill>
              <a:srgbClr val="047A8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172200" y="914400"/>
            <a:ext cx="365760" cy="365760"/>
          </a:xfrm>
          <a:prstGeom prst="ellipse">
            <a:avLst/>
          </a:prstGeom>
          <a:solidFill>
            <a:srgbClr val="047A86"/>
          </a:solidFill>
          <a:ln w="12700">
            <a:solidFill>
              <a:srgbClr val="047A86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172200" y="9144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5623560" y="1389888"/>
            <a:ext cx="1463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47A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Post-Sync Updater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5623560" y="1874520"/>
            <a:ext cx="14630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0C4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Analyzes diff, assesses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A0C4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impact, creates PR or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A0C4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noop if no docs change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7141464" y="1828800"/>
            <a:ext cx="210312" cy="0"/>
          </a:xfrm>
          <a:prstGeom prst="line">
            <a:avLst/>
          </a:prstGeom>
          <a:noFill/>
          <a:ln w="19050">
            <a:solidFill>
              <a:srgbClr val="047A8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406640" y="822960"/>
            <a:ext cx="1463040" cy="2011680"/>
          </a:xfrm>
          <a:prstGeom prst="rect">
            <a:avLst/>
          </a:prstGeom>
          <a:solidFill>
            <a:srgbClr val="01434D"/>
          </a:solidFill>
          <a:ln w="12700">
            <a:solidFill>
              <a:srgbClr val="056A74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955280" y="914400"/>
            <a:ext cx="365760" cy="365760"/>
          </a:xfrm>
          <a:prstGeom prst="ellipse">
            <a:avLst/>
          </a:prstGeom>
          <a:solidFill>
            <a:srgbClr val="056A74"/>
          </a:solidFill>
          <a:ln w="12700">
            <a:solidFill>
              <a:srgbClr val="056A74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955280" y="9144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31" name="Text 29"/>
          <p:cNvSpPr/>
          <p:nvPr/>
        </p:nvSpPr>
        <p:spPr>
          <a:xfrm>
            <a:off x="7406640" y="1389888"/>
            <a:ext cx="1463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56A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 Gate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7406640" y="1874520"/>
            <a:ext cx="14630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0C4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Post-index testbench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A0C4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regression — must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A0C4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 90% threshold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274320" y="3017520"/>
            <a:ext cx="8595360" cy="1645920"/>
          </a:xfrm>
          <a:prstGeom prst="rect">
            <a:avLst/>
          </a:prstGeom>
          <a:solidFill>
            <a:srgbClr val="01434D"/>
          </a:solidFill>
          <a:ln w="10160">
            <a:solidFill>
              <a:srgbClr val="F4A261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57200" y="31089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4A2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SDK Release Chain (parallel track):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457200" y="3493008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4A2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SDK Release Monitor</a:t>
            </a:r>
            <a:pPr indent="0" marL="0">
              <a:buNone/>
            </a:pPr>
            <a:r>
              <a:rPr lang="en-US" sz="1200" dirty="0">
                <a:solidFill>
                  <a:srgbClr val="A0C4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detects Azure AI Projects SDK across 4 languages (Python, JS/TS, .NET, Java) → creates </a:t>
            </a:r>
            <a:pPr indent="0" marL="0">
              <a:buNone/>
            </a:pPr>
            <a:r>
              <a:rPr lang="en-US" sz="12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sdk-update</a:t>
            </a:r>
            <a:pPr indent="0" marL="0">
              <a:buNone/>
            </a:pPr>
            <a:r>
              <a:rPr lang="en-US" sz="1200" dirty="0">
                <a:solidFill>
                  <a:srgbClr val="A0C4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issue with breaking change analysis &amp; docs impact assessment. Latest: Issue #270 — Python 2.1.0, JS/TS 2.1.0, .NET 2.0.1 &amp; 2.1.0-beta.1 detected (Apr 2026). 5 total detections since launch.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0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73152"/>
            <a:ext cx="84124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 Dive: Content Improvements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274320" y="777240"/>
            <a:ext cx="4023360" cy="402336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274320" y="777240"/>
            <a:ext cx="4023360" cy="502920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11480" y="804672"/>
            <a:ext cx="3749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 #28 — Glossary Creation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11480" y="1371600"/>
            <a:ext cx="3749040" cy="3246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Starting point: </a:t>
            </a:r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 — no glossary existed</a:t>
            </a:r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
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Outcome: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 terms across 16 alphabetical sections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Covers Foundry, MCP, Search, Agents, Eval, Dev Tools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docs-vnext/docs.json updated with Reference nav group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Created in a single automated run (glossary-maintainer)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
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Sample terms:</a:t>
            </a:r>
            <a:endParaRPr lang="en-US" sz="1200" dirty="0"/>
          </a:p>
          <a:p>
            <a:pPr indent="0" marL="0">
              <a:buNone/>
            </a:pPr>
            <a:r>
              <a:rPr lang="en-US" sz="12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Gateway · FastMCP · Hybrid Search · Diátaxis · Hit@K · HNSW · Provisioned Throughput · Devvit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846320" y="777240"/>
            <a:ext cx="4023360" cy="402336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846320" y="777240"/>
            <a:ext cx="4023360" cy="50292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983480" y="804672"/>
            <a:ext cx="3749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 #23 — Unbloat cloud-evaluation.mdx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983480" y="1371600"/>
            <a:ext cx="374904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Bloat removed: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Duplicate paragraph (evaluator support info repeated)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identical 'Before you begin' tip boxes removed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Trivial tip, redundant sentence removed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5-bullet list → concise reference table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Rate limit bullets → prose sentences</a:t>
            </a:r>
            <a:endParaRPr lang="en-US" sz="12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846320" y="3200400"/>
          <a:ext cx="4023360" cy="1417320"/>
        </p:xfrm>
        <a:graphic>
          <a:graphicData uri="http://schemas.openxmlformats.org/drawingml/2006/table">
            <a:tbl>
              <a:tblPr/>
              <a:tblGrid>
                <a:gridCol w="1188720"/>
                <a:gridCol w="868680"/>
                <a:gridCol w="868680"/>
                <a:gridCol w="1097280"/>
              </a:tblGrid>
              <a:tr h="35433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Metric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Before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After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Δ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</a:tr>
              <a:tr h="35433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913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884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−29 (3%)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5433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Words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3,412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3,180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−232 (7%)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5433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Bullets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2809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−10 (35%) 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3" name="Shape 10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0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73152"/>
            <a:ext cx="84124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Evaluation Harness Results</a:t>
            </a:r>
            <a:endParaRPr lang="en-US" sz="26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274320" y="731520"/>
          <a:ext cx="484632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/>
          <p:nvPr/>
        </p:nvSpPr>
        <p:spPr>
          <a:xfrm>
            <a:off x="5349240" y="77724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136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Category Breakdown</a:t>
            </a:r>
            <a:endParaRPr lang="en-US" sz="14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349240" y="1143000"/>
          <a:ext cx="3566160" cy="2377440"/>
        </p:xfrm>
        <a:graphic>
          <a:graphicData uri="http://schemas.openxmlformats.org/drawingml/2006/table">
            <a:tbl>
              <a:tblPr/>
              <a:tblGrid>
                <a:gridCol w="1920240"/>
                <a:gridCol w="822960"/>
                <a:gridCol w="822960"/>
              </a:tblGrid>
              <a:tr h="33963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Category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docs/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vnext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</a:tr>
              <a:tr h="33963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agent-development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0.973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0.973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3963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getting-started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0.887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0.887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3963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infrastructure-security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0.973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0.973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3963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observability-eval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0.853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0.853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3963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sdk-api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2809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CC33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0.920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3963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OVERALL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2809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0.927 🥇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0.921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Shape 3"/>
          <p:cNvSpPr/>
          <p:nvPr/>
        </p:nvSpPr>
        <p:spPr>
          <a:xfrm>
            <a:off x="274320" y="3749040"/>
            <a:ext cx="8595360" cy="105156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8" name="Text 4"/>
          <p:cNvSpPr/>
          <p:nvPr/>
        </p:nvSpPr>
        <p:spPr>
          <a:xfrm>
            <a:off x="411480" y="379476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136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Hypothesis Results (Issue #264 · 2026-05-03)</a:t>
            </a:r>
            <a:endParaRPr lang="en-US" sz="1300" dirty="0"/>
          </a:p>
        </p:txBody>
      </p:sp>
      <p:sp>
        <p:nvSpPr>
          <p:cNvPr id="9" name="Text 5"/>
          <p:cNvSpPr/>
          <p:nvPr/>
        </p:nvSpPr>
        <p:spPr>
          <a:xfrm>
            <a:off x="411480" y="416052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H1: vnext &gt; docs/: 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2423160" y="416052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C3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 REJECTED (−0.006)</a:t>
            </a:r>
            <a:endParaRPr lang="en-US" sz="1100" dirty="0"/>
          </a:p>
        </p:txBody>
      </p:sp>
      <p:sp>
        <p:nvSpPr>
          <p:cNvPr id="11" name="Text 7"/>
          <p:cNvSpPr/>
          <p:nvPr/>
        </p:nvSpPr>
        <p:spPr>
          <a:xfrm>
            <a:off x="4800600" y="416052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H2: FastMCP &gt; Mintlify: </a:t>
            </a:r>
            <a:endParaRPr lang="en-US" sz="1100" dirty="0"/>
          </a:p>
        </p:txBody>
      </p:sp>
      <p:sp>
        <p:nvSpPr>
          <p:cNvPr id="12" name="Text 8"/>
          <p:cNvSpPr/>
          <p:nvPr/>
        </p:nvSpPr>
        <p:spPr>
          <a:xfrm>
            <a:off x="6812280" y="416052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➖ NO DIFFERENCE</a:t>
            </a:r>
            <a:endParaRPr lang="en-US" sz="1100" dirty="0"/>
          </a:p>
        </p:txBody>
      </p:sp>
      <p:sp>
        <p:nvSpPr>
          <p:cNvPr id="13" name="Text 9"/>
          <p:cNvSpPr/>
          <p:nvPr/>
        </p:nvSpPr>
        <p:spPr>
          <a:xfrm>
            <a:off x="411480" y="450799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H3: FastMCP &gt; MS Learn: </a:t>
            </a:r>
            <a:endParaRPr lang="en-US" sz="1100" dirty="0"/>
          </a:p>
        </p:txBody>
      </p:sp>
      <p:sp>
        <p:nvSpPr>
          <p:cNvPr id="14" name="Text 10"/>
          <p:cNvSpPr/>
          <p:nvPr/>
        </p:nvSpPr>
        <p:spPr>
          <a:xfrm>
            <a:off x="2423160" y="450799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➖ NO DIFFERENCE</a:t>
            </a:r>
            <a:endParaRPr lang="en-US" sz="1100" dirty="0"/>
          </a:p>
        </p:txBody>
      </p:sp>
      <p:sp>
        <p:nvSpPr>
          <p:cNvPr id="15" name="Text 11"/>
          <p:cNvSpPr/>
          <p:nvPr/>
        </p:nvSpPr>
        <p:spPr>
          <a:xfrm>
            <a:off x="4800600" y="450799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H4: Consistent across models: </a:t>
            </a:r>
            <a:endParaRPr lang="en-US" sz="1100" dirty="0"/>
          </a:p>
        </p:txBody>
      </p:sp>
      <p:sp>
        <p:nvSpPr>
          <p:cNvPr id="16" name="Text 12"/>
          <p:cNvSpPr/>
          <p:nvPr/>
        </p:nvSpPr>
        <p:spPr>
          <a:xfrm>
            <a:off x="6812280" y="450799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SUPPORTED</a:t>
            </a:r>
            <a:endParaRPr lang="en-US" sz="1100" dirty="0"/>
          </a:p>
        </p:txBody>
      </p:sp>
      <p:sp>
        <p:nvSpPr>
          <p:cNvPr id="17" name="Shape 13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136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11F24"/>
          </a:solidFill>
          <a:ln w="12700">
            <a:solidFill>
              <a:srgbClr val="011F2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73152"/>
            <a:ext cx="84124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Community Integration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274320" y="822960"/>
            <a:ext cx="4114800" cy="1691640"/>
          </a:xfrm>
          <a:prstGeom prst="rect">
            <a:avLst/>
          </a:prstGeom>
          <a:solidFill>
            <a:srgbClr val="01434D"/>
          </a:solidFill>
          <a:ln w="6350">
            <a:solidFill>
              <a:srgbClr val="028090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960120"/>
            <a:ext cx="457200" cy="4572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987552" y="960120"/>
            <a:ext cx="3273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Microsoft Foundry Discussions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411480" y="1508760"/>
            <a:ext cx="384048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A0C4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Monitors microsoft-foundry/discussions via repository_dispatch. Community questions trigger automated doc gap detection and cross-reference updates.</a:t>
            </a:r>
            <a:endParaRPr lang="en-US" sz="1150" dirty="0"/>
          </a:p>
        </p:txBody>
      </p:sp>
      <p:sp>
        <p:nvSpPr>
          <p:cNvPr id="8" name="Shape 5"/>
          <p:cNvSpPr/>
          <p:nvPr/>
        </p:nvSpPr>
        <p:spPr>
          <a:xfrm>
            <a:off x="4709160" y="822960"/>
            <a:ext cx="4114800" cy="1691640"/>
          </a:xfrm>
          <a:prstGeom prst="rect">
            <a:avLst/>
          </a:prstGeom>
          <a:solidFill>
            <a:srgbClr val="01434D"/>
          </a:solidFill>
          <a:ln w="6350">
            <a:solidFill>
              <a:srgbClr val="00A896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46320" y="960120"/>
            <a:ext cx="457200" cy="45720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5422392" y="960120"/>
            <a:ext cx="3273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foundry-samples Repository</a:t>
            </a:r>
            <a:endParaRPr lang="en-US" sz="1300" dirty="0"/>
          </a:p>
        </p:txBody>
      </p:sp>
      <p:sp>
        <p:nvSpPr>
          <p:cNvPr id="11" name="Text 7"/>
          <p:cNvSpPr/>
          <p:nvPr/>
        </p:nvSpPr>
        <p:spPr>
          <a:xfrm>
            <a:off x="4846320" y="1508760"/>
            <a:ext cx="384048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A0C4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Watches the foundry-samples repo for new code examples. When new patterns emerge, docs-vnext gets corresponding how-to guides and code snippet updates.</a:t>
            </a:r>
            <a:endParaRPr lang="en-US" sz="1150" dirty="0"/>
          </a:p>
        </p:txBody>
      </p:sp>
      <p:sp>
        <p:nvSpPr>
          <p:cNvPr id="12" name="Shape 8"/>
          <p:cNvSpPr/>
          <p:nvPr/>
        </p:nvSpPr>
        <p:spPr>
          <a:xfrm>
            <a:off x="274320" y="2743200"/>
            <a:ext cx="4114800" cy="1691640"/>
          </a:xfrm>
          <a:prstGeom prst="rect">
            <a:avLst/>
          </a:prstGeom>
          <a:solidFill>
            <a:srgbClr val="01434D"/>
          </a:solidFill>
          <a:ln w="6350">
            <a:solidFill>
              <a:srgbClr val="02C39A"/>
            </a:solidFill>
            <a:prstDash val="solid"/>
          </a:ln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2880360"/>
            <a:ext cx="457200" cy="457200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987552" y="2880360"/>
            <a:ext cx="3273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Reddit Community Monitor</a:t>
            </a:r>
            <a:endParaRPr lang="en-US" sz="1300" dirty="0"/>
          </a:p>
        </p:txBody>
      </p:sp>
      <p:sp>
        <p:nvSpPr>
          <p:cNvPr id="15" name="Text 10"/>
          <p:cNvSpPr/>
          <p:nvPr/>
        </p:nvSpPr>
        <p:spPr>
          <a:xfrm>
            <a:off x="411480" y="3429000"/>
            <a:ext cx="384048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A0C4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Scheduled scan of r/AzureFoundry and related subs. Detects recurring confusion, missing docs, and frequently asked questions — feeds into daily doc updater.</a:t>
            </a:r>
            <a:endParaRPr lang="en-US" sz="1150" dirty="0"/>
          </a:p>
        </p:txBody>
      </p:sp>
      <p:sp>
        <p:nvSpPr>
          <p:cNvPr id="16" name="Shape 11"/>
          <p:cNvSpPr/>
          <p:nvPr/>
        </p:nvSpPr>
        <p:spPr>
          <a:xfrm>
            <a:off x="4709160" y="2743200"/>
            <a:ext cx="4114800" cy="1691640"/>
          </a:xfrm>
          <a:prstGeom prst="rect">
            <a:avLst/>
          </a:prstGeom>
          <a:solidFill>
            <a:srgbClr val="01434D"/>
          </a:solidFill>
          <a:ln w="6350">
            <a:solidFill>
              <a:srgbClr val="047A86"/>
            </a:solidFill>
            <a:prstDash val="solid"/>
          </a:ln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46320" y="2880360"/>
            <a:ext cx="457200" cy="457200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5422392" y="2880360"/>
            <a:ext cx="3273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47A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Dependabot Docs Checker</a:t>
            </a:r>
            <a:endParaRPr lang="en-US" sz="1300" dirty="0"/>
          </a:p>
        </p:txBody>
      </p:sp>
      <p:sp>
        <p:nvSpPr>
          <p:cNvPr id="19" name="Text 13"/>
          <p:cNvSpPr/>
          <p:nvPr/>
        </p:nvSpPr>
        <p:spPr>
          <a:xfrm>
            <a:off x="4846320" y="3429000"/>
            <a:ext cx="384048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A0C4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Dependabot raises a PR with dependency updates, this workflow checks if the dependency has docs implications and files update requests.</a:t>
            </a:r>
            <a:endParaRPr lang="en-US" sz="1150" dirty="0"/>
          </a:p>
        </p:txBody>
      </p:sp>
      <p:sp>
        <p:nvSpPr>
          <p:cNvPr id="20" name="Shape 14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0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73152"/>
            <a:ext cx="84124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SDK Monitoring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274320" y="777240"/>
            <a:ext cx="1920240" cy="16459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274320" y="777240"/>
            <a:ext cx="1920240" cy="45720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804672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274320" y="132588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136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2.1.0 Stable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274320" y="1719072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 20, 2026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274320" y="201168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🆕 New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2377440" y="777240"/>
            <a:ext cx="1920240" cy="16459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2377440" y="777240"/>
            <a:ext cx="1920240" cy="45720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377440" y="804672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JS/TS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2377440" y="132588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136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2.1.0 Stable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2377440" y="1719072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 17, 2026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2377440" y="201168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🆕 New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480560" y="777240"/>
            <a:ext cx="1920240" cy="16459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480560" y="777240"/>
            <a:ext cx="1920240" cy="45720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480560" y="804672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.NET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4480560" y="132588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136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2.1.0-beta.1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4480560" y="1719072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 21, 2026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4480560" y="201168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🔵 Beta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6583680" y="777240"/>
            <a:ext cx="1920240" cy="16459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6583680" y="777240"/>
            <a:ext cx="1920240" cy="45720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583680" y="804672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Java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6583680" y="132588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136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2.0.0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6583680" y="1719072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Tracked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6583680" y="201168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Stable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8686800" y="777240"/>
            <a:ext cx="182880" cy="1645920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74320" y="2606040"/>
            <a:ext cx="8595360" cy="457200"/>
          </a:xfrm>
          <a:prstGeom prst="rect">
            <a:avLst/>
          </a:prstGeom>
          <a:solidFill>
            <a:srgbClr val="E8F7F9"/>
          </a:solidFill>
          <a:ln w="6350">
            <a:solidFill>
              <a:srgbClr val="00A89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57200" y="2633472"/>
            <a:ext cx="8229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detection events since launch  ·  Azure AI Projects SDK v2  ·  REST API v1 stable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274320" y="3200400"/>
            <a:ext cx="8595360" cy="16459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274320" y="3200400"/>
            <a:ext cx="73152" cy="1645920"/>
          </a:xfrm>
          <a:prstGeom prst="rect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57200" y="3246120"/>
            <a:ext cx="4572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136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Latest: Issue #270 (May 2026)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457200" y="3657600"/>
            <a:ext cx="822960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releases detected across all four SDK languages. Docs impact assessed per-language: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2.1.0</a:t>
            </a:r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(stable) · </a:t>
            </a:r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JS/TS 2.1.0</a:t>
            </a:r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(stable) · </a:t>
            </a:r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.NET 2.0.1 &amp; 2.1.0-beta.1</a:t>
            </a:r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Java 2.0.0</a:t>
            </a:r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Agent files breaking changes analysis and creates targeted doc update tasks.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11F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1363D"/>
          </a:solidFill>
          <a:ln w="12700">
            <a:solidFill>
              <a:srgbClr val="01363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73152"/>
            <a:ext cx="84124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Metrics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02920" y="777240"/>
            <a:ext cx="2651760" cy="1371600"/>
          </a:xfrm>
          <a:prstGeom prst="rect">
            <a:avLst/>
          </a:prstGeom>
          <a:solidFill>
            <a:srgbClr val="01434D"/>
          </a:solidFill>
          <a:ln w="6350">
            <a:solidFill>
              <a:srgbClr val="02C39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868680"/>
            <a:ext cx="2651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280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502920" y="1673352"/>
            <a:ext cx="26517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0C4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MDX pages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A0C4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(docs-vnext)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3246120" y="777240"/>
            <a:ext cx="2651760" cy="1371600"/>
          </a:xfrm>
          <a:prstGeom prst="rect">
            <a:avLst/>
          </a:prstGeom>
          <a:solidFill>
            <a:srgbClr val="01434D"/>
          </a:solidFill>
          <a:ln w="6350">
            <a:solidFill>
              <a:srgbClr val="00A89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46120" y="868680"/>
            <a:ext cx="2651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</a:t>
            </a:r>
            <a:endParaRPr lang="en-US" sz="4000" dirty="0"/>
          </a:p>
        </p:txBody>
      </p:sp>
      <p:sp>
        <p:nvSpPr>
          <p:cNvPr id="9" name="Text 7"/>
          <p:cNvSpPr/>
          <p:nvPr/>
        </p:nvSpPr>
        <p:spPr>
          <a:xfrm>
            <a:off x="3246120" y="1673352"/>
            <a:ext cx="26517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0C4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Agentic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A0C4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workflows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989320" y="777240"/>
            <a:ext cx="2651760" cy="1371600"/>
          </a:xfrm>
          <a:prstGeom prst="rect">
            <a:avLst/>
          </a:prstGeom>
          <a:solidFill>
            <a:srgbClr val="01434D"/>
          </a:solidFill>
          <a:ln w="6350">
            <a:solidFill>
              <a:srgbClr val="02809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989320" y="868680"/>
            <a:ext cx="2651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5989320" y="1673352"/>
            <a:ext cx="26517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0C4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Workflow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A0C4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chains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02920" y="2286000"/>
            <a:ext cx="2651760" cy="1371600"/>
          </a:xfrm>
          <a:prstGeom prst="rect">
            <a:avLst/>
          </a:prstGeom>
          <a:solidFill>
            <a:srgbClr val="01434D"/>
          </a:solidFill>
          <a:ln w="6350">
            <a:solidFill>
              <a:srgbClr val="047A8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377440"/>
            <a:ext cx="2651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047A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46</a:t>
            </a:r>
            <a:endParaRPr lang="en-US" sz="4000" dirty="0"/>
          </a:p>
        </p:txBody>
      </p:sp>
      <p:sp>
        <p:nvSpPr>
          <p:cNvPr id="15" name="Text 13"/>
          <p:cNvSpPr/>
          <p:nvPr/>
        </p:nvSpPr>
        <p:spPr>
          <a:xfrm>
            <a:off x="502920" y="3182112"/>
            <a:ext cx="26517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0C4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Merged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A0C4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3246120" y="2286000"/>
            <a:ext cx="2651760" cy="1371600"/>
          </a:xfrm>
          <a:prstGeom prst="rect">
            <a:avLst/>
          </a:prstGeom>
          <a:solidFill>
            <a:srgbClr val="01434D"/>
          </a:solidFill>
          <a:ln w="6350">
            <a:solidFill>
              <a:srgbClr val="F4A26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246120" y="2377440"/>
            <a:ext cx="2651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4A2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4000" dirty="0"/>
          </a:p>
        </p:txBody>
      </p:sp>
      <p:sp>
        <p:nvSpPr>
          <p:cNvPr id="18" name="Text 16"/>
          <p:cNvSpPr/>
          <p:nvPr/>
        </p:nvSpPr>
        <p:spPr>
          <a:xfrm>
            <a:off x="3246120" y="3182112"/>
            <a:ext cx="26517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0C4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Bot-authored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A0C4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PRs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5989320" y="2286000"/>
            <a:ext cx="2651760" cy="1371600"/>
          </a:xfrm>
          <a:prstGeom prst="rect">
            <a:avLst/>
          </a:prstGeom>
          <a:solidFill>
            <a:srgbClr val="01434D"/>
          </a:solidFill>
          <a:ln w="6350">
            <a:solidFill>
              <a:srgbClr val="02C39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89320" y="2377440"/>
            <a:ext cx="2651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200</a:t>
            </a:r>
            <a:endParaRPr lang="en-US" sz="4000" dirty="0"/>
          </a:p>
        </p:txBody>
      </p:sp>
      <p:sp>
        <p:nvSpPr>
          <p:cNvPr id="21" name="Text 19"/>
          <p:cNvSpPr/>
          <p:nvPr/>
        </p:nvSpPr>
        <p:spPr>
          <a:xfrm>
            <a:off x="5989320" y="3182112"/>
            <a:ext cx="26517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0C4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A0C4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queries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502920" y="3794760"/>
            <a:ext cx="2651760" cy="1371600"/>
          </a:xfrm>
          <a:prstGeom prst="rect">
            <a:avLst/>
          </a:prstGeom>
          <a:solidFill>
            <a:srgbClr val="01434D"/>
          </a:solidFill>
          <a:ln w="6350">
            <a:solidFill>
              <a:srgbClr val="00A896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02920" y="3886200"/>
            <a:ext cx="2651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0.927</a:t>
            </a:r>
            <a:endParaRPr lang="en-US" sz="4000" dirty="0"/>
          </a:p>
        </p:txBody>
      </p:sp>
      <p:sp>
        <p:nvSpPr>
          <p:cNvPr id="24" name="Text 22"/>
          <p:cNvSpPr/>
          <p:nvPr/>
        </p:nvSpPr>
        <p:spPr>
          <a:xfrm>
            <a:off x="502920" y="4690872"/>
            <a:ext cx="26517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0C4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docs/ best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A0C4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 score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3246120" y="3794760"/>
            <a:ext cx="2651760" cy="1371600"/>
          </a:xfrm>
          <a:prstGeom prst="rect">
            <a:avLst/>
          </a:prstGeom>
          <a:solidFill>
            <a:srgbClr val="01434D"/>
          </a:solidFill>
          <a:ln w="6350">
            <a:solidFill>
              <a:srgbClr val="02809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246120" y="3886200"/>
            <a:ext cx="2651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4000" dirty="0"/>
          </a:p>
        </p:txBody>
      </p:sp>
      <p:sp>
        <p:nvSpPr>
          <p:cNvPr id="27" name="Text 25"/>
          <p:cNvSpPr/>
          <p:nvPr/>
        </p:nvSpPr>
        <p:spPr>
          <a:xfrm>
            <a:off x="3246120" y="4690872"/>
            <a:ext cx="26517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0C4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SDK release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A0C4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detections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5989320" y="3794760"/>
            <a:ext cx="2651760" cy="1371600"/>
          </a:xfrm>
          <a:prstGeom prst="rect">
            <a:avLst/>
          </a:prstGeom>
          <a:solidFill>
            <a:srgbClr val="01434D"/>
          </a:solidFill>
          <a:ln w="6350">
            <a:solidFill>
              <a:srgbClr val="047A86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989320" y="3886200"/>
            <a:ext cx="2651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047A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4000" dirty="0"/>
          </a:p>
        </p:txBody>
      </p:sp>
      <p:sp>
        <p:nvSpPr>
          <p:cNvPr id="30" name="Text 28"/>
          <p:cNvSpPr/>
          <p:nvPr/>
        </p:nvSpPr>
        <p:spPr>
          <a:xfrm>
            <a:off x="5989320" y="4690872"/>
            <a:ext cx="26517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0C4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Agent-created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A0C4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unique pages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11F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1363D"/>
          </a:solidFill>
          <a:ln w="12700">
            <a:solidFill>
              <a:srgbClr val="01363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73152"/>
            <a:ext cx="84124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What's Next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274320" y="822960"/>
            <a:ext cx="8595360" cy="868680"/>
          </a:xfrm>
          <a:prstGeom prst="rect">
            <a:avLst/>
          </a:prstGeom>
          <a:solidFill>
            <a:srgbClr val="01434D"/>
          </a:solidFill>
          <a:ln w="6350">
            <a:solidFill>
              <a:srgbClr val="F4A261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1033272"/>
            <a:ext cx="411480" cy="41148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960120" y="886968"/>
            <a:ext cx="5943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4A2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Improve Observability Docs Coverage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7132320" y="914400"/>
            <a:ext cx="1554480" cy="274320"/>
          </a:xfrm>
          <a:prstGeom prst="rect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132320" y="91440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960120" y="1261872"/>
            <a:ext cx="7406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0C4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 shows observability-evaluation is the weakest category (0.853 avg). Target: +0.05 via expanded cloud eval how-tos, tracing guides, and evaluator reference pages.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274320" y="1828800"/>
            <a:ext cx="8595360" cy="868680"/>
          </a:xfrm>
          <a:prstGeom prst="rect">
            <a:avLst/>
          </a:prstGeom>
          <a:solidFill>
            <a:srgbClr val="01434D"/>
          </a:solidFill>
          <a:ln w="6350">
            <a:solidFill>
              <a:srgbClr val="028090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2039112"/>
            <a:ext cx="411480" cy="41148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960120" y="1892808"/>
            <a:ext cx="5943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Increase Agentic PR Merge Rate</a:t>
            </a:r>
            <a:endParaRPr lang="en-US" sz="1400" dirty="0"/>
          </a:p>
        </p:txBody>
      </p:sp>
      <p:sp>
        <p:nvSpPr>
          <p:cNvPr id="13" name="Shape 9"/>
          <p:cNvSpPr/>
          <p:nvPr/>
        </p:nvSpPr>
        <p:spPr>
          <a:xfrm>
            <a:off x="7132320" y="1920240"/>
            <a:ext cx="1554480" cy="274320"/>
          </a:xfrm>
          <a:prstGeom prst="rect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7132320" y="192024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</a:t>
            </a:r>
            <a:endParaRPr lang="en-US" sz="1100" dirty="0"/>
          </a:p>
        </p:txBody>
      </p:sp>
      <p:sp>
        <p:nvSpPr>
          <p:cNvPr id="15" name="Text 11"/>
          <p:cNvSpPr/>
          <p:nvPr/>
        </p:nvSpPr>
        <p:spPr>
          <a:xfrm>
            <a:off x="960120" y="2267712"/>
            <a:ext cx="7406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0C4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12/46 (26%) of merged PRs are agent-authored. Target: 40%+ via improved noob-tester accuracy, automated label-ops fixes, and PR reviewer pre-flight checks.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274320" y="2834640"/>
            <a:ext cx="8595360" cy="868680"/>
          </a:xfrm>
          <a:prstGeom prst="rect">
            <a:avLst/>
          </a:prstGeom>
          <a:solidFill>
            <a:srgbClr val="01434D"/>
          </a:solidFill>
          <a:ln w="6350">
            <a:solidFill>
              <a:srgbClr val="00A896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3044952"/>
            <a:ext cx="411480" cy="411480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960120" y="2898648"/>
            <a:ext cx="5943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Expand Eval Scenarios</a:t>
            </a:r>
            <a:endParaRPr lang="en-US" sz="1400" dirty="0"/>
          </a:p>
        </p:txBody>
      </p:sp>
      <p:sp>
        <p:nvSpPr>
          <p:cNvPr id="19" name="Shape 14"/>
          <p:cNvSpPr/>
          <p:nvPr/>
        </p:nvSpPr>
        <p:spPr>
          <a:xfrm>
            <a:off x="7132320" y="2926080"/>
            <a:ext cx="1554480" cy="27432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20" name="Text 15"/>
          <p:cNvSpPr/>
          <p:nvPr/>
        </p:nvSpPr>
        <p:spPr>
          <a:xfrm>
            <a:off x="7132320" y="292608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</a:t>
            </a:r>
            <a:endParaRPr lang="en-US" sz="1100" dirty="0"/>
          </a:p>
        </p:txBody>
      </p:sp>
      <p:sp>
        <p:nvSpPr>
          <p:cNvPr id="21" name="Text 16"/>
          <p:cNvSpPr/>
          <p:nvPr/>
        </p:nvSpPr>
        <p:spPr>
          <a:xfrm>
            <a:off x="960120" y="3273552"/>
            <a:ext cx="7406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0C4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 harness: 200 queries, 1 model, 4 servers. Roadmap: add gpt-5.4 model column, expand to 400+ scenarios, add multi-turn eval for agent documentation.</a:t>
            </a:r>
            <a:endParaRPr lang="en-US" sz="1100" dirty="0"/>
          </a:p>
        </p:txBody>
      </p:sp>
      <p:sp>
        <p:nvSpPr>
          <p:cNvPr id="22" name="Shape 17"/>
          <p:cNvSpPr/>
          <p:nvPr/>
        </p:nvSpPr>
        <p:spPr>
          <a:xfrm>
            <a:off x="274320" y="3840480"/>
            <a:ext cx="8595360" cy="868680"/>
          </a:xfrm>
          <a:prstGeom prst="rect">
            <a:avLst/>
          </a:prstGeom>
          <a:solidFill>
            <a:srgbClr val="01434D"/>
          </a:solidFill>
          <a:ln w="6350">
            <a:solidFill>
              <a:srgbClr val="02C39A"/>
            </a:solidFill>
            <a:prstDash val="solid"/>
          </a:ln>
        </p:spPr>
      </p:sp>
      <p:pic>
        <p:nvPicPr>
          <p:cNvPr id="2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1480" y="4050792"/>
            <a:ext cx="411480" cy="411480"/>
          </a:xfrm>
          <a:prstGeom prst="rect">
            <a:avLst/>
          </a:prstGeom>
        </p:spPr>
      </p:pic>
      <p:sp>
        <p:nvSpPr>
          <p:cNvPr id="24" name="Text 18"/>
          <p:cNvSpPr/>
          <p:nvPr/>
        </p:nvSpPr>
        <p:spPr>
          <a:xfrm>
            <a:off x="960120" y="3904488"/>
            <a:ext cx="5943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getting-started Uplift</a:t>
            </a:r>
            <a:endParaRPr lang="en-US" sz="1400" dirty="0"/>
          </a:p>
        </p:txBody>
      </p:sp>
      <p:sp>
        <p:nvSpPr>
          <p:cNvPr id="25" name="Shape 19"/>
          <p:cNvSpPr/>
          <p:nvPr/>
        </p:nvSpPr>
        <p:spPr>
          <a:xfrm>
            <a:off x="7132320" y="3931920"/>
            <a:ext cx="1554480" cy="27432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26" name="Text 20"/>
          <p:cNvSpPr/>
          <p:nvPr/>
        </p:nvSpPr>
        <p:spPr>
          <a:xfrm>
            <a:off x="7132320" y="393192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</a:t>
            </a:r>
            <a:endParaRPr lang="en-US" sz="1100" dirty="0"/>
          </a:p>
        </p:txBody>
      </p:sp>
      <p:sp>
        <p:nvSpPr>
          <p:cNvPr id="27" name="Text 21"/>
          <p:cNvSpPr/>
          <p:nvPr/>
        </p:nvSpPr>
        <p:spPr>
          <a:xfrm>
            <a:off x="960120" y="4279392"/>
            <a:ext cx="7406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0C4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getting-started scores 0.887 (lowest after observability). Planned: quickstart rewrite, expanded prerequisite coverage, and step-by-step validation by noob-tester.</a:t>
            </a:r>
            <a:endParaRPr lang="en-US" sz="1100" dirty="0"/>
          </a:p>
        </p:txBody>
      </p:sp>
      <p:sp>
        <p:nvSpPr>
          <p:cNvPr id="28" name="Text 22"/>
          <p:cNvSpPr/>
          <p:nvPr/>
        </p:nvSpPr>
        <p:spPr>
          <a:xfrm>
            <a:off x="365760" y="4846320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A8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foundry-docs · nicholasdbrady/foundry-docs · May 2026</a:t>
            </a:r>
            <a:endParaRPr lang="en-US" sz="1100" dirty="0"/>
          </a:p>
        </p:txBody>
      </p:sp>
      <p:sp>
        <p:nvSpPr>
          <p:cNvPr id="29" name="Shape 23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Foundry-Docs Stakeholder Overview</dc:title>
  <dc:subject>PptxGenJS Presentation</dc:subject>
  <dc:creator>Slide Deck Maintainer (Agentic)</dc:creator>
  <cp:lastModifiedBy>Slide Deck Maintainer (Agentic)</cp:lastModifiedBy>
  <cp:revision>1</cp:revision>
  <dcterms:created xsi:type="dcterms:W3CDTF">2026-05-04T08:45:48Z</dcterms:created>
  <dcterms:modified xsi:type="dcterms:W3CDTF">2026-05-04T08:45:48Z</dcterms:modified>
</cp:coreProperties>
</file>