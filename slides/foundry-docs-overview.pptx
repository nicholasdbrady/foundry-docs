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Sheet1!$A$2:$A$17</c:f>
              <c:multiLvlStrCache>
                <c:ptCount val="16"/>
                <c:lvl>
                  <c:pt idx="0">
                    <c:v>Glossary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Dev Experience</c:v>
                  </c:pt>
                  <c:pt idx="9">
                    <c:v>Guardrails</c:v>
                  </c:pt>
                  <c:pt idx="10">
                    <c:v>API &amp; SDK</c:v>
                  </c:pt>
                  <c:pt idx="11">
                    <c:v>Security</c:v>
                  </c:pt>
                  <c:pt idx="12">
                    <c:v>Setup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5</c:v>
                </c:pt>
                <c:pt idx="5">
                  <c:v>8</c:v>
                </c:pt>
                <c:pt idx="6">
                  <c:v>8</c:v>
                </c:pt>
                <c:pt idx="7">
                  <c:v>9</c:v>
                </c:pt>
                <c:pt idx="8">
                  <c:v>11</c:v>
                </c:pt>
                <c:pt idx="9">
                  <c:v>15</c:v>
                </c:pt>
                <c:pt idx="10">
                  <c:v>17</c:v>
                </c:pt>
                <c:pt idx="11">
                  <c:v>20</c:v>
                </c:pt>
                <c:pt idx="12">
                  <c:v>20</c:v>
                </c:pt>
                <c:pt idx="13">
                  <c:v>24</c:v>
                </c:pt>
                <c:pt idx="14">
                  <c:v>60</c:v>
                </c:pt>
                <c:pt idx="15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docs  ·  29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280 Pages Across 16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docs-vnext: History &amp; Impact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69264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pipeline launch to a living, agent-maintained documentation surface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196596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153619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43560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411480" y="2011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" y="23042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16 sections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487168" y="1389888"/>
            <a:ext cx="196596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87168" y="138988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2616" y="153619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127248" y="143560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</a:t>
            </a:r>
            <a:endParaRPr lang="en-US" sz="3400" dirty="0"/>
          </a:p>
        </p:txBody>
      </p:sp>
      <p:sp>
        <p:nvSpPr>
          <p:cNvPr id="15" name="Text 11"/>
          <p:cNvSpPr/>
          <p:nvPr/>
        </p:nvSpPr>
        <p:spPr>
          <a:xfrm>
            <a:off x="2578608" y="2011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Agent-Only Pages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578608" y="23042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 canonical docs/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4654296" y="1389888"/>
            <a:ext cx="1965960" cy="141732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54296" y="138988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536192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94376" y="143560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4745736" y="2011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docs/ Total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745736" y="23042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canonical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6821424" y="1389888"/>
            <a:ext cx="196596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821424" y="1389888"/>
            <a:ext cx="196596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1536192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61504" y="1435608"/>
            <a:ext cx="1234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18+</a:t>
            </a:r>
            <a:endParaRPr lang="en-US" sz="3400" dirty="0"/>
          </a:p>
        </p:txBody>
      </p:sp>
      <p:sp>
        <p:nvSpPr>
          <p:cNvPr id="27" name="Text 21"/>
          <p:cNvSpPr/>
          <p:nvPr/>
        </p:nvSpPr>
        <p:spPr>
          <a:xfrm>
            <a:off x="6912864" y="20116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PRs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6912864" y="230428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by agents</a:t>
            </a:r>
            <a:endParaRPr lang="en-US" sz="950" dirty="0"/>
          </a:p>
        </p:txBody>
      </p:sp>
      <p:sp>
        <p:nvSpPr>
          <p:cNvPr id="29" name="Text 23"/>
          <p:cNvSpPr/>
          <p:nvPr/>
        </p:nvSpPr>
        <p:spPr>
          <a:xfrm>
            <a:off x="365760" y="297180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300" dirty="0"/>
          </a:p>
        </p:txBody>
      </p:sp>
      <p:sp>
        <p:nvSpPr>
          <p:cNvPr id="30" name="Shape 24"/>
          <p:cNvSpPr/>
          <p:nvPr/>
        </p:nvSpPr>
        <p:spPr>
          <a:xfrm>
            <a:off x="685800" y="3337560"/>
            <a:ext cx="0" cy="1536192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12064" y="3346704"/>
            <a:ext cx="347472" cy="3474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383280"/>
            <a:ext cx="219456" cy="219456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987552" y="33101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2, 2026  ·  PR #23</a:t>
            </a:r>
            <a:endParaRPr lang="en-US" sz="950" dirty="0"/>
          </a:p>
        </p:txBody>
      </p:sp>
      <p:sp>
        <p:nvSpPr>
          <p:cNvPr id="34" name="Text 27"/>
          <p:cNvSpPr/>
          <p:nvPr/>
        </p:nvSpPr>
        <p:spPr>
          <a:xfrm>
            <a:off x="3401568" y="33101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unbloat — cloud-evaluation.mdx · −232 words (7%) · −10 bullets (34%)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512064" y="3739896"/>
            <a:ext cx="347472" cy="3474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776472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987552" y="37033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 2, 2026  ·  PR #28</a:t>
            </a:r>
            <a:endParaRPr lang="en-US" sz="950" dirty="0"/>
          </a:p>
        </p:txBody>
      </p:sp>
      <p:sp>
        <p:nvSpPr>
          <p:cNvPr id="38" name="Text 30"/>
          <p:cNvSpPr/>
          <p:nvPr/>
        </p:nvSpPr>
        <p:spPr>
          <a:xfrm>
            <a:off x="3401568" y="370332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created from scratch — 35 terms, 16 alpha sections, 0→1 reference page</a:t>
            </a:r>
            <a:endParaRPr lang="en-US" sz="1050" dirty="0"/>
          </a:p>
        </p:txBody>
      </p:sp>
      <p:sp>
        <p:nvSpPr>
          <p:cNvPr id="39" name="Shape 31"/>
          <p:cNvSpPr/>
          <p:nvPr/>
        </p:nvSpPr>
        <p:spPr>
          <a:xfrm>
            <a:off x="512064" y="4133088"/>
            <a:ext cx="347472" cy="3474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4"/>
            <a:ext cx="219456" cy="219456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987552" y="4096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May 21, 2026  ·  PR #346</a:t>
            </a:r>
            <a:endParaRPr lang="en-US" sz="950" dirty="0"/>
          </a:p>
        </p:txBody>
      </p:sp>
      <p:sp>
        <p:nvSpPr>
          <p:cNvPr id="42" name="Text 33"/>
          <p:cNvSpPr/>
          <p:nvPr/>
        </p:nvSpPr>
        <p:spPr>
          <a:xfrm>
            <a:off x="3401568" y="40965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pivot conversion — MS Learn Tabs → Mintlify Tabs across 10+ pages</a:t>
            </a:r>
            <a:endParaRPr lang="en-US" sz="1050" dirty="0"/>
          </a:p>
        </p:txBody>
      </p:sp>
      <p:sp>
        <p:nvSpPr>
          <p:cNvPr id="43" name="Shape 34"/>
          <p:cNvSpPr/>
          <p:nvPr/>
        </p:nvSpPr>
        <p:spPr>
          <a:xfrm>
            <a:off x="512064" y="4526280"/>
            <a:ext cx="347472" cy="347472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562856"/>
            <a:ext cx="219456" cy="219456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987552" y="44897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Jun 5, 2026  ·  PR #408</a:t>
            </a:r>
            <a:endParaRPr lang="en-US" sz="950" dirty="0"/>
          </a:p>
        </p:txBody>
      </p:sp>
      <p:sp>
        <p:nvSpPr>
          <p:cNvPr id="46" name="Text 36"/>
          <p:cNvSpPr/>
          <p:nvPr/>
        </p:nvSpPr>
        <p:spPr>
          <a:xfrm>
            <a:off x="3401568" y="448970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propagation — 32 new files added to docs-vnext in one run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A — Upstream Docs Sync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2608" y="1389888"/>
            <a:ext cx="1554480" cy="1115568"/>
          </a:xfrm>
          <a:prstGeom prst="rect">
            <a:avLst/>
          </a:prstGeom>
          <a:solidFill>
            <a:srgbClr val="01363D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1389888"/>
            <a:ext cx="1554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53619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1481328"/>
            <a:ext cx="987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commit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84048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883664" y="1947672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075688" y="1389888"/>
            <a:ext cx="1554480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075688" y="1389888"/>
            <a:ext cx="1554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5416" y="153619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87752" y="1481328"/>
            <a:ext cx="987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#421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2167128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upstream-sync label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3666744" y="1947672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858768" y="1389888"/>
            <a:ext cx="1554480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58768" y="1389888"/>
            <a:ext cx="1554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8496" y="153619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370832" y="1481328"/>
            <a:ext cx="987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 runs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3950208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 pipeline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449824" y="1947672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641848" y="1389888"/>
            <a:ext cx="1554480" cy="11155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641848" y="1389888"/>
            <a:ext cx="1554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1576" y="153619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153912" y="1481328"/>
            <a:ext cx="987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post-sync-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updater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733288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diffs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232904" y="1947672"/>
            <a:ext cx="164592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7424928" y="1389888"/>
            <a:ext cx="1554480" cy="1115568"/>
          </a:xfrm>
          <a:prstGeom prst="rect">
            <a:avLst/>
          </a:prstGeom>
          <a:solidFill>
            <a:srgbClr val="00A896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424928" y="1389888"/>
            <a:ext cx="15544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4656" y="1536192"/>
            <a:ext cx="347472" cy="347472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936992" y="1481328"/>
            <a:ext cx="987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#408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050" dirty="0"/>
          </a:p>
        </p:txBody>
      </p:sp>
      <p:sp>
        <p:nvSpPr>
          <p:cNvPr id="33" name="Text 26"/>
          <p:cNvSpPr/>
          <p:nvPr/>
        </p:nvSpPr>
        <p:spPr>
          <a:xfrm>
            <a:off x="7516368" y="21396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+32 new files</a:t>
            </a:r>
            <a:endParaRPr lang="en-US" sz="850" dirty="0"/>
          </a:p>
        </p:txBody>
      </p:sp>
      <p:sp>
        <p:nvSpPr>
          <p:cNvPr id="34" name="Text 27"/>
          <p:cNvSpPr/>
          <p:nvPr/>
        </p:nvSpPr>
        <p:spPr>
          <a:xfrm>
            <a:off x="365760" y="26883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Chain B — SDK Release Alert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292608" y="3035808"/>
            <a:ext cx="2011680" cy="10515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" y="3236976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22960" y="3108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 SDK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2.0.0-beta.2</a:t>
            </a:r>
            <a:endParaRPr lang="en-US" sz="1050" dirty="0"/>
          </a:p>
        </p:txBody>
      </p:sp>
      <p:sp>
        <p:nvSpPr>
          <p:cNvPr id="38" name="Text 30"/>
          <p:cNvSpPr/>
          <p:nvPr/>
        </p:nvSpPr>
        <p:spPr>
          <a:xfrm>
            <a:off x="384048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azure-sdk-for-java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2359152" y="3561588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2596896" y="3035808"/>
            <a:ext cx="2011680" cy="105156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4912" y="3236976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/>
          <p:nvPr/>
        </p:nvSpPr>
        <p:spPr>
          <a:xfrm>
            <a:off x="3127248" y="3108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 #53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created</a:t>
            </a:r>
            <a:endParaRPr lang="en-US" sz="1050" dirty="0"/>
          </a:p>
        </p:txBody>
      </p:sp>
      <p:sp>
        <p:nvSpPr>
          <p:cNvPr id="43" name="Text 34"/>
          <p:cNvSpPr/>
          <p:nvPr/>
        </p:nvSpPr>
        <p:spPr>
          <a:xfrm>
            <a:off x="2688336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sdk-update label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4663440" y="3561588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45" name="Shape 36"/>
          <p:cNvSpPr/>
          <p:nvPr/>
        </p:nvSpPr>
        <p:spPr>
          <a:xfrm>
            <a:off x="4901184" y="3035808"/>
            <a:ext cx="2011680" cy="10515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4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236976"/>
            <a:ext cx="347472" cy="347472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5431536" y="3108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Breaking changes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assessed</a:t>
            </a:r>
            <a:endParaRPr lang="en-US" sz="1050" dirty="0"/>
          </a:p>
        </p:txBody>
      </p:sp>
      <p:sp>
        <p:nvSpPr>
          <p:cNvPr id="48" name="Text 38"/>
          <p:cNvSpPr/>
          <p:nvPr/>
        </p:nvSpPr>
        <p:spPr>
          <a:xfrm>
            <a:off x="4992624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impact areas</a:t>
            </a:r>
            <a:endParaRPr lang="en-US" sz="850" dirty="0"/>
          </a:p>
        </p:txBody>
      </p:sp>
      <p:sp>
        <p:nvSpPr>
          <p:cNvPr id="49" name="Shape 39"/>
          <p:cNvSpPr/>
          <p:nvPr/>
        </p:nvSpPr>
        <p:spPr>
          <a:xfrm>
            <a:off x="6967728" y="3561588"/>
            <a:ext cx="201168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50" name="Shape 40"/>
          <p:cNvSpPr/>
          <p:nvPr/>
        </p:nvSpPr>
        <p:spPr>
          <a:xfrm>
            <a:off x="7205472" y="3035808"/>
            <a:ext cx="2011680" cy="10515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5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33488" y="3236976"/>
            <a:ext cx="347472" cy="347472"/>
          </a:xfrm>
          <a:prstGeom prst="rect">
            <a:avLst/>
          </a:prstGeom>
        </p:spPr>
      </p:pic>
      <p:sp>
        <p:nvSpPr>
          <p:cNvPr id="52" name="Text 41"/>
          <p:cNvSpPr/>
          <p:nvPr/>
        </p:nvSpPr>
        <p:spPr>
          <a:xfrm>
            <a:off x="7735824" y="31089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 impact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050" dirty="0"/>
          </a:p>
        </p:txBody>
      </p:sp>
      <p:sp>
        <p:nvSpPr>
          <p:cNvPr id="53" name="Text 42"/>
          <p:cNvSpPr/>
          <p:nvPr/>
        </p:nvSpPr>
        <p:spPr>
          <a:xfrm>
            <a:off x="7296912" y="373075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docs-vnext/</a:t>
            </a:r>
            <a:endParaRPr lang="en-US" sz="850" dirty="0"/>
          </a:p>
        </p:txBody>
      </p:sp>
      <p:sp>
        <p:nvSpPr>
          <p:cNvPr id="54" name="Shape 43"/>
          <p:cNvSpPr/>
          <p:nvPr/>
        </p:nvSpPr>
        <p:spPr>
          <a:xfrm>
            <a:off x="0" y="4773168"/>
            <a:ext cx="9144000" cy="370332"/>
          </a:xfrm>
          <a:prstGeom prst="rect">
            <a:avLst/>
          </a:prstGeom>
          <a:solidFill>
            <a:srgbClr val="F2FAFA"/>
          </a:solidFill>
          <a:ln w="12700">
            <a:solidFill>
              <a:srgbClr val="F2FAFA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365760" y="482803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#53: Java 2.0.0-beta.2 · Index → AIProjectIndex rename · DayOfWeek type change · FoundryFeaturesOptInKeys removed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Content Improvements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4160520" cy="38404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24128"/>
            <a:ext cx="416052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070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225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#28 — Glossary Created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097280" y="16184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glossary-maintainer · Mar 2, 2026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1984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1 reference page generated in a single agent run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21208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21208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21208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defined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1837944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837944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1837944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sections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154680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154680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3154680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scanned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02920" y="338328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Core Foundry — Agent · Foundry Resource · RBAC · Guardrails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02920" y="3712464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MCP Ecosystem — MCP · FastMCP · MCP Gateway · docs-vnext · Mintlify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02920" y="40416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Search &amp; Retrieval — RAG · Hybrid Search · Vector Search · TF-IDF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02920" y="4370832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Evaluation — Evaluator · Hit@K · MRR · A/B/C/D eval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024128"/>
            <a:ext cx="4160520" cy="38404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663440" y="1024128"/>
            <a:ext cx="416052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07008"/>
            <a:ext cx="475488" cy="4754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5440680" y="12252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#23 — Unbloat cloud-evaluation.mdx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5440680" y="16184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unbloat-docs · Mar 1, 2026 · MERGED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4846320" y="1984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identified 7 types of documentation bloat in one pass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4864608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864608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−232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4864608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(−7%)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6181344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181344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−29</a:t>
            </a:r>
            <a:endParaRPr lang="en-US" sz="2600" dirty="0"/>
          </a:p>
        </p:txBody>
      </p:sp>
      <p:sp>
        <p:nvSpPr>
          <p:cNvPr id="34" name="Text 30"/>
          <p:cNvSpPr/>
          <p:nvPr/>
        </p:nvSpPr>
        <p:spPr>
          <a:xfrm>
            <a:off x="6181344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(−3%)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7498080" y="2377440"/>
            <a:ext cx="1207008" cy="822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498080" y="2414016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−10</a:t>
            </a:r>
            <a:endParaRPr lang="en-US" sz="2600" dirty="0"/>
          </a:p>
        </p:txBody>
      </p:sp>
      <p:sp>
        <p:nvSpPr>
          <p:cNvPr id="37" name="Text 33"/>
          <p:cNvSpPr/>
          <p:nvPr/>
        </p:nvSpPr>
        <p:spPr>
          <a:xfrm>
            <a:off x="7498080" y="2889504"/>
            <a:ext cx="1207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Bullets (−35%)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4846320" y="338328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Duplicate paragraph — restating evaluator support info</a:t>
            </a:r>
            <a:endParaRPr lang="en-US" sz="950" dirty="0"/>
          </a:p>
        </p:txBody>
      </p:sp>
      <p:sp>
        <p:nvSpPr>
          <p:cNvPr id="39" name="Text 35"/>
          <p:cNvSpPr/>
          <p:nvPr/>
        </p:nvSpPr>
        <p:spPr>
          <a:xfrm>
            <a:off x="4846320" y="365760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4× repetitive 'Before you begin' Tip callouts removed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846320" y="3931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Trivial tip removed — 'use same code' adds no value</a:t>
            </a:r>
            <a:endParaRPr lang="en-US" sz="950" dirty="0"/>
          </a:p>
        </p:txBody>
      </p:sp>
      <p:sp>
        <p:nvSpPr>
          <p:cNvPr id="41" name="Text 37"/>
          <p:cNvSpPr/>
          <p:nvPr/>
        </p:nvSpPr>
        <p:spPr>
          <a:xfrm>
            <a:off x="4846320" y="420624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Verbose bullets → prose (Rate limit errors section)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4846320" y="448056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✂  5-bullet Interpret Results schema → concise table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claude-sonnet-4.6 · 2026-06-14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3258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FastMCP docs/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(0.888) vs docs/ (0.895), δ=−0.007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➖ NO DIFFERENCE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(0.888), δ=+0.000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(0.889), δ=−0.001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B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✅ SUPPORTED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consistent across claude-sonnet-4.6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1474013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—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47401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1167872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 —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1167872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0.853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528499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0.973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getting-started (0.880 vs 0.827) — opportunity: improve infra-security coverage (0.853 vs 0.940 for canonical docs/)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280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16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infra-security docs coverage — current weak spot (0.853 vs 0.940 for docs/)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agentic PR merge rate — build review confidence with automated pre-checks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eval harness to multi-model coverage and additional query categories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2026-06-15T11:27:23Z</dcterms:created>
  <dcterms:modified xsi:type="dcterms:W3CDTF">2026-06-15T11:27:24Z</dcterms:modified>
</cp:coreProperties>
</file>