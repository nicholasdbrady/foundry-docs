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Pages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Sheet1!$A$2:$A$19</c:f>
              <c:multiLvlStrCache>
                <c:ptCount val="18"/>
                <c:lvl>
                  <c:pt idx="0">
                    <c:v>What Is Microsoft Foundry</c:v>
                  </c:pt>
                  <c:pt idx="1">
                    <c:v>Reference</c:v>
                  </c:pt>
                  <c:pt idx="2">
                    <c:v>Overview</c:v>
                  </c:pt>
                  <c:pt idx="3">
                    <c:v>Get Started</c:v>
                  </c:pt>
                  <c:pt idx="4">
                    <c:v>Best Practices</c:v>
                  </c:pt>
                  <c:pt idx="5">
                    <c:v>Operate</c:v>
                  </c:pt>
                  <c:pt idx="6">
                    <c:v>Responsible Ai</c:v>
                  </c:pt>
                  <c:pt idx="7">
                    <c:v>Manage</c:v>
                  </c:pt>
                  <c:pt idx="8">
                    <c:v>Api Sdk</c:v>
                  </c:pt>
                  <c:pt idx="9">
                    <c:v>Guardrails</c:v>
                  </c:pt>
                  <c:pt idx="10">
                    <c:v>Developer Experience</c:v>
                  </c:pt>
                  <c:pt idx="11">
                    <c:v>Setup</c:v>
                  </c:pt>
                  <c:pt idx="12">
                    <c:v>Security</c:v>
                  </c:pt>
                  <c:pt idx="13">
                    <c:v>Observability</c:v>
                  </c:pt>
                  <c:pt idx="14">
                    <c:v>Agents</c:v>
                  </c:pt>
                  <c:pt idx="15">
                    <c:v>Models</c:v>
                  </c:pt>
                  <c:pt idx="16">
                    <c:v>Agent Service</c:v>
                  </c:pt>
                  <c:pt idx="17">
                    <c:v>Foundry Models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3</c:v>
                </c:pt>
                <c:pt idx="3">
                  <c:v>7</c:v>
                </c:pt>
                <c:pt idx="4">
                  <c:v>7</c:v>
                </c:pt>
                <c:pt idx="5">
                  <c:v>8</c:v>
                </c:pt>
                <c:pt idx="6">
                  <c:v>10</c:v>
                </c:pt>
                <c:pt idx="7">
                  <c:v>10</c:v>
                </c:pt>
                <c:pt idx="8">
                  <c:v>17</c:v>
                </c:pt>
                <c:pt idx="9">
                  <c:v>19</c:v>
                </c:pt>
                <c:pt idx="10">
                  <c:v>21</c:v>
                </c:pt>
                <c:pt idx="11">
                  <c:v>22</c:v>
                </c:pt>
                <c:pt idx="12">
                  <c:v>24</c:v>
                </c:pt>
                <c:pt idx="13">
                  <c:v>31</c:v>
                </c:pt>
                <c:pt idx="14">
                  <c:v>63</c:v>
                </c:pt>
                <c:pt idx="15">
                  <c:v>75</c:v>
                </c:pt>
                <c:pt idx="16">
                  <c:v>95</c:v>
                </c:pt>
                <c:pt idx="17">
                  <c:v>112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E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5E8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808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A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114800" cy="4114800"/>
          </a:xfrm>
          <a:prstGeom prst="ellipse">
            <a:avLst/>
          </a:prstGeom>
          <a:solidFill>
            <a:srgbClr val="028090">
              <a:alpha val="22000"/>
            </a:srgbClr>
          </a:solidFill>
          <a:ln w="12700">
            <a:solidFill>
              <a:srgbClr val="028090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2560320"/>
            <a:ext cx="2011680" cy="2011680"/>
          </a:xfrm>
          <a:prstGeom prst="ellipse">
            <a:avLst/>
          </a:prstGeom>
          <a:solidFill>
            <a:srgbClr val="00A896">
              <a:alpha val="18000"/>
            </a:srgbClr>
          </a:solidFill>
          <a:ln w="12700">
            <a:solidFill>
              <a:srgbClr val="00A896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80160"/>
            <a:ext cx="164592" cy="2011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Foundry-Docs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Documentation Platform for Microsoft Foundry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526 docs  ·  29 agentic workflows  ·  4 SDK repos monitored  ·  FastMCP server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Foundry-Docs?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FastMCP server that extracts, converts, and serves Microsoft Foundry documentation to AI assistants — with a fleet of autonomous agents keeping it accurate and up to date.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01168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066544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0116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search_docs(query)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24942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8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full-text + vector search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1480" y="267004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2724912"/>
            <a:ext cx="246888" cy="2468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67004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get_doc(path)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14400" y="29077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8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 specific doc by path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11480" y="332841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383280"/>
            <a:ext cx="246888" cy="2468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" y="332841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list_sections()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14400" y="356616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8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all TOC sections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11480" y="3986784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4041648"/>
            <a:ext cx="246888" cy="2468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4400" y="398678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get_section(section)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914400" y="42245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8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docs in a section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349240" y="256032"/>
            <a:ext cx="3566160" cy="4636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502920"/>
            <a:ext cx="1371600" cy="1371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49240" y="1965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FastMCP Server</a:t>
            </a:r>
            <a:endParaRPr lang="en-US" sz="1800" dirty="0"/>
          </a:p>
        </p:txBody>
      </p:sp>
      <p:sp>
        <p:nvSpPr>
          <p:cNvPr id="24" name="Text 17"/>
          <p:cNvSpPr/>
          <p:nvPr/>
        </p:nvSpPr>
        <p:spPr>
          <a:xfrm>
            <a:off x="5349240" y="24505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Microsoft Foundry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via MCP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5394960" y="3246120"/>
            <a:ext cx="1097280" cy="1371600"/>
          </a:xfrm>
          <a:prstGeom prst="rect">
            <a:avLst/>
          </a:prstGeom>
          <a:solidFill>
            <a:srgbClr val="01363D"/>
          </a:solidFill>
          <a:ln w="12700">
            <a:solidFill>
              <a:srgbClr val="01363D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394960" y="33375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526</a:t>
            </a:r>
            <a:endParaRPr lang="en-US" sz="2600" dirty="0"/>
          </a:p>
        </p:txBody>
      </p:sp>
      <p:sp>
        <p:nvSpPr>
          <p:cNvPr id="27" name="Text 20"/>
          <p:cNvSpPr/>
          <p:nvPr/>
        </p:nvSpPr>
        <p:spPr>
          <a:xfrm>
            <a:off x="5394960" y="395020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MDX Pages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583680" y="3246120"/>
            <a:ext cx="1097280" cy="1371600"/>
          </a:xfrm>
          <a:prstGeom prst="rect">
            <a:avLst/>
          </a:prstGeom>
          <a:solidFill>
            <a:srgbClr val="01363D"/>
          </a:solidFill>
          <a:ln w="12700">
            <a:solidFill>
              <a:srgbClr val="01363D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583680" y="33375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2600" dirty="0"/>
          </a:p>
        </p:txBody>
      </p:sp>
      <p:sp>
        <p:nvSpPr>
          <p:cNvPr id="30" name="Text 23"/>
          <p:cNvSpPr/>
          <p:nvPr/>
        </p:nvSpPr>
        <p:spPr>
          <a:xfrm>
            <a:off x="6583680" y="395020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Sections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7772400" y="3246120"/>
            <a:ext cx="1097280" cy="1371600"/>
          </a:xfrm>
          <a:prstGeom prst="rect">
            <a:avLst/>
          </a:prstGeom>
          <a:solidFill>
            <a:srgbClr val="01363D"/>
          </a:solidFill>
          <a:ln w="12700">
            <a:solidFill>
              <a:srgbClr val="01363D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7772400" y="33375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</a:t>
            </a:r>
            <a:endParaRPr lang="en-US" sz="2600" dirty="0"/>
          </a:p>
        </p:txBody>
      </p:sp>
      <p:sp>
        <p:nvSpPr>
          <p:cNvPr id="33" name="Text 26"/>
          <p:cNvSpPr/>
          <p:nvPr/>
        </p:nvSpPr>
        <p:spPr>
          <a:xfrm>
            <a:off x="7772400" y="395020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Mode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4747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417320" cy="1005840"/>
          </a:xfrm>
          <a:prstGeom prst="rect">
            <a:avLst/>
          </a:prstGeom>
          <a:solidFill>
            <a:srgbClr val="01363D"/>
          </a:solidFill>
          <a:ln w="12700">
            <a:solidFill>
              <a:srgbClr val="01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4630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MicrosoftDocs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upstream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20299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azure-ai-docs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37360" y="1874520"/>
            <a:ext cx="3200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1792224"/>
            <a:ext cx="109728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1371600"/>
            <a:ext cx="141732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03120" y="14630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03120" y="20299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66160" y="1874520"/>
            <a:ext cx="3200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1792224"/>
            <a:ext cx="109728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31920" y="1371600"/>
            <a:ext cx="1417320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31920" y="14630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docs-vnext/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31920" y="20299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1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526 MDX pages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94960" y="1874520"/>
            <a:ext cx="3200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0" y="1792224"/>
            <a:ext cx="109728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1371600"/>
            <a:ext cx="141732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60720" y="14630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FastMCP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60720" y="20299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foundry_docs_mcp/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23760" y="1874520"/>
            <a:ext cx="3200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0" y="1792224"/>
            <a:ext cx="109728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1371600"/>
            <a:ext cx="1417320" cy="1005840"/>
          </a:xfrm>
          <a:prstGeom prst="rect">
            <a:avLst/>
          </a:prstGeom>
          <a:solidFill>
            <a:srgbClr val="01363D"/>
          </a:solidFill>
          <a:ln w="12700">
            <a:solidFill>
              <a:srgbClr val="01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589520" y="14630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Assistants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IDEs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589520" y="20299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MCP protocol</a:t>
            </a:r>
            <a:endParaRPr lang="en-US" sz="10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98064"/>
            <a:ext cx="237744" cy="23774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40080" y="2743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 from upstream MicrosoftDocs 4×/day via GitHub Actions</a:t>
            </a:r>
            <a:endParaRPr lang="en-US" sz="135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291840"/>
            <a:ext cx="237744" cy="237744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40080" y="323697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MS Learn markdown to Mintlify MDX — callouts, tabs, code groups</a:t>
            </a:r>
            <a:endParaRPr lang="en-US" sz="135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785616"/>
            <a:ext cx="237744" cy="23774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40080" y="37307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workflows continuously improve accuracy, structure, and completeness</a:t>
            </a:r>
            <a:endParaRPr lang="en-US" sz="135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279392"/>
            <a:ext cx="237744" cy="23774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40080" y="42245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 server with hybrid Azure Search (keyword + vector + semantic reranking)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4747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Documentation Coverage — 526 Pages Across 18 Sections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85953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3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47472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 Agentic Workflows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AI agents maintaining docs automatically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2697480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54480"/>
            <a:ext cx="269748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71907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6968" y="1700784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 Monitoring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84632" y="2121408"/>
            <a:ext cx="2459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Upstream, SDK, community,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Reddit signals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18688" y="1554480"/>
            <a:ext cx="2697480" cy="1417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18688" y="1554480"/>
            <a:ext cx="269748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71907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85616" y="1700784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 Testing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383280" y="2121408"/>
            <a:ext cx="2459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Noob, viewport, search,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testbench, diff checks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17336" y="1554480"/>
            <a:ext cx="2697480" cy="1417320"/>
          </a:xfrm>
          <a:prstGeom prst="rect">
            <a:avLst/>
          </a:prstGeom>
          <a:solidFill>
            <a:srgbClr val="025E6A"/>
          </a:solidFill>
          <a:ln w="12700">
            <a:solidFill>
              <a:srgbClr val="025E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17336" y="1554480"/>
            <a:ext cx="269748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719072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84264" y="1700784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 Content Updates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281928" y="2121408"/>
            <a:ext cx="2459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Updater, unbloat, glossary,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changelog, model sync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320040" y="3154680"/>
            <a:ext cx="2697480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20040" y="3154680"/>
            <a:ext cx="269748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319272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86968" y="3300984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Quality Review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484632" y="3721608"/>
            <a:ext cx="2459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Auditor, PR reviewer,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post-merge verification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3218688" y="3154680"/>
            <a:ext cx="2697480" cy="1417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18688" y="3154680"/>
            <a:ext cx="269748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319272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785616" y="3300984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Community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3383280" y="3721608"/>
            <a:ext cx="2459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signals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issue triage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117336" y="3154680"/>
            <a:ext cx="2697480" cy="1417320"/>
          </a:xfrm>
          <a:prstGeom prst="rect">
            <a:avLst/>
          </a:prstGeom>
          <a:solidFill>
            <a:srgbClr val="025E6A"/>
          </a:solidFill>
          <a:ln w="12700">
            <a:solidFill>
              <a:srgbClr val="025E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17336" y="3154680"/>
            <a:ext cx="269748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3319272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84264" y="3300984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Operations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6281928" y="3721608"/>
            <a:ext cx="2459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maintenance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workflow orchestration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4747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Event-Driven Trigger Coverage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51760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39903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307592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84632" y="2167128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84632" y="2459736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opened/labeled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27832" y="1143000"/>
            <a:ext cx="2651760" cy="1645920"/>
          </a:xfrm>
          <a:prstGeom prst="rect">
            <a:avLst/>
          </a:prstGeom>
          <a:solidFill>
            <a:srgbClr val="01363D"/>
          </a:solidFill>
          <a:ln w="12700">
            <a:solidFill>
              <a:srgbClr val="01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39903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05072" y="1307592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5200" dirty="0"/>
          </a:p>
        </p:txBody>
      </p:sp>
      <p:sp>
        <p:nvSpPr>
          <p:cNvPr id="12" name="Text 8"/>
          <p:cNvSpPr/>
          <p:nvPr/>
        </p:nvSpPr>
        <p:spPr>
          <a:xfrm>
            <a:off x="3392424" y="2167128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Dispatch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92424" y="2459736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workflow_dispatch + repo_dispatch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35624" y="1143000"/>
            <a:ext cx="2651760" cy="1645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39903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12864" y="1307592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5200" dirty="0"/>
          </a:p>
        </p:txBody>
      </p:sp>
      <p:sp>
        <p:nvSpPr>
          <p:cNvPr id="17" name="Text 12"/>
          <p:cNvSpPr/>
          <p:nvPr/>
        </p:nvSpPr>
        <p:spPr>
          <a:xfrm>
            <a:off x="6300216" y="2167128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00216" y="2459736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daily/weekly cron jobs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20040" y="2990088"/>
            <a:ext cx="2651760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32461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97280" y="315468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5200" dirty="0"/>
          </a:p>
        </p:txBody>
      </p:sp>
      <p:sp>
        <p:nvSpPr>
          <p:cNvPr id="22" name="Text 16"/>
          <p:cNvSpPr/>
          <p:nvPr/>
        </p:nvSpPr>
        <p:spPr>
          <a:xfrm>
            <a:off x="484632" y="4014216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Pull Request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84632" y="430682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open/sync/merge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27832" y="2990088"/>
            <a:ext cx="2651760" cy="1645920"/>
          </a:xfrm>
          <a:prstGeom prst="rect">
            <a:avLst/>
          </a:prstGeom>
          <a:solidFill>
            <a:srgbClr val="01363D"/>
          </a:solidFill>
          <a:ln w="12700">
            <a:solidFill>
              <a:srgbClr val="01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24612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005072" y="315468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5200" dirty="0"/>
          </a:p>
        </p:txBody>
      </p:sp>
      <p:sp>
        <p:nvSpPr>
          <p:cNvPr id="27" name="Text 20"/>
          <p:cNvSpPr/>
          <p:nvPr/>
        </p:nvSpPr>
        <p:spPr>
          <a:xfrm>
            <a:off x="3392424" y="4014216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 Run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392424" y="430682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chained workflow triggers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35624" y="2990088"/>
            <a:ext cx="2651760" cy="1645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3246120"/>
            <a:ext cx="457200" cy="4572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912864" y="315468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5200" dirty="0"/>
          </a:p>
        </p:txBody>
      </p:sp>
      <p:sp>
        <p:nvSpPr>
          <p:cNvPr id="32" name="Text 24"/>
          <p:cNvSpPr/>
          <p:nvPr/>
        </p:nvSpPr>
        <p:spPr>
          <a:xfrm>
            <a:off x="6300216" y="4014216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300216" y="430682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main branch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4747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Assurance Pipeline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1920240" cy="3108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325880"/>
            <a:ext cx="640080" cy="6400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173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Pre-Merge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25877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on-push-docs-check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11480" y="30632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pr-docs-reviewer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304288" y="2697480"/>
            <a:ext cx="210312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60320" y="1143000"/>
            <a:ext cx="1920240" cy="3108960"/>
          </a:xfrm>
          <a:prstGeom prst="rect">
            <a:avLst/>
          </a:prstGeom>
          <a:solidFill>
            <a:srgbClr val="01363D"/>
          </a:solidFill>
          <a:ln w="12700">
            <a:solidFill>
              <a:srgbClr val="01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325880"/>
            <a:ext cx="640080" cy="6400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4173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6032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Post-Merge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651760" y="25877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post-merge-docs-verify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651760" y="30632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post-sync-updater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544568" y="2697480"/>
            <a:ext cx="210312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800600" y="1143000"/>
            <a:ext cx="1920240" cy="3108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40680" y="1325880"/>
            <a:ext cx="640080" cy="6400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41732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0060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 Healing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892040" y="25877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docs-auditor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4892040" y="30632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daily-doc-healer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4892040" y="35387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daily-doc-updater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784848" y="2697480"/>
            <a:ext cx="210312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040880" y="1143000"/>
            <a:ext cx="1920240" cy="3108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680960" y="1325880"/>
            <a:ext cx="640080" cy="6400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417320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04088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7132320" y="25877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docs-noob-tester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7132320" y="30632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375×812 · 768×1024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7132320" y="35387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1440×900 · search-test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365760" y="44622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8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merge triggers automated checks · Daily audits catch regressions · Noob testing validates first-time reader experience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4747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docs-vnext History &amp; Impact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8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activity snapshot through 2026-10-26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1572768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8988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393192" y="1874520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recent merged PRs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93192" y="2139696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docs-vnext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57400" y="1261872"/>
            <a:ext cx="1572768" cy="1234440"/>
          </a:xfrm>
          <a:prstGeom prst="rect">
            <a:avLst/>
          </a:prstGeom>
          <a:solidFill>
            <a:srgbClr val="01363D"/>
          </a:solidFill>
          <a:ln w="12700">
            <a:solidFill>
              <a:srgbClr val="01363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57400" y="138988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2130552" y="1874520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merges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130552" y="2139696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github-actions[bot]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94760" y="1261872"/>
            <a:ext cx="1572768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94760" y="138988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3867912" y="1874520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human/community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67912" y="2139696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the same snapshot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532120" y="1261872"/>
            <a:ext cx="1572768" cy="1234440"/>
          </a:xfrm>
          <a:prstGeom prst="rect">
            <a:avLst/>
          </a:prstGeom>
          <a:solidFill>
            <a:srgbClr val="01363D"/>
          </a:solidFill>
          <a:ln w="12700">
            <a:solidFill>
              <a:srgbClr val="01363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32120" y="138988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100+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5605272" y="1874520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closed automation issues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05272" y="2139696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page-size lower bound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269480" y="1261872"/>
            <a:ext cx="1572768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69480" y="138988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513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7342632" y="1874520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vnext-only paths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342632" y="2139696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526 current pages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5760" y="27614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Milestone timeline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1520" y="3337560"/>
            <a:ext cx="763524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2104" y="3172968"/>
            <a:ext cx="329184" cy="329184"/>
          </a:xfrm>
          <a:prstGeom prst="ellipse">
            <a:avLst/>
          </a:prstGeom>
          <a:solidFill>
            <a:srgbClr val="02C39A"/>
          </a:solidFill>
          <a:ln w="15240">
            <a:solidFill>
              <a:srgbClr val="01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8346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80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2026-02-28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3593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01752" y="3858768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 foundation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87752" y="3172968"/>
            <a:ext cx="329184" cy="329184"/>
          </a:xfrm>
          <a:prstGeom prst="ellipse">
            <a:avLst/>
          </a:prstGeom>
          <a:solidFill>
            <a:srgbClr val="02C39A"/>
          </a:solidFill>
          <a:ln w="15240">
            <a:solidFill>
              <a:srgbClr val="01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58568" y="28346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80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2026-03-02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258568" y="3593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#28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057400" y="3858768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35-term glossary created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343400" y="3172968"/>
            <a:ext cx="329184" cy="329184"/>
          </a:xfrm>
          <a:prstGeom prst="ellipse">
            <a:avLst/>
          </a:prstGeom>
          <a:solidFill>
            <a:srgbClr val="02C39A"/>
          </a:solidFill>
          <a:ln w="15240">
            <a:solidFill>
              <a:srgbClr val="01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14216" y="28346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80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2026-03-04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014216" y="3593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#46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813048" y="3858768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Product-pillar navigation reflow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099048" y="3172968"/>
            <a:ext cx="329184" cy="329184"/>
          </a:xfrm>
          <a:prstGeom prst="ellipse">
            <a:avLst/>
          </a:prstGeom>
          <a:solidFill>
            <a:srgbClr val="02C39A"/>
          </a:solidFill>
          <a:ln w="15240">
            <a:solidFill>
              <a:srgbClr val="01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69864" y="28346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80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2026-03-05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769864" y="3593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#58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568696" y="3858768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results added to deck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854696" y="3172968"/>
            <a:ext cx="329184" cy="329184"/>
          </a:xfrm>
          <a:prstGeom prst="ellipse">
            <a:avLst/>
          </a:prstGeom>
          <a:solidFill>
            <a:srgbClr val="02C39A"/>
          </a:solidFill>
          <a:ln w="15240">
            <a:solidFill>
              <a:srgbClr val="0136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25512" y="28346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80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2026-09-30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525512" y="3593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#1080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324344" y="3858768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corpus sync to 526 pages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02920" y="46177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8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upstream-sync and 14 SDK-update issues appear in the first 100 closed automation issues returned by the GitHub search snapshot.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13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Dive: Agentic Chain in Action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8778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trigger-to-result examples from #54 and #53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901952" cy="1417320"/>
          </a:xfrm>
          <a:prstGeom prst="rect">
            <a:avLst/>
          </a:prstGeom>
          <a:solidFill>
            <a:srgbClr val="025E6A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572768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63677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15544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docs-upstream-monitor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2336" y="20574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upstream commit 34b7019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94560" y="2121408"/>
            <a:ext cx="256032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87168" y="1417320"/>
            <a:ext cx="1901952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96896" y="1572768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96896" y="163677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54096" y="15544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 #54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15184" y="20574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use-blocklists.md (+1/-1)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07408" y="2121408"/>
            <a:ext cx="256032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700016" y="1417320"/>
            <a:ext cx="1901952" cy="1417320"/>
          </a:xfrm>
          <a:prstGeom prst="rect">
            <a:avLst/>
          </a:prstGeom>
          <a:solidFill>
            <a:srgbClr val="025E6A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9744" y="1572768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163677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66944" y="15544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sync-and-convert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28032" y="20574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Dispatched corpus refresh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20256" y="2121408"/>
            <a:ext cx="256032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912864" y="1417320"/>
            <a:ext cx="1901952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22592" y="1572768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22592" y="163677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79792" y="15544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post-sync-updater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0" y="20574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delta; PR or safe noop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182112"/>
            <a:ext cx="8412480" cy="1325880"/>
          </a:xfrm>
          <a:prstGeom prst="rect">
            <a:avLst/>
          </a:prstGeom>
          <a:solidFill>
            <a:srgbClr val="022C33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3493008"/>
            <a:ext cx="594360" cy="59436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417320" y="33649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SDK Release Monitor → Issue #53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1417320" y="3730752"/>
            <a:ext cx="4709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2.0.0-beta.2 detected: Index → AIProjectIndex, java.time.DayOfWeek migration, and removed agent preview flags.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6446520" y="34015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446520" y="3694176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 Index samples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D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  feature flags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D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 import change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02920" y="469087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8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IDs: upstream 22709537548 · SDK 22697908386 · outcomes recorded in issues; run durations are not exposed in the read-only issue records.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4747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Dive: Content Improvements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4069080" cy="3456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389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 #28 · Glossary Maintainer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773936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zero to 35 terms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66928" y="2395728"/>
            <a:ext cx="3657600" cy="502920"/>
          </a:xfrm>
          <a:prstGeom prst="rect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>
                <a:alpha val="1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52374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194 additions · 16 A–Z sections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309067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Scanned recent code and documentation commits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1792" y="352958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Covered Foundry, MCP, retrieval, evaluation, and tooling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1792" y="396849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Added a Reference navigation entry in one run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1170432"/>
            <a:ext cx="4069080" cy="3456432"/>
          </a:xfrm>
          <a:prstGeom prst="rect">
            <a:avLst/>
          </a:prstGeom>
          <a:solidFill>
            <a:srgbClr val="01363D"/>
          </a:solidFill>
          <a:ln w="12700">
            <a:solidFill>
              <a:srgbClr val="01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10328" y="1389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 #23 · Documentation Unbloat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10328" y="1773936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cloud-evaluation.mdx streamlined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910328" y="2395728"/>
            <a:ext cx="3657600" cy="502920"/>
          </a:xfrm>
          <a:prstGeom prst="rect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>
                <a:alpha val="1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01768" y="252374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−232 words · −10 bullets · −29 lines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65192" y="309067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Removed duplicate paragraphs and four repeated tip boxes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65192" y="352958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Converted verbose schema bullets into a reference table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65192" y="396849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Preserved code, links, technical detail, and callouts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473659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8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changes were generated by purpose-built workflows and merged after review, demonstrating creation and refinement—not just synchronization.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3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Harness Results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8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#1138 · 200 evaluations · 4 servers · 2 frontier models · 2026-10-11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5166360" cy="1737360"/>
        </p:xfrm>
        <a:graphic>
          <a:graphicData uri="http://schemas.openxmlformats.org/drawingml/2006/table">
            <a:tbl>
              <a:tblPr/>
              <a:tblGrid>
                <a:gridCol w="1828800"/>
                <a:gridCol w="1143000"/>
                <a:gridCol w="109728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claude-sonnet-5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docs-vnext/ 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2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2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2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2C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 baseline 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Learn 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80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Mintlify MCP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80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80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80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301752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Hypothesis Testing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0040" y="3401568"/>
            <a:ext cx="5166360" cy="320040"/>
          </a:xfrm>
          <a:prstGeom prst="rect">
            <a:avLst/>
          </a:prstGeom>
          <a:solidFill>
            <a:srgbClr val="022C33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8912" y="3447288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344728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SUPPORTED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084832" y="3456432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docs-vnext (0.880) vs docs/ (0.769), δ=+0.111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0040" y="3794760"/>
            <a:ext cx="5166360" cy="320040"/>
          </a:xfrm>
          <a:prstGeom prst="rect">
            <a:avLst/>
          </a:prstGeom>
          <a:solidFill>
            <a:srgbClr val="022C33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384048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H2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22960" y="38404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SUPPORTED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084832" y="3849624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Mintlify MCP (0.765), δ=+0.115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20040" y="4187952"/>
            <a:ext cx="5166360" cy="320040"/>
          </a:xfrm>
          <a:prstGeom prst="rect">
            <a:avLst/>
          </a:prstGeom>
          <a:solidFill>
            <a:srgbClr val="022C33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8912" y="4233672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H3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22960" y="423367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SUPPORTED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084832" y="4242816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MS Learn (0.768), δ=+0.112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20040" y="4581144"/>
            <a:ext cx="5166360" cy="320040"/>
          </a:xfrm>
          <a:prstGeom prst="rect">
            <a:avLst/>
          </a:prstGeom>
          <a:solidFill>
            <a:srgbClr val="022C33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8912" y="4626864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H4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22960" y="462686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MIXED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084832" y="463600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docs-vnext leads both models; lower ranks vary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687568" y="11887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Category Breakdown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687568" y="15727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agent-development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687568" y="1828800"/>
            <a:ext cx="2834640" cy="256032"/>
          </a:xfrm>
          <a:prstGeom prst="rect">
            <a:avLst/>
          </a:prstGeom>
          <a:solidFill>
            <a:srgbClr val="022C3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687568" y="1828800"/>
            <a:ext cx="702991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595360" y="18288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0.812 ▲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687568" y="223113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getting-started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687568" y="2487168"/>
            <a:ext cx="2834640" cy="256032"/>
          </a:xfrm>
          <a:prstGeom prst="rect">
            <a:avLst/>
          </a:prstGeom>
          <a:solidFill>
            <a:srgbClr val="022C3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687568" y="2487168"/>
            <a:ext cx="1167872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595360" y="24871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0.853 ▲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687568" y="28895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infra-security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687568" y="3145536"/>
            <a:ext cx="2834640" cy="256032"/>
          </a:xfrm>
          <a:prstGeom prst="rect">
            <a:avLst/>
          </a:prstGeom>
          <a:solidFill>
            <a:srgbClr val="022C3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687568" y="3145536"/>
            <a:ext cx="2381098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595360" y="314553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 ▲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687568" y="35478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observability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5687568" y="3803904"/>
            <a:ext cx="2834640" cy="256032"/>
          </a:xfrm>
          <a:prstGeom prst="rect">
            <a:avLst/>
          </a:prstGeom>
          <a:solidFill>
            <a:srgbClr val="022C3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687568" y="3803904"/>
            <a:ext cx="566928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595360" y="38039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 ▲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687568" y="42062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sdk-api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687568" y="4462272"/>
            <a:ext cx="2834640" cy="256032"/>
          </a:xfrm>
          <a:prstGeom prst="rect">
            <a:avLst/>
          </a:prstGeom>
          <a:solidFill>
            <a:srgbClr val="022C3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687568" y="4462272"/>
            <a:ext cx="2528499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595360" y="44622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0.973 ▲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65760" y="4791456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docs-vnext leads every measured category; the largest gains are infrastructure-security (+0.280) and agent-development (+0.135).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4747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 Integration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743200" cy="3520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62456" y="1344168"/>
            <a:ext cx="658368" cy="6583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3896" y="1435608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29768" y="213055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 Discussions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29768" y="262432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microsoft-foundry/discussions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48056" y="2990088"/>
            <a:ext cx="24871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Cross-repo repository_dispatch fires whenever a new discussion is posted. The agent reads context from cache-memory and determines if docs need updating or a response is warranted.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64408" y="1143000"/>
            <a:ext cx="2743200" cy="3520440"/>
          </a:xfrm>
          <a:prstGeom prst="rect">
            <a:avLst/>
          </a:prstGeom>
          <a:solidFill>
            <a:srgbClr val="01363D"/>
          </a:solidFill>
          <a:ln w="12700">
            <a:solidFill>
              <a:srgbClr val="01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06824" y="1344168"/>
            <a:ext cx="658368" cy="6583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264" y="1435608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74136" y="213055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 Feedback Responder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374136" y="262432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issue_comment events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392424" y="2990088"/>
            <a:ext cx="24871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responds to discussions referencing documentation gaps. Surfaces the most relevant docs and flags content needing improvement.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08776" y="1143000"/>
            <a:ext cx="2743200" cy="3520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51192" y="1344168"/>
            <a:ext cx="658368" cy="6583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2" y="1435608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18504" y="213055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Auto-Triage Issues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318504" y="262432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issues: opened, labeled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336792" y="2990088"/>
            <a:ext cx="24871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and triages new GitHub issues, routing documentation bugs to the appropriate agent workflows. Integrates with label-ops for structured labeling.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13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4747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SDK Release Monitoring — 4 Repos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new azure-ai-projects releases and assesses documentation impact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1920240" cy="2926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54480"/>
            <a:ext cx="19202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755648"/>
            <a:ext cx="658368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514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11480" y="298094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Azure/azure-sdk-for-python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93192" y="3346704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D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sdk/ai/azure-ai-projects/CHANGELOG.md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48640" y="3931920"/>
            <a:ext cx="1463040" cy="347472"/>
          </a:xfrm>
          <a:prstGeom prst="rect">
            <a:avLst/>
          </a:prstGeom>
          <a:solidFill>
            <a:srgbClr val="01363D"/>
          </a:solidFill>
          <a:ln w="12700">
            <a:solidFill>
              <a:srgbClr val="013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39776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CHANGELOG.md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587752" y="1554480"/>
            <a:ext cx="1920240" cy="2926080"/>
          </a:xfrm>
          <a:prstGeom prst="rect">
            <a:avLst/>
          </a:prstGeom>
          <a:solidFill>
            <a:srgbClr val="014A55"/>
          </a:solidFill>
          <a:ln w="12700">
            <a:solidFill>
              <a:srgbClr val="014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87752" y="1554480"/>
            <a:ext cx="19202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1755648"/>
            <a:ext cx="658368" cy="6583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87752" y="2514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JavaScript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2679192" y="298094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Azure/azure-sdk-for-js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2660904" y="3346704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D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sdk/ai/ai-projects/CHANGELOG.md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2816352" y="3931920"/>
            <a:ext cx="1463040" cy="347472"/>
          </a:xfrm>
          <a:prstGeom prst="rect">
            <a:avLst/>
          </a:prstGeom>
          <a:solidFill>
            <a:srgbClr val="01363D"/>
          </a:solidFill>
          <a:ln w="12700">
            <a:solidFill>
              <a:srgbClr val="01363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816352" y="39776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CHANGELOG.md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855464" y="1554480"/>
            <a:ext cx="1920240" cy="2926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855464" y="1554480"/>
            <a:ext cx="19202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755648"/>
            <a:ext cx="658368" cy="6583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855464" y="2514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.NET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4946904" y="298094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Azure/azure-sdk-for-net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4928616" y="3346704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D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sdk/ai/Azure.AI.Projects/CHANGELOG.md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5084064" y="3931920"/>
            <a:ext cx="1463040" cy="347472"/>
          </a:xfrm>
          <a:prstGeom prst="rect">
            <a:avLst/>
          </a:prstGeom>
          <a:solidFill>
            <a:srgbClr val="01363D"/>
          </a:solidFill>
          <a:ln w="12700">
            <a:solidFill>
              <a:srgbClr val="01363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084064" y="39776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CHANGELOG.md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7123176" y="1554480"/>
            <a:ext cx="1920240" cy="2926080"/>
          </a:xfrm>
          <a:prstGeom prst="rect">
            <a:avLst/>
          </a:prstGeom>
          <a:solidFill>
            <a:srgbClr val="025E6A"/>
          </a:solidFill>
          <a:ln w="12700">
            <a:solidFill>
              <a:srgbClr val="025E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123176" y="1554480"/>
            <a:ext cx="19202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755648"/>
            <a:ext cx="658368" cy="65836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123176" y="2514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</a:t>
            </a:r>
            <a:endParaRPr lang="en-US" sz="1800" dirty="0"/>
          </a:p>
        </p:txBody>
      </p:sp>
      <p:sp>
        <p:nvSpPr>
          <p:cNvPr id="33" name="Text 27"/>
          <p:cNvSpPr/>
          <p:nvPr/>
        </p:nvSpPr>
        <p:spPr>
          <a:xfrm>
            <a:off x="7214616" y="298094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Azure/azure-sdk-for-java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7196328" y="3346704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D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sdk/ai/azure-ai-projects/CHANGELOG.md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7351776" y="3931920"/>
            <a:ext cx="1463040" cy="347472"/>
          </a:xfrm>
          <a:prstGeom prst="rect">
            <a:avLst/>
          </a:prstGeom>
          <a:solidFill>
            <a:srgbClr val="01363D"/>
          </a:solidFill>
          <a:ln w="12700">
            <a:solidFill>
              <a:srgbClr val="01363D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7351776" y="39776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CHANGELOG.md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4747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 The Numbers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2651760" cy="1965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441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22529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526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22128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MDX Pages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5420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docs-vnext/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27832" y="1115568"/>
            <a:ext cx="2651760" cy="1965960"/>
          </a:xfrm>
          <a:prstGeom prst="rect">
            <a:avLst/>
          </a:prstGeom>
          <a:solidFill>
            <a:srgbClr val="01363D"/>
          </a:solidFill>
          <a:ln w="12700">
            <a:solidFill>
              <a:srgbClr val="01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344168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59352" y="122529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</a:t>
            </a:r>
            <a:endParaRPr lang="en-US" sz="5200" dirty="0"/>
          </a:p>
        </p:txBody>
      </p:sp>
      <p:sp>
        <p:nvSpPr>
          <p:cNvPr id="12" name="Text 8"/>
          <p:cNvSpPr/>
          <p:nvPr/>
        </p:nvSpPr>
        <p:spPr>
          <a:xfrm>
            <a:off x="3364992" y="22128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Workflows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64992" y="25420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.md definitions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35624" y="1115568"/>
            <a:ext cx="2651760" cy="1965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344168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67144" y="122529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513</a:t>
            </a:r>
            <a:endParaRPr lang="en-US" sz="5200" dirty="0"/>
          </a:p>
        </p:txBody>
      </p:sp>
      <p:sp>
        <p:nvSpPr>
          <p:cNvPr id="17" name="Text 12"/>
          <p:cNvSpPr/>
          <p:nvPr/>
        </p:nvSpPr>
        <p:spPr>
          <a:xfrm>
            <a:off x="6272784" y="22128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Vnext-Only Paths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72784" y="25420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to canonical docs/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20040" y="3264408"/>
            <a:ext cx="2651760" cy="1965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493008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337413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5200" dirty="0"/>
          </a:p>
        </p:txBody>
      </p:sp>
      <p:sp>
        <p:nvSpPr>
          <p:cNvPr id="22" name="Text 16"/>
          <p:cNvSpPr/>
          <p:nvPr/>
        </p:nvSpPr>
        <p:spPr>
          <a:xfrm>
            <a:off x="457200" y="43616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Slash Commands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57200" y="46908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/audit /unbloat /sdk-check…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27832" y="3264408"/>
            <a:ext cx="2651760" cy="1965960"/>
          </a:xfrm>
          <a:prstGeom prst="rect">
            <a:avLst/>
          </a:prstGeom>
          <a:solidFill>
            <a:srgbClr val="01363D"/>
          </a:solidFill>
          <a:ln w="12700">
            <a:solidFill>
              <a:srgbClr val="01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3493008"/>
            <a:ext cx="438912" cy="43891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959352" y="337413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0.880</a:t>
            </a:r>
            <a:endParaRPr lang="en-US" sz="5200" dirty="0"/>
          </a:p>
        </p:txBody>
      </p:sp>
      <p:sp>
        <p:nvSpPr>
          <p:cNvPr id="27" name="Text 20"/>
          <p:cNvSpPr/>
          <p:nvPr/>
        </p:nvSpPr>
        <p:spPr>
          <a:xfrm>
            <a:off x="3364992" y="43616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Latest Eval Score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364992" y="46908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+0.111 over docs/ baseline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135624" y="3264408"/>
            <a:ext cx="2651760" cy="1965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504" y="3493008"/>
            <a:ext cx="438912" cy="43891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867144" y="337413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5200" dirty="0"/>
          </a:p>
        </p:txBody>
      </p:sp>
      <p:sp>
        <p:nvSpPr>
          <p:cNvPr id="32" name="Text 24"/>
          <p:cNvSpPr/>
          <p:nvPr/>
        </p:nvSpPr>
        <p:spPr>
          <a:xfrm>
            <a:off x="6272784" y="43616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PR Merges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272784" y="46908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30-PR snapshot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13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004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Next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11480" y="1243584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28016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234440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observability and evaluation coverage—the prior weak spot is now positive but still trails top categories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480" y="1865376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90195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1856232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the agentic PR merge rate with tighter issue-to-PR traceability and reviewer-ready evidence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11480" y="2487168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52374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247802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evaluation scenarios across new models, tool-discovery states, and multi-turn operational tasks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11480" y="3108960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145536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0120" y="3099816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quality and operational metrics together: score, turns, tool calls, latency, and errors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411480" y="3730752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767328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60120" y="372160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high-impact content gaps surfaced by community, upstream, SDK, and evaluation signals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411480" y="4352544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" y="4389120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60120" y="4343400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workflow outcomes and chain durations first-class stakeholder observability metrics</a:t>
            </a:r>
            <a:endParaRPr lang="en-US" sz="1400" dirty="0"/>
          </a:p>
        </p:txBody>
      </p:sp>
      <p:sp>
        <p:nvSpPr>
          <p:cNvPr id="23" name="Shape 1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foundry-docs · github.com/nicholasdbrady/foundry-docs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Foundry-Docs Overview</dc:title>
  <dc:subject>PptxGenJS Presentation</dc:subject>
  <dc:creator>Foundry-Docs Slide Agent</dc:creator>
  <cp:lastModifiedBy>Foundry-Docs Slide Agent</cp:lastModifiedBy>
  <cp:revision>1</cp:revision>
  <dcterms:created xsi:type="dcterms:W3CDTF">2026-10-26T16:09:43Z</dcterms:created>
  <dcterms:modified xsi:type="dcterms:W3CDTF">2026-10-26T16:09:43Z</dcterms:modified>
</cp:coreProperties>
</file>