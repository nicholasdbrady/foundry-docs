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Pages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Reference</c:v>
                  </c:pt>
                  <c:pt idx="1">
                    <c:v>Overview</c:v>
                  </c:pt>
                  <c:pt idx="2">
                    <c:v>Get Started</c:v>
                  </c:pt>
                  <c:pt idx="3">
                    <c:v>Best Practices</c:v>
                  </c:pt>
                  <c:pt idx="4">
                    <c:v>Operate</c:v>
                  </c:pt>
                  <c:pt idx="5">
                    <c:v>Responsible AI</c:v>
                  </c:pt>
                  <c:pt idx="6">
                    <c:v>Manage</c:v>
                  </c:pt>
                  <c:pt idx="7">
                    <c:v>Dev Experience</c:v>
                  </c:pt>
                  <c:pt idx="8">
                    <c:v>Guardrails</c:v>
                  </c:pt>
                  <c:pt idx="9">
                    <c:v>API &amp; SDK</c:v>
                  </c:pt>
                  <c:pt idx="10">
                    <c:v>Security</c:v>
                  </c:pt>
                  <c:pt idx="11">
                    <c:v>Setup</c:v>
                  </c:pt>
                  <c:pt idx="12">
                    <c:v>Observability</c:v>
                  </c:pt>
                  <c:pt idx="13">
                    <c:v>Agents</c:v>
                  </c:pt>
                  <c:pt idx="14">
                    <c:v>Models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</c:v>
                </c:pt>
                <c:pt idx="1">
                  <c:v>3</c:v>
                </c:pt>
                <c:pt idx="2">
                  <c:v>6</c:v>
                </c:pt>
                <c:pt idx="3">
                  <c:v>5</c:v>
                </c:pt>
                <c:pt idx="4">
                  <c:v>8</c:v>
                </c:pt>
                <c:pt idx="5">
                  <c:v>8</c:v>
                </c:pt>
                <c:pt idx="6">
                  <c:v>9</c:v>
                </c:pt>
                <c:pt idx="7">
                  <c:v>11</c:v>
                </c:pt>
                <c:pt idx="8">
                  <c:v>15</c:v>
                </c:pt>
                <c:pt idx="9">
                  <c:v>17</c:v>
                </c:pt>
                <c:pt idx="10">
                  <c:v>20</c:v>
                </c:pt>
                <c:pt idx="11">
                  <c:v>20</c:v>
                </c:pt>
                <c:pt idx="12">
                  <c:v>24</c:v>
                </c:pt>
                <c:pt idx="13">
                  <c:v>60</c:v>
                </c:pt>
                <c:pt idx="14">
                  <c:v>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E3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5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808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2FA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114800" cy="4114800"/>
          </a:xfrm>
          <a:prstGeom prst="ellipse">
            <a:avLst/>
          </a:prstGeom>
          <a:solidFill>
            <a:srgbClr val="028090">
              <a:alpha val="22000"/>
            </a:srgbClr>
          </a:solidFill>
          <a:ln w="12700">
            <a:solidFill>
              <a:srgbClr val="028090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46720" y="2560320"/>
            <a:ext cx="2011680" cy="2011680"/>
          </a:xfrm>
          <a:prstGeom prst="ellipse">
            <a:avLst/>
          </a:prstGeom>
          <a:solidFill>
            <a:srgbClr val="00A896">
              <a:alpha val="18000"/>
            </a:srgbClr>
          </a:solidFill>
          <a:ln w="12700">
            <a:solidFill>
              <a:srgbClr val="00A896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80160"/>
            <a:ext cx="164592" cy="20116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Foundry-Docs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Documentation Platform for Microsoft Foundry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4526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279 docs  ·  29 agentic workflows  ·  4 SDK repos monitored  ·  FastMCP server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Foundry-Docs?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11480" y="10058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FastMCP server that extracts, converts, and serves Microsoft Foundry documentation to AI assistants — with a fleet of autonomous agents keeping it accurate and up to date.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011680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2066544"/>
            <a:ext cx="246888" cy="2468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01168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search_docs(query)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14400" y="2249424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full-text + vector search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11480" y="2670048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2724912"/>
            <a:ext cx="246888" cy="2468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267004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get_doc(path)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914400" y="29077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a specific doc by path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11480" y="3328416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383280"/>
            <a:ext cx="246888" cy="24688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4400" y="332841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list_sections()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914400" y="3566160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all TOC sections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11480" y="3986784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4041648"/>
            <a:ext cx="246888" cy="24688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14400" y="398678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get_section(section)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914400" y="422452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docs in a section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349240" y="256032"/>
            <a:ext cx="3566160" cy="46360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502920"/>
            <a:ext cx="1371600" cy="13716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349240" y="19659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FastMCP Server</a:t>
            </a:r>
            <a:endParaRPr lang="en-US" sz="1800" dirty="0"/>
          </a:p>
        </p:txBody>
      </p:sp>
      <p:sp>
        <p:nvSpPr>
          <p:cNvPr id="24" name="Text 17"/>
          <p:cNvSpPr/>
          <p:nvPr/>
        </p:nvSpPr>
        <p:spPr>
          <a:xfrm>
            <a:off x="5349240" y="245059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Microsoft Foundry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via MCP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539496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39496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279</a:t>
            </a:r>
            <a:endParaRPr lang="en-US" sz="2600" dirty="0"/>
          </a:p>
        </p:txBody>
      </p:sp>
      <p:sp>
        <p:nvSpPr>
          <p:cNvPr id="27" name="Text 20"/>
          <p:cNvSpPr/>
          <p:nvPr/>
        </p:nvSpPr>
        <p:spPr>
          <a:xfrm>
            <a:off x="539496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MDX Pages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58368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658368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</a:t>
            </a:r>
            <a:endParaRPr lang="en-US" sz="2600" dirty="0"/>
          </a:p>
        </p:txBody>
      </p:sp>
      <p:sp>
        <p:nvSpPr>
          <p:cNvPr id="30" name="Text 23"/>
          <p:cNvSpPr/>
          <p:nvPr/>
        </p:nvSpPr>
        <p:spPr>
          <a:xfrm>
            <a:off x="658368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Sections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777240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777240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Hybrid</a:t>
            </a:r>
            <a:endParaRPr lang="en-US" sz="2600" dirty="0"/>
          </a:p>
        </p:txBody>
      </p:sp>
      <p:sp>
        <p:nvSpPr>
          <p:cNvPr id="33" name="Text 26"/>
          <p:cNvSpPr/>
          <p:nvPr/>
        </p:nvSpPr>
        <p:spPr>
          <a:xfrm>
            <a:off x="777240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Mode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Architecture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1417320" cy="10058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MicrosoftDocs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upstream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azure-ai-docs-pr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7373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03120" y="1371600"/>
            <a:ext cx="141732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1031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031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5661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31920" y="1371600"/>
            <a:ext cx="1417320" cy="10058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9319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docs-vnext/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9319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1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279 MDX pages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949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1371600"/>
            <a:ext cx="141732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7607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FastMCP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7607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foundry_docs_mcp/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237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980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89520" y="1371600"/>
            <a:ext cx="1417320" cy="10058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5895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Assistants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IDEs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5895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MCP protocol</a:t>
            </a:r>
            <a:endParaRPr lang="en-US" sz="10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98064"/>
            <a:ext cx="237744" cy="237744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640080" y="27432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 from upstream MicrosoftDocs 4×/day via GitHub Actions</a:t>
            </a:r>
            <a:endParaRPr lang="en-US" sz="1350" dirty="0"/>
          </a:p>
        </p:txBody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291840"/>
            <a:ext cx="237744" cy="237744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640080" y="323697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MS Learn markdown to Mintlify MDX — callouts, tabs, code groups</a:t>
            </a:r>
            <a:endParaRPr lang="en-US" sz="1350" dirty="0"/>
          </a:p>
        </p:txBody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785616"/>
            <a:ext cx="237744" cy="23774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640080" y="373075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workflows continuously improve accuracy, structure, and completeness</a:t>
            </a:r>
            <a:endParaRPr lang="en-US" sz="1350" dirty="0"/>
          </a:p>
        </p:txBody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279392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640080" y="422452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FastMCP server with hybrid Azure Search (keyword + vector + semantic reranking)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Documentation Coverage — 279 Pages Across 15 Sections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05840"/>
          <a:ext cx="85953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5943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29 Agentic Workflows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" y="102412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AI agents maintaining docs automatically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269748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719072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86968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 Monitoring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84632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Upstream, SDK, community,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Reddit, diff reports, Dependabot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18688" y="1554480"/>
            <a:ext cx="269748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18688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719072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85616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 Testing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383280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Noob tester, multi-device,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quality, testbench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117336" y="1554480"/>
            <a:ext cx="2697480" cy="14173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117336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928" y="1719072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684264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  Content Updates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281928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Healer, updater, unbloat,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glossary, labels, sync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320040" y="3154680"/>
            <a:ext cx="269748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320040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319272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86968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 Quality Review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484632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Auditor, PR reviewer,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verify, push check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3218688" y="3154680"/>
            <a:ext cx="269748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3218688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3319272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3785616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 Community</a:t>
            </a:r>
            <a:endParaRPr lang="en-US" sz="1450" dirty="0"/>
          </a:p>
        </p:txBody>
      </p:sp>
      <p:sp>
        <p:nvSpPr>
          <p:cNvPr id="29" name="Text 22"/>
          <p:cNvSpPr/>
          <p:nvPr/>
        </p:nvSpPr>
        <p:spPr>
          <a:xfrm>
            <a:off x="3383280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monitor,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responder, auto-triage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6117336" y="3154680"/>
            <a:ext cx="2697480" cy="14173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117336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1928" y="3319272"/>
            <a:ext cx="320040" cy="32004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684264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 Operations</a:t>
            </a:r>
            <a:endParaRPr lang="en-US" sz="1450" dirty="0"/>
          </a:p>
        </p:txBody>
      </p:sp>
      <p:sp>
        <p:nvSpPr>
          <p:cNvPr id="34" name="Text 26"/>
          <p:cNvSpPr/>
          <p:nvPr/>
        </p:nvSpPr>
        <p:spPr>
          <a:xfrm>
            <a:off x="6281928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deck maintainer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deck!)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Event-Driven Trigger Coverage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65176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399032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84632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Issues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84632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opened/labeled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27832" y="1143000"/>
            <a:ext cx="2651760" cy="16459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39903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005072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</a:t>
            </a:r>
            <a:endParaRPr lang="en-US" sz="5200" dirty="0"/>
          </a:p>
        </p:txBody>
      </p:sp>
      <p:sp>
        <p:nvSpPr>
          <p:cNvPr id="12" name="Text 8"/>
          <p:cNvSpPr/>
          <p:nvPr/>
        </p:nvSpPr>
        <p:spPr>
          <a:xfrm>
            <a:off x="3392424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Dispatch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92424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workflow_dispatch + repo_dispatch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35624" y="1143000"/>
            <a:ext cx="2651760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39903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12864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5200" dirty="0"/>
          </a:p>
        </p:txBody>
      </p:sp>
      <p:sp>
        <p:nvSpPr>
          <p:cNvPr id="17" name="Text 12"/>
          <p:cNvSpPr/>
          <p:nvPr/>
        </p:nvSpPr>
        <p:spPr>
          <a:xfrm>
            <a:off x="6300216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300216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daily/weekly cron jobs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320040" y="2990088"/>
            <a:ext cx="265176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" y="32461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97280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5200" dirty="0"/>
          </a:p>
        </p:txBody>
      </p:sp>
      <p:sp>
        <p:nvSpPr>
          <p:cNvPr id="22" name="Text 16"/>
          <p:cNvSpPr/>
          <p:nvPr/>
        </p:nvSpPr>
        <p:spPr>
          <a:xfrm>
            <a:off x="484632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 Request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84632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open/sync/merge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3227832" y="2990088"/>
            <a:ext cx="2651760" cy="16459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3246120"/>
            <a:ext cx="457200" cy="45720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005072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5200" dirty="0"/>
          </a:p>
        </p:txBody>
      </p:sp>
      <p:sp>
        <p:nvSpPr>
          <p:cNvPr id="27" name="Text 20"/>
          <p:cNvSpPr/>
          <p:nvPr/>
        </p:nvSpPr>
        <p:spPr>
          <a:xfrm>
            <a:off x="3392424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Run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392424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chained workflow triggers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135624" y="2990088"/>
            <a:ext cx="2651760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6792" y="3246120"/>
            <a:ext cx="457200" cy="45720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912864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5200" dirty="0"/>
          </a:p>
        </p:txBody>
      </p:sp>
      <p:sp>
        <p:nvSpPr>
          <p:cNvPr id="32" name="Text 24"/>
          <p:cNvSpPr/>
          <p:nvPr/>
        </p:nvSpPr>
        <p:spPr>
          <a:xfrm>
            <a:off x="6300216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300216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to main branch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Quality Assurance Pipeline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1920240" cy="3108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4173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2004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Pre-Merge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1148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on-push-docs-check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1148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pr-docs-reviewer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30428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60320" y="1143000"/>
            <a:ext cx="1920240" cy="3108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0040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41732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56032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Post-Merge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265176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post-merge-docs-verify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265176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post-sync-updater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54456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800600" y="1143000"/>
            <a:ext cx="1920240" cy="3108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4068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41732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80060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Daily Healing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489204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docs-auditor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489204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daily-doc-healer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4892040" y="35387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daily-doc-updater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678484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040880" y="1143000"/>
            <a:ext cx="1920240" cy="3108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768096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1417320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704088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713232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docs-noob-tester</a:t>
            </a:r>
            <a:endParaRPr lang="en-US" sz="1050" dirty="0"/>
          </a:p>
        </p:txBody>
      </p:sp>
      <p:sp>
        <p:nvSpPr>
          <p:cNvPr id="31" name="Text 25"/>
          <p:cNvSpPr/>
          <p:nvPr/>
        </p:nvSpPr>
        <p:spPr>
          <a:xfrm>
            <a:off x="713232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multi-device-tester</a:t>
            </a:r>
            <a:endParaRPr lang="en-US" sz="1050" dirty="0"/>
          </a:p>
        </p:txBody>
      </p:sp>
      <p:sp>
        <p:nvSpPr>
          <p:cNvPr id="32" name="Text 26"/>
          <p:cNvSpPr/>
          <p:nvPr/>
        </p:nvSpPr>
        <p:spPr>
          <a:xfrm>
            <a:off x="7132320" y="35387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search-test</a:t>
            </a:r>
            <a:endParaRPr lang="en-US" sz="1050" dirty="0"/>
          </a:p>
        </p:txBody>
      </p:sp>
      <p:sp>
        <p:nvSpPr>
          <p:cNvPr id="33" name="Text 27"/>
          <p:cNvSpPr/>
          <p:nvPr/>
        </p:nvSpPr>
        <p:spPr>
          <a:xfrm>
            <a:off x="365760" y="4462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merge triggers automated checks · Daily audits catch regressions · Noob testing validates first-time reader experience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docs-vnext History &amp; Impact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1965960" cy="10241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16736"/>
            <a:ext cx="347472" cy="347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170432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279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429768" y="1773936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Pages in docs-vnext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29768" y="1965960"/>
            <a:ext cx="1783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0E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+ agent-enhanced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487168" y="1115568"/>
            <a:ext cx="1965960" cy="102412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1316736"/>
            <a:ext cx="347472" cy="3474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081528" y="1170432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</a:t>
            </a:r>
            <a:endParaRPr lang="en-US" sz="4000" dirty="0"/>
          </a:p>
        </p:txBody>
      </p:sp>
      <p:sp>
        <p:nvSpPr>
          <p:cNvPr id="12" name="Text 8"/>
          <p:cNvSpPr/>
          <p:nvPr/>
        </p:nvSpPr>
        <p:spPr>
          <a:xfrm>
            <a:off x="2596896" y="1773936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New Pages Added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2596896" y="1965960"/>
            <a:ext cx="1783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0E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 canonical docs/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20040" y="2304288"/>
            <a:ext cx="1965960" cy="10241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05456"/>
            <a:ext cx="347472" cy="34747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14400" y="2359152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265</a:t>
            </a:r>
            <a:endParaRPr lang="en-US" sz="4000" dirty="0"/>
          </a:p>
        </p:txBody>
      </p:sp>
      <p:sp>
        <p:nvSpPr>
          <p:cNvPr id="17" name="Text 12"/>
          <p:cNvSpPr/>
          <p:nvPr/>
        </p:nvSpPr>
        <p:spPr>
          <a:xfrm>
            <a:off x="429768" y="2962656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Pages Converted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429768" y="3154680"/>
            <a:ext cx="1783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0E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MS Learn format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2487168" y="2304288"/>
            <a:ext cx="1965960" cy="1024128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28" y="2505456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3081528" y="2359152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29</a:t>
            </a:r>
            <a:endParaRPr lang="en-US" sz="4000" dirty="0"/>
          </a:p>
        </p:txBody>
      </p:sp>
      <p:sp>
        <p:nvSpPr>
          <p:cNvPr id="22" name="Text 16"/>
          <p:cNvSpPr/>
          <p:nvPr/>
        </p:nvSpPr>
        <p:spPr>
          <a:xfrm>
            <a:off x="2596896" y="2962656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 Workflows</a:t>
            </a:r>
            <a:endParaRPr lang="en-US" sz="1050" dirty="0"/>
          </a:p>
        </p:txBody>
      </p:sp>
      <p:sp>
        <p:nvSpPr>
          <p:cNvPr id="23" name="Text 17"/>
          <p:cNvSpPr/>
          <p:nvPr/>
        </p:nvSpPr>
        <p:spPr>
          <a:xfrm>
            <a:off x="2596896" y="3154680"/>
            <a:ext cx="1783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0E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monitoring, testing, updating</a:t>
            </a:r>
            <a:endParaRPr 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4572000" y="1078992"/>
            <a:ext cx="4251960" cy="3749040"/>
          </a:xfrm>
          <a:prstGeom prst="rect">
            <a:avLst/>
          </a:prstGeom>
          <a:solidFill>
            <a:srgbClr val="F2FAFA"/>
          </a:solidFill>
          <a:ln w="6350">
            <a:solidFill>
              <a:srgbClr val="B8DA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19"/>
          <p:cNvSpPr/>
          <p:nvPr/>
        </p:nvSpPr>
        <p:spPr>
          <a:xfrm>
            <a:off x="4681728" y="11887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Coverage vs Canonical docs/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4681728" y="169164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&amp; converted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4681728" y="1965960"/>
            <a:ext cx="3657600" cy="274320"/>
          </a:xfrm>
          <a:prstGeom prst="rect">
            <a:avLst/>
          </a:prstGeom>
          <a:solidFill>
            <a:srgbClr val="D5E8E9"/>
          </a:solidFill>
          <a:ln w="12700">
            <a:solidFill>
              <a:srgbClr val="D5E8E9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4681728" y="1965960"/>
            <a:ext cx="2254102" cy="274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8430768" y="1965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E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265</a:t>
            </a:r>
            <a:endParaRPr lang="en-US" sz="1050" dirty="0"/>
          </a:p>
        </p:txBody>
      </p:sp>
      <p:sp>
        <p:nvSpPr>
          <p:cNvPr id="30" name="Text 24"/>
          <p:cNvSpPr/>
          <p:nvPr/>
        </p:nvSpPr>
        <p:spPr>
          <a:xfrm>
            <a:off x="4681728" y="251460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agent-created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4681728" y="2788920"/>
            <a:ext cx="3657600" cy="274320"/>
          </a:xfrm>
          <a:prstGeom prst="rect">
            <a:avLst/>
          </a:prstGeom>
          <a:solidFill>
            <a:srgbClr val="D5E8E9"/>
          </a:solidFill>
          <a:ln w="12700">
            <a:solidFill>
              <a:srgbClr val="D5E8E9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4681728" y="2788920"/>
            <a:ext cx="137160" cy="2743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8430768" y="2788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E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</a:t>
            </a:r>
            <a:endParaRPr lang="en-US" sz="1050" dirty="0"/>
          </a:p>
        </p:txBody>
      </p:sp>
      <p:sp>
        <p:nvSpPr>
          <p:cNvPr id="34" name="Text 28"/>
          <p:cNvSpPr/>
          <p:nvPr/>
        </p:nvSpPr>
        <p:spPr>
          <a:xfrm>
            <a:off x="4681728" y="333756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docs/ total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4681728" y="3611880"/>
            <a:ext cx="3657600" cy="274320"/>
          </a:xfrm>
          <a:prstGeom prst="rect">
            <a:avLst/>
          </a:prstGeom>
          <a:solidFill>
            <a:srgbClr val="D5E8E9"/>
          </a:solidFill>
          <a:ln w="12700">
            <a:solidFill>
              <a:srgbClr val="D5E8E9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4681728" y="3611880"/>
            <a:ext cx="3657600" cy="274320"/>
          </a:xfrm>
          <a:prstGeom prst="rect">
            <a:avLst/>
          </a:prstGeom>
          <a:solidFill>
            <a:srgbClr val="B8DADD"/>
          </a:solidFill>
          <a:ln w="12700">
            <a:solidFill>
              <a:srgbClr val="B8DADD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8430768" y="3611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E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430</a:t>
            </a:r>
            <a:endParaRPr lang="en-US" sz="1050" dirty="0"/>
          </a:p>
        </p:txBody>
      </p:sp>
      <p:sp>
        <p:nvSpPr>
          <p:cNvPr id="38" name="Text 32"/>
          <p:cNvSpPr/>
          <p:nvPr/>
        </p:nvSpPr>
        <p:spPr>
          <a:xfrm>
            <a:off x="4681728" y="418795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Milestones</a:t>
            </a:r>
            <a:endParaRPr lang="en-US" sz="1100" dirty="0"/>
          </a:p>
        </p:txBody>
      </p:sp>
      <p:sp>
        <p:nvSpPr>
          <p:cNvPr id="39" name="Shape 33"/>
          <p:cNvSpPr/>
          <p:nvPr/>
        </p:nvSpPr>
        <p:spPr>
          <a:xfrm>
            <a:off x="4681728" y="4498848"/>
            <a:ext cx="109728" cy="10972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0" name="Shape 34"/>
          <p:cNvSpPr/>
          <p:nvPr/>
        </p:nvSpPr>
        <p:spPr>
          <a:xfrm>
            <a:off x="4681728" y="4507992"/>
            <a:ext cx="109728" cy="10972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1" name="Shape 35"/>
          <p:cNvSpPr/>
          <p:nvPr/>
        </p:nvSpPr>
        <p:spPr>
          <a:xfrm>
            <a:off x="4681728" y="4517136"/>
            <a:ext cx="109728" cy="10972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2" name="Shape 36"/>
          <p:cNvSpPr/>
          <p:nvPr/>
        </p:nvSpPr>
        <p:spPr>
          <a:xfrm>
            <a:off x="4681728" y="4526280"/>
            <a:ext cx="109728" cy="10972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4846320" y="4462272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sync pipeline: 4× daily from MicrosoftDocs/azure-ai-docs-pr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 created: 35 Foundry terms defined in one agent run (PR #28)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improvements: unbloat, callout rewrites, redundancy removal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harness launched: 4-server × 3-model quality benchmark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2004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Dive: Agentic Chain in Action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9326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Upstream Docs Sync Chain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298448"/>
            <a:ext cx="1463040" cy="1737360"/>
          </a:xfrm>
          <a:prstGeom prst="rect">
            <a:avLst/>
          </a:prstGeom>
          <a:solidFill>
            <a:srgbClr val="014A55"/>
          </a:solidFill>
          <a:ln w="635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99032" y="1371600"/>
            <a:ext cx="292608" cy="29260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99032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0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146304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93192" y="1956816"/>
            <a:ext cx="1316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Upstream Monitor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393192" y="2286000"/>
            <a:ext cx="1316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⏰ every 12h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393192" y="2487168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MicrosoftDocs/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azure-ai-docs-pr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1810512" y="2167128"/>
            <a:ext cx="164592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984248" y="1298448"/>
            <a:ext cx="1463040" cy="1737360"/>
          </a:xfrm>
          <a:prstGeom prst="rect">
            <a:avLst/>
          </a:prstGeom>
          <a:solidFill>
            <a:srgbClr val="028090"/>
          </a:solidFill>
          <a:ln w="635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063240" y="1371600"/>
            <a:ext cx="292608" cy="29260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063240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0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0028" y="1463040"/>
            <a:ext cx="411480" cy="4114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057400" y="1956816"/>
            <a:ext cx="1316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Issue Created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2057400" y="2286000"/>
            <a:ext cx="1316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creates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2057400" y="2487168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[upstream-docs] issue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diff summary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3474720" y="2167128"/>
            <a:ext cx="164592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3648456" y="1298448"/>
            <a:ext cx="1463040" cy="1737360"/>
          </a:xfrm>
          <a:prstGeom prst="rect">
            <a:avLst/>
          </a:prstGeom>
          <a:solidFill>
            <a:srgbClr val="014A55"/>
          </a:solidFill>
          <a:ln w="635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727448" y="1371600"/>
            <a:ext cx="292608" cy="29260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727448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000" dirty="0"/>
          </a:p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4236" y="1463040"/>
            <a:ext cx="411480" cy="41148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3721608" y="1956816"/>
            <a:ext cx="1316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 &amp; Convert</a:t>
            </a:r>
            <a:endParaRPr lang="en-US" sz="1050" dirty="0"/>
          </a:p>
        </p:txBody>
      </p:sp>
      <p:sp>
        <p:nvSpPr>
          <p:cNvPr id="26" name="Text 21"/>
          <p:cNvSpPr/>
          <p:nvPr/>
        </p:nvSpPr>
        <p:spPr>
          <a:xfrm>
            <a:off x="3721608" y="2286000"/>
            <a:ext cx="1316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dispatches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3721608" y="2487168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sync-and-convert.yml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.md → Mintlify .mdx</a:t>
            </a:r>
            <a:endParaRPr lang="en-US" sz="950" dirty="0"/>
          </a:p>
        </p:txBody>
      </p:sp>
      <p:sp>
        <p:nvSpPr>
          <p:cNvPr id="28" name="Shape 23"/>
          <p:cNvSpPr/>
          <p:nvPr/>
        </p:nvSpPr>
        <p:spPr>
          <a:xfrm>
            <a:off x="5138928" y="2167128"/>
            <a:ext cx="164592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5312664" y="1298448"/>
            <a:ext cx="1463040" cy="1737360"/>
          </a:xfrm>
          <a:prstGeom prst="rect">
            <a:avLst/>
          </a:prstGeom>
          <a:solidFill>
            <a:srgbClr val="028090"/>
          </a:solidFill>
          <a:ln w="635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6391656" y="1371600"/>
            <a:ext cx="292608" cy="29260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391656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000" dirty="0"/>
          </a:p>
        </p:txBody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8444" y="1463040"/>
            <a:ext cx="411480" cy="411480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5385816" y="1956816"/>
            <a:ext cx="1316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Post-Sync Updater</a:t>
            </a:r>
            <a:endParaRPr lang="en-US" sz="1050" dirty="0"/>
          </a:p>
        </p:txBody>
      </p:sp>
      <p:sp>
        <p:nvSpPr>
          <p:cNvPr id="34" name="Text 28"/>
          <p:cNvSpPr/>
          <p:nvPr/>
        </p:nvSpPr>
        <p:spPr>
          <a:xfrm>
            <a:off x="5385816" y="2286000"/>
            <a:ext cx="1316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workflow_run</a:t>
            </a:r>
            <a:endParaRPr lang="en-US" sz="900" dirty="0"/>
          </a:p>
        </p:txBody>
      </p:sp>
      <p:sp>
        <p:nvSpPr>
          <p:cNvPr id="35" name="Text 29"/>
          <p:cNvSpPr/>
          <p:nvPr/>
        </p:nvSpPr>
        <p:spPr>
          <a:xfrm>
            <a:off x="5385816" y="2487168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Analyzes changes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improves formatting</a:t>
            </a:r>
            <a:endParaRPr lang="en-US" sz="950" dirty="0"/>
          </a:p>
        </p:txBody>
      </p:sp>
      <p:sp>
        <p:nvSpPr>
          <p:cNvPr id="36" name="Shape 30"/>
          <p:cNvSpPr/>
          <p:nvPr/>
        </p:nvSpPr>
        <p:spPr>
          <a:xfrm>
            <a:off x="6803136" y="2167128"/>
            <a:ext cx="164592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6976872" y="1298448"/>
            <a:ext cx="1463040" cy="1737360"/>
          </a:xfrm>
          <a:prstGeom prst="rect">
            <a:avLst/>
          </a:prstGeom>
          <a:solidFill>
            <a:srgbClr val="014A55"/>
          </a:solidFill>
          <a:ln w="635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8055864" y="1371600"/>
            <a:ext cx="292608" cy="29260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8055864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000" dirty="0"/>
          </a:p>
        </p:txBody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2652" y="1463040"/>
            <a:ext cx="411480" cy="411480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7050024" y="1956816"/>
            <a:ext cx="1316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 or Noop</a:t>
            </a:r>
            <a:endParaRPr lang="en-US" sz="1050" dirty="0"/>
          </a:p>
        </p:txBody>
      </p:sp>
      <p:sp>
        <p:nvSpPr>
          <p:cNvPr id="42" name="Text 35"/>
          <p:cNvSpPr/>
          <p:nvPr/>
        </p:nvSpPr>
        <p:spPr>
          <a:xfrm>
            <a:off x="7050024" y="2286000"/>
            <a:ext cx="1316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result</a:t>
            </a:r>
            <a:endParaRPr lang="en-US" sz="900" dirty="0"/>
          </a:p>
        </p:txBody>
      </p:sp>
      <p:sp>
        <p:nvSpPr>
          <p:cNvPr id="43" name="Text 36"/>
          <p:cNvSpPr/>
          <p:nvPr/>
        </p:nvSpPr>
        <p:spPr>
          <a:xfrm>
            <a:off x="7050024" y="2487168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PR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noop if no changes</a:t>
            </a:r>
            <a:endParaRPr lang="en-US" sz="950" dirty="0"/>
          </a:p>
        </p:txBody>
      </p:sp>
      <p:sp>
        <p:nvSpPr>
          <p:cNvPr id="44" name="Shape 37"/>
          <p:cNvSpPr/>
          <p:nvPr/>
        </p:nvSpPr>
        <p:spPr>
          <a:xfrm>
            <a:off x="320040" y="3246120"/>
            <a:ext cx="8503920" cy="1600200"/>
          </a:xfrm>
          <a:prstGeom prst="rect">
            <a:avLst/>
          </a:prstGeom>
          <a:solidFill>
            <a:srgbClr val="011E24"/>
          </a:solidFill>
          <a:ln w="6350">
            <a:solidFill>
              <a:srgbClr val="00A896"/>
            </a:solidFill>
            <a:prstDash val="solid"/>
          </a:ln>
        </p:spPr>
      </p:sp>
      <p:sp>
        <p:nvSpPr>
          <p:cNvPr id="45" name="Shape 38"/>
          <p:cNvSpPr/>
          <p:nvPr/>
        </p:nvSpPr>
        <p:spPr>
          <a:xfrm>
            <a:off x="320040" y="3246120"/>
            <a:ext cx="73152" cy="16002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6" name="Text 39"/>
          <p:cNvSpPr/>
          <p:nvPr/>
        </p:nvSpPr>
        <p:spPr>
          <a:xfrm>
            <a:off x="521208" y="331012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Release Chain:</a:t>
            </a:r>
            <a:endParaRPr lang="en-US" sz="1150" dirty="0"/>
          </a:p>
        </p:txBody>
      </p:sp>
      <p:sp>
        <p:nvSpPr>
          <p:cNvPr id="47" name="Text 40"/>
          <p:cNvSpPr/>
          <p:nvPr/>
        </p:nvSpPr>
        <p:spPr>
          <a:xfrm>
            <a:off x="521208" y="363016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Monitor (⏰ every 12h)</a:t>
            </a:r>
            <a:endParaRPr lang="en-US" sz="1100" dirty="0"/>
          </a:p>
        </p:txBody>
      </p:sp>
      <p:sp>
        <p:nvSpPr>
          <p:cNvPr id="48" name="Text 41"/>
          <p:cNvSpPr/>
          <p:nvPr/>
        </p:nvSpPr>
        <p:spPr>
          <a:xfrm>
            <a:off x="521208" y="386791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New release detected (e.g. Java azure-ai-projects 2.0.0-beta.2)</a:t>
            </a:r>
            <a:endParaRPr lang="en-US" sz="1000" dirty="0"/>
          </a:p>
        </p:txBody>
      </p:sp>
      <p:sp>
        <p:nvSpPr>
          <p:cNvPr id="49" name="Text 42"/>
          <p:cNvSpPr/>
          <p:nvPr/>
        </p:nvSpPr>
        <p:spPr>
          <a:xfrm>
            <a:off x="521208" y="41056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Breaking changes analysis: deprecated APIs, new constructor signatures</a:t>
            </a:r>
            <a:endParaRPr lang="en-US" sz="1000" dirty="0"/>
          </a:p>
        </p:txBody>
      </p:sp>
      <p:sp>
        <p:nvSpPr>
          <p:cNvPr id="50" name="Text 43"/>
          <p:cNvSpPr/>
          <p:nvPr/>
        </p:nvSpPr>
        <p:spPr>
          <a:xfrm>
            <a:off x="521208" y="434340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Creates [sdk-release] issue with full docs impact assessment</a:t>
            </a:r>
            <a:endParaRPr lang="en-US" sz="1000" dirty="0"/>
          </a:p>
        </p:txBody>
      </p:sp>
      <p:sp>
        <p:nvSpPr>
          <p:cNvPr id="51" name="Text 44"/>
          <p:cNvSpPr/>
          <p:nvPr/>
        </p:nvSpPr>
        <p:spPr>
          <a:xfrm>
            <a:off x="521208" y="45811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Docs team alerted to update code examples, method references, installation guides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Dive: Content Improvements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20040" y="1097280"/>
            <a:ext cx="4160520" cy="3749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071116" y="1280160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371600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048256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Glossary Creation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1714500" y="2523744"/>
            <a:ext cx="1371600" cy="25603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714500" y="254203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136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 #28  ·  glossary-maintainer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521208" y="2944368"/>
            <a:ext cx="3758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zero — no glossary existed in docs/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21208" y="3246120"/>
            <a:ext cx="3758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scanned codebase + upstream docs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21208" y="3547872"/>
            <a:ext cx="3758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Foundry terms defined and formatted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21208" y="3849624"/>
            <a:ext cx="3758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One-shot: complete in a single agent run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21208" y="4151376"/>
            <a:ext cx="3758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Terms: Agent, Evaluator, Flow, Prompt template,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21208" y="4453128"/>
            <a:ext cx="3758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Thread, Tool, Connection, Deployment…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800600" y="1097280"/>
            <a:ext cx="4160520" cy="37490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551676" y="1280160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116" y="1371600"/>
            <a:ext cx="475488" cy="475488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983480" y="2048256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Unbloat: cloud-evaluation.mdx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6195060" y="2523744"/>
            <a:ext cx="1371600" cy="25603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195060" y="254203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136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 #23  ·  unbloat-docs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5001768" y="2944368"/>
            <a:ext cx="3758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found: duplicate intro paragraphs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5001768" y="3246120"/>
            <a:ext cx="3758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Repetitive Tip boxes restating same point</a:t>
            </a:r>
            <a:endParaRPr lang="en-US" sz="1050" dirty="0"/>
          </a:p>
        </p:txBody>
      </p:sp>
      <p:sp>
        <p:nvSpPr>
          <p:cNvPr id="24" name="Text 20"/>
          <p:cNvSpPr/>
          <p:nvPr/>
        </p:nvSpPr>
        <p:spPr>
          <a:xfrm>
            <a:off x="5001768" y="3547872"/>
            <a:ext cx="3758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Over-explained concepts already covered in overview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5001768" y="3849624"/>
            <a:ext cx="3758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removed redundant blocks (-30% word count)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5001768" y="4151376"/>
            <a:ext cx="3758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accuracy maintained throughout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5001768" y="4453128"/>
            <a:ext cx="3758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Callout consolidation: 4 Tips → 1 targeted Note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2004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 Harness Results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89611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evaluations · 4 servers · 3 frontier models · 2026-03-05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5166360" cy="1737360"/>
        </p:xfrm>
        <a:graphic>
          <a:graphicData uri="http://schemas.openxmlformats.org/drawingml/2006/table">
            <a:tbl>
              <a:tblPr/>
              <a:tblGrid>
                <a:gridCol w="1645920"/>
                <a:gridCol w="886968"/>
                <a:gridCol w="886968"/>
                <a:gridCol w="886968"/>
                <a:gridCol w="859536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claude-opus-4.6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gemini-3-pro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gpt-5.3-codex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Learn 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Mintlify MCP 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docs-vnext/ 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 (baseline)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20040" y="3017520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 Testing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20040" y="3401568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38912" y="3447288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22960" y="3447288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⚠️ MARGINAL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2084832" y="3456432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(0.906) vs docs/ (0.904), δ=+0.002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20040" y="3794760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" y="3840480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2960" y="384048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40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REJECTED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084832" y="3849624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Mintlify MCP (0.908), δ=−0.002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20040" y="4187952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8912" y="4233672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H3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22960" y="423367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40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REJECTED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084832" y="4242816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MS Learn (0.908), δ=−0.002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20040" y="4581144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38912" y="4626864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H4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22960" y="4626864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⚠️ MIXED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2084832" y="4636008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Rankings vary: gpt-5.3 ranks docs-vnext 2nd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87568" y="1188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Category Breakdown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87568" y="15727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agent-development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687568" y="1828800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687568" y="1828800"/>
            <a:ext cx="2505822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595360" y="182880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0.971 ▲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5687568" y="22311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getting-started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687568" y="2487168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687568" y="2487168"/>
            <a:ext cx="1553383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595360" y="24871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0.887 ▲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5687568" y="28895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infra-security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5687568" y="3145536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87568" y="3145536"/>
            <a:ext cx="2006925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595360" y="314553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0.927 ▲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5687568" y="35478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observability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5687568" y="3803904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687568" y="3803904"/>
            <a:ext cx="589605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595360" y="38039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0.802 —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5687568" y="42062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sdk-api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687568" y="4462272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687568" y="4462272"/>
            <a:ext cx="2233696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595360" y="446227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0.947 —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28090">
              <a:alpha val="30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365760" y="4791456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leads in agent-development (0.971) and getting-started (0.887) — areas benefiting most from Mintlify MDX enhancements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Integration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743200" cy="35204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62456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3896" y="1435608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29768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Discussions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429768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microsoft-foundry/discussions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48056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Cross-repo repository_dispatch fires whenever a new discussion is posted. The agent reads context from cache-memory and determines if docs need updating or a response is warranted.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64408" y="1143000"/>
            <a:ext cx="2743200" cy="35204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06824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1435608"/>
            <a:ext cx="475488" cy="4754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74136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Discussion Feedback Responder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3374136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issue_comment events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3392424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responds to discussions referencing documentation gaps. Surfaces the most relevant docs and flags content needing improvement.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208776" y="1143000"/>
            <a:ext cx="2743200" cy="35204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251192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2632" y="1435608"/>
            <a:ext cx="475488" cy="4754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18504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Auto-Triage Issues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6318504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issues: opened, labeled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6336792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and triages new GitHub issues, routing documentation bugs to the appropriate agent workflows. Integrates with label-ops for structured labeling.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Release Monitoring — 4 Repos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98755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new azure-ai-projects releases and assesses documentation impact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1920240" cy="2926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755648"/>
            <a:ext cx="658368" cy="6583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11480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Azure/azure-sdk-for-python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93192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sdk/ai/azure-ai-projects/CHANGELOG.md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48640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587752" y="1554480"/>
            <a:ext cx="1920240" cy="2926080"/>
          </a:xfrm>
          <a:prstGeom prst="rect">
            <a:avLst/>
          </a:prstGeom>
          <a:solidFill>
            <a:srgbClr val="014A55"/>
          </a:solidFill>
          <a:ln w="12700">
            <a:solidFill>
              <a:srgbClr val="014A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87752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688" y="1755648"/>
            <a:ext cx="658368" cy="65836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587752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JavaScript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2679192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Azure/azure-sdk-for-js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2660904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sdk/ai/ai-projects/CHANGELOG.md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2816352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816352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4855464" y="1554480"/>
            <a:ext cx="1920240" cy="292608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855464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755648"/>
            <a:ext cx="658368" cy="65836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4855464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.NET</a:t>
            </a:r>
            <a:endParaRPr lang="en-US" sz="1800" dirty="0"/>
          </a:p>
        </p:txBody>
      </p:sp>
      <p:sp>
        <p:nvSpPr>
          <p:cNvPr id="25" name="Text 20"/>
          <p:cNvSpPr/>
          <p:nvPr/>
        </p:nvSpPr>
        <p:spPr>
          <a:xfrm>
            <a:off x="4946904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Azure/azure-sdk-for-net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4928616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sdk/ai/Azure.AI.Projects/CHANGELOG.md</a:t>
            </a:r>
            <a:endParaRPr lang="en-US" sz="850" dirty="0"/>
          </a:p>
        </p:txBody>
      </p:sp>
      <p:sp>
        <p:nvSpPr>
          <p:cNvPr id="27" name="Shape 22"/>
          <p:cNvSpPr/>
          <p:nvPr/>
        </p:nvSpPr>
        <p:spPr>
          <a:xfrm>
            <a:off x="5084064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5084064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7123176" y="1554480"/>
            <a:ext cx="1920240" cy="292608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123176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1755648"/>
            <a:ext cx="658368" cy="658368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123176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</a:t>
            </a:r>
            <a:endParaRPr lang="en-US" sz="1800" dirty="0"/>
          </a:p>
        </p:txBody>
      </p:sp>
      <p:sp>
        <p:nvSpPr>
          <p:cNvPr id="33" name="Text 27"/>
          <p:cNvSpPr/>
          <p:nvPr/>
        </p:nvSpPr>
        <p:spPr>
          <a:xfrm>
            <a:off x="7214616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Azure/azure-sdk-for-java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7196328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sdk/ai/azure-ai-projects/CHANGELOG.md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7351776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7351776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 The Numbers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2651760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441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279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57200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MDX Pages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docs-vnext/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27832" y="1115568"/>
            <a:ext cx="2651760" cy="1965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344168"/>
            <a:ext cx="438912" cy="4389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959352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29</a:t>
            </a:r>
            <a:endParaRPr lang="en-US" sz="5200" dirty="0"/>
          </a:p>
        </p:txBody>
      </p:sp>
      <p:sp>
        <p:nvSpPr>
          <p:cNvPr id="12" name="Text 8"/>
          <p:cNvSpPr/>
          <p:nvPr/>
        </p:nvSpPr>
        <p:spPr>
          <a:xfrm>
            <a:off x="3364992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Workflows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64992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.md definitions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35624" y="1115568"/>
            <a:ext cx="2651760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344168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867144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</a:t>
            </a:r>
            <a:endParaRPr lang="en-US" sz="5200" dirty="0"/>
          </a:p>
        </p:txBody>
      </p:sp>
      <p:sp>
        <p:nvSpPr>
          <p:cNvPr id="17" name="Text 12"/>
          <p:cNvSpPr/>
          <p:nvPr/>
        </p:nvSpPr>
        <p:spPr>
          <a:xfrm>
            <a:off x="6272784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 Sections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272784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areas covered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320040" y="3264408"/>
            <a:ext cx="2651760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493008"/>
            <a:ext cx="438912" cy="43891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51560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5200" dirty="0"/>
          </a:p>
        </p:txBody>
      </p:sp>
      <p:sp>
        <p:nvSpPr>
          <p:cNvPr id="22" name="Text 16"/>
          <p:cNvSpPr/>
          <p:nvPr/>
        </p:nvSpPr>
        <p:spPr>
          <a:xfrm>
            <a:off x="457200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Slash Commands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57200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/audit /unbloat /sdk-check…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3227832" y="3264408"/>
            <a:ext cx="2651760" cy="1965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0712" y="3493008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3959352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5200" dirty="0"/>
          </a:p>
        </p:txBody>
      </p:sp>
      <p:sp>
        <p:nvSpPr>
          <p:cNvPr id="27" name="Text 20"/>
          <p:cNvSpPr/>
          <p:nvPr/>
        </p:nvSpPr>
        <p:spPr>
          <a:xfrm>
            <a:off x="3364992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Repos Tracked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364992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JS · .NET · Java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135624" y="3264408"/>
            <a:ext cx="2651760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8504" y="3493008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867144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5200" dirty="0"/>
          </a:p>
        </p:txBody>
      </p:sp>
      <p:sp>
        <p:nvSpPr>
          <p:cNvPr id="32" name="Text 24"/>
          <p:cNvSpPr/>
          <p:nvPr/>
        </p:nvSpPr>
        <p:spPr>
          <a:xfrm>
            <a:off x="6272784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Scheduled Jobs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272784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daily/weekly cron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097280"/>
            <a:ext cx="4572000" cy="4572000"/>
          </a:xfrm>
          <a:prstGeom prst="ellipse">
            <a:avLst/>
          </a:prstGeom>
          <a:solidFill>
            <a:srgbClr val="028090">
              <a:alpha val="20000"/>
            </a:srgbClr>
          </a:solidFill>
          <a:ln w="12700">
            <a:solidFill>
              <a:srgbClr val="028090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320040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What's Next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11480" y="1243584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280160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234440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overview page generated from agent-surfaced coverage gaps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11480" y="1865376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19019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1856232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quality dashboard — track MRR/NDCG trends over time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11480" y="2487168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2523744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2478024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gap filling — auto-draft missing pages from upstream signals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11480" y="3108960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145536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099816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→ Mintlify deployment via GitHub Pages or Vercel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411480" y="3730752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" y="3767328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960120" y="3721608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 guardrails section expansion with worked examples</a:t>
            </a:r>
            <a:endParaRPr lang="en-US" sz="1400" dirty="0"/>
          </a:p>
        </p:txBody>
      </p:sp>
      <p:sp>
        <p:nvSpPr>
          <p:cNvPr id="20" name="Shape 13"/>
          <p:cNvSpPr/>
          <p:nvPr/>
        </p:nvSpPr>
        <p:spPr>
          <a:xfrm>
            <a:off x="411480" y="4352544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" y="4389120"/>
            <a:ext cx="256032" cy="256032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960120" y="4343400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ops dashboard embedding MCP server telemetry</a:t>
            </a:r>
            <a:endParaRPr lang="en-US" sz="1400" dirty="0"/>
          </a:p>
        </p:txBody>
      </p:sp>
      <p:sp>
        <p:nvSpPr>
          <p:cNvPr id="23" name="Shape 1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24" name="Text 16"/>
          <p:cNvSpPr/>
          <p:nvPr/>
        </p:nvSpPr>
        <p:spPr>
          <a:xfrm>
            <a:off x="365760" y="47548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 · github.com/nicholasdbrady/foundry-docs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Foundry-Docs Overview</dc:title>
  <dc:subject>PptxGenJS Presentation</dc:subject>
  <dc:creator>Foundry-Docs Slide Agent</dc:creator>
  <cp:lastModifiedBy>Foundry-Docs Slide Agent</cp:lastModifiedBy>
  <cp:revision>1</cp:revision>
  <dcterms:created xsi:type="dcterms:W3CDTF">2026-03-23T09:42:33Z</dcterms:created>
  <dcterms:modified xsi:type="dcterms:W3CDTF">2026-03-23T09:42:33Z</dcterms:modified>
</cp:coreProperties>
</file>