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Sheet1!$A$2:$A$19</c:f>
              <c:multiLvlStrCache>
                <c:ptCount val="18"/>
                <c:lvl>
                  <c:pt idx="0">
                    <c:v>What is Foundry</c:v>
                  </c:pt>
                  <c:pt idx="1">
                    <c:v>Reference</c:v>
                  </c:pt>
                  <c:pt idx="2">
                    <c:v>Overview</c:v>
                  </c:pt>
                  <c:pt idx="3">
                    <c:v>Get Started</c:v>
                  </c:pt>
                  <c:pt idx="4">
                    <c:v>Best Practices</c:v>
                  </c:pt>
                  <c:pt idx="5">
                    <c:v>Operate</c:v>
                  </c:pt>
                  <c:pt idx="6">
                    <c:v>Responsible AI</c:v>
                  </c:pt>
                  <c:pt idx="7">
                    <c:v>Manage</c:v>
                  </c:pt>
                  <c:pt idx="8">
                    <c:v>API &amp; SDK</c:v>
                  </c:pt>
                  <c:pt idx="9">
                    <c:v>Guardrails</c:v>
                  </c:pt>
                  <c:pt idx="10">
                    <c:v>Dev Experience</c:v>
                  </c:pt>
                  <c:pt idx="11">
                    <c:v>Setup</c:v>
                  </c:pt>
                  <c:pt idx="12">
                    <c:v>Security</c:v>
                  </c:pt>
                  <c:pt idx="13">
                    <c:v>Observability</c:v>
                  </c:pt>
                  <c:pt idx="14">
                    <c:v>Agents</c:v>
                  </c:pt>
                  <c:pt idx="15">
                    <c:v>Models</c:v>
                  </c:pt>
                  <c:pt idx="16">
                    <c:v>Agent Service</c:v>
                  </c:pt>
                  <c:pt idx="17">
                    <c:v>Foundry Models</c:v>
                  </c:pt>
                </c:lvl>
              </c:multiLvlStrCache>
            </c:multiLvl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1</c:v>
                </c:pt>
                <c:pt idx="1">
                  <c:v>1</c:v>
                </c:pt>
                <c:pt idx="2">
                  <c:v>3</c:v>
                </c:pt>
                <c:pt idx="3">
                  <c:v>7</c:v>
                </c:pt>
                <c:pt idx="4">
                  <c:v>7</c:v>
                </c:pt>
                <c:pt idx="5">
                  <c:v>8</c:v>
                </c:pt>
                <c:pt idx="6">
                  <c:v>10</c:v>
                </c:pt>
                <c:pt idx="7">
                  <c:v>10</c:v>
                </c:pt>
                <c:pt idx="8">
                  <c:v>17</c:v>
                </c:pt>
                <c:pt idx="9">
                  <c:v>19</c:v>
                </c:pt>
                <c:pt idx="10">
                  <c:v>21</c:v>
                </c:pt>
                <c:pt idx="11">
                  <c:v>22</c:v>
                </c:pt>
                <c:pt idx="12">
                  <c:v>24</c:v>
                </c:pt>
                <c:pt idx="13">
                  <c:v>31</c:v>
                </c:pt>
                <c:pt idx="14">
                  <c:v>63</c:v>
                </c:pt>
                <c:pt idx="15">
                  <c:v>75</c:v>
                </c:pt>
                <c:pt idx="16">
                  <c:v>95</c:v>
                </c:pt>
                <c:pt idx="17">
                  <c:v>112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E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80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2FA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028090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2560320"/>
            <a:ext cx="2011680" cy="201168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00A896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164592" cy="2011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Foundry-Docs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 Platform for Microsoft Foundry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526 docs  ·  23 agentic workflows  ·  5 SDK repos monitored  ·  FastMCP server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Foundry-Docs?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FastMCP server that extracts, converts, and serves Microsoft Foundry documentation to AI assistants — with a fleet of autonomous agents keeping it accurate and up to date.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0116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066544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0116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search_docs(query)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24942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full-text + vector search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267004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2724912"/>
            <a:ext cx="246888" cy="246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6700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get_doc(path)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14400" y="29077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 specific doc by path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1480" y="332841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38328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33284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list_sections()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14400" y="3566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all TOC sections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11480" y="39867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4041648"/>
            <a:ext cx="246888" cy="246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4400" y="39867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get_section(section)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914400" y="42245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docs in a section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349240" y="256032"/>
            <a:ext cx="3566160" cy="4636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502920"/>
            <a:ext cx="1371600" cy="1371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9240" y="1965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 Server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5349240" y="24505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Microsoft Foundry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via MCP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39496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39496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526</a:t>
            </a:r>
            <a:endParaRPr lang="en-US" sz="2600" dirty="0"/>
          </a:p>
        </p:txBody>
      </p:sp>
      <p:sp>
        <p:nvSpPr>
          <p:cNvPr id="27" name="Text 20"/>
          <p:cNvSpPr/>
          <p:nvPr/>
        </p:nvSpPr>
        <p:spPr>
          <a:xfrm>
            <a:off x="539496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58368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658368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2600" dirty="0"/>
          </a:p>
        </p:txBody>
      </p:sp>
      <p:sp>
        <p:nvSpPr>
          <p:cNvPr id="30" name="Text 23"/>
          <p:cNvSpPr/>
          <p:nvPr/>
        </p:nvSpPr>
        <p:spPr>
          <a:xfrm>
            <a:off x="65836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Sections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777240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77240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777240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Mode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373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661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1371600"/>
            <a:ext cx="141732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319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docs-vnext/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526 MDX pages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7607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7607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foundry_docs_mcp/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237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IDEs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protocol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98064"/>
            <a:ext cx="237744" cy="23774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40080" y="27432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 from upstream MicrosoftDocs 4×/day via GitHub Actions</a:t>
            </a:r>
            <a:endParaRPr lang="en-US" sz="13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91840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40080" y="323697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MS Learn markdown to Mintlify MDX — callouts, tabs, code groups</a:t>
            </a:r>
            <a:endParaRPr lang="en-US" sz="13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785616"/>
            <a:ext cx="237744" cy="23774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40080" y="37307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continuously improve accuracy, structure, and completeness</a:t>
            </a:r>
            <a:endParaRPr lang="en-US" sz="135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279392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40080" y="42245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server with hybrid Azure Search (keyword + vector + semantic reranking)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Coverage — 526 Pages Across 18 Sections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85953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23 Agentic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AI agents maintaining docs automatically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71907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  Monitoring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84632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Upstream, SDK, community,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Reddit, diff reports, Dependabot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18688" y="15544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18688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5616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Testing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383280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tester, multi-device,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quality, testbench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17336" y="15544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17336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1907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84264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 Content Updates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81928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Healer, updater, unbloat,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labels, sync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20040" y="31546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20040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319272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6968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 Quality Review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484632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Auditor, PR reviewer,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verify, push check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18688" y="31546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18688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3319272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785616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 Community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3383280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monitor,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responder, auto-triage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117336" y="31546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17336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3319272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84264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Operations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281928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maintainer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deck!)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Event-Driven Trigger Coverage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990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84632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opened/labeled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27832" y="1143000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9903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05072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28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92424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Dispatch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92424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 + repo_dispatch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35624" y="1143000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9903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12864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300216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 jobs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0040" y="2990088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32461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97280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84632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84632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open/sync/merge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27832" y="2990088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05072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92424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Run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92424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workflow triggers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135624" y="2990088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24612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12864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300216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300216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main branch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Assurance Pipeline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Pre-Merge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on-push-docs-check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1148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pr-docs-reviewer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0428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143000"/>
            <a:ext cx="1920240" cy="3108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173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Post-Merge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65176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post-merge-docs-verify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265176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post-sync-updater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4456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143000"/>
            <a:ext cx="1920240" cy="3108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4068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41732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006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Healing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89204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docs-auditor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89204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daily-doc-healer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489204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daily-doc-updater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04088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68096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41732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04088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713232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docs-noob-tester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713232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multi-device-tester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713232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search-test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merge triggers automated checks · Daily audits catch regressions · Noob testing validates first-time reader experience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docs-vnext: History &amp; Impact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20040" y="1078992"/>
            <a:ext cx="2468880" cy="11704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124712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526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320040" y="178308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Total MDX Pages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202996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docs-vnext/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20040" y="2404872"/>
            <a:ext cx="2468880" cy="117043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0040" y="2450592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354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320040" y="310896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Shared w/ Canonical Docs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35584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from docs/ base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3730752"/>
            <a:ext cx="2468880" cy="11704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320040" y="3776472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+172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20040" y="44348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Pages Created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0040" y="468172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docs/ baseline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108960" y="1005840"/>
            <a:ext cx="5715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Activity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108960" y="1417320"/>
            <a:ext cx="5715000" cy="594360"/>
          </a:xfrm>
          <a:prstGeom prst="rect">
            <a:avLst/>
          </a:prstGeom>
          <a:solidFill>
            <a:srgbClr val="EBF7F7"/>
          </a:solidFill>
          <a:ln w="6350">
            <a:solidFill>
              <a:srgbClr val="B8DA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18688" y="150876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0" y="1545336"/>
            <a:ext cx="237744" cy="237744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3694176" y="1453896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Upstream Sync Detections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94176" y="1719072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 commits detected, issues created, sync dispatched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108960" y="2130552"/>
            <a:ext cx="5715000" cy="594360"/>
          </a:xfrm>
          <a:prstGeom prst="rect">
            <a:avLst/>
          </a:prstGeom>
          <a:solidFill>
            <a:srgbClr val="EBF7F7"/>
          </a:solidFill>
          <a:ln w="6350">
            <a:solidFill>
              <a:srgbClr val="B8DADD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218688" y="2221992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2258568"/>
            <a:ext cx="237744" cy="237744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3694176" y="216712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SDK Release Detections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3694176" y="2432304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Python, Java, .NET, JS v2 releases flagged with docs impact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108960" y="2843784"/>
            <a:ext cx="5715000" cy="594360"/>
          </a:xfrm>
          <a:prstGeom prst="rect">
            <a:avLst/>
          </a:prstGeom>
          <a:solidFill>
            <a:srgbClr val="EBF7F7"/>
          </a:solidFill>
          <a:ln w="6350">
            <a:solidFill>
              <a:srgbClr val="B8DADD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3218688" y="293522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971800"/>
            <a:ext cx="237744" cy="237744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3694176" y="28803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Noob Test Reports</a:t>
            </a:r>
            <a:endParaRPr lang="en-US" sz="1200" dirty="0"/>
          </a:p>
        </p:txBody>
      </p:sp>
      <p:sp>
        <p:nvSpPr>
          <p:cNvPr id="31" name="Text 26"/>
          <p:cNvSpPr/>
          <p:nvPr/>
        </p:nvSpPr>
        <p:spPr>
          <a:xfrm>
            <a:off x="3694176" y="314553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First-time reader UX tested daily via Playwright on hosted site</a:t>
            </a:r>
            <a:endParaRPr lang="en-US" sz="950" dirty="0"/>
          </a:p>
        </p:txBody>
      </p:sp>
      <p:sp>
        <p:nvSpPr>
          <p:cNvPr id="32" name="Shape 27"/>
          <p:cNvSpPr/>
          <p:nvPr/>
        </p:nvSpPr>
        <p:spPr>
          <a:xfrm>
            <a:off x="3108960" y="3557016"/>
            <a:ext cx="5715000" cy="594360"/>
          </a:xfrm>
          <a:prstGeom prst="rect">
            <a:avLst/>
          </a:prstGeom>
          <a:solidFill>
            <a:srgbClr val="EBF7F7"/>
          </a:solidFill>
          <a:ln w="6350">
            <a:solidFill>
              <a:srgbClr val="B8DADD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3218688" y="364845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3685032"/>
            <a:ext cx="237744" cy="237744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3694176" y="359359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Agentic PRs (recent 20)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3694176" y="3858768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human + 4 bot of 20 recent merged docs-vnext PRs</a:t>
            </a:r>
            <a:endParaRPr lang="en-US" sz="950" dirty="0"/>
          </a:p>
        </p:txBody>
      </p:sp>
      <p:sp>
        <p:nvSpPr>
          <p:cNvPr id="37" name="Shape 31"/>
          <p:cNvSpPr/>
          <p:nvPr/>
        </p:nvSpPr>
        <p:spPr>
          <a:xfrm>
            <a:off x="3108960" y="4270248"/>
            <a:ext cx="5715000" cy="594360"/>
          </a:xfrm>
          <a:prstGeom prst="rect">
            <a:avLst/>
          </a:prstGeom>
          <a:solidFill>
            <a:srgbClr val="EBF7F7"/>
          </a:solidFill>
          <a:ln w="6350">
            <a:solidFill>
              <a:srgbClr val="B8DADD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3218688" y="436168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3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1840" y="4398264"/>
            <a:ext cx="237744" cy="237744"/>
          </a:xfrm>
          <a:prstGeom prst="rect">
            <a:avLst/>
          </a:prstGeom>
        </p:spPr>
      </p:pic>
      <p:sp>
        <p:nvSpPr>
          <p:cNvPr id="40" name="Text 33"/>
          <p:cNvSpPr/>
          <p:nvPr/>
        </p:nvSpPr>
        <p:spPr>
          <a:xfrm>
            <a:off x="3694176" y="430682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Milestones</a:t>
            </a:r>
            <a:endParaRPr lang="en-US" sz="1200" dirty="0"/>
          </a:p>
        </p:txBody>
      </p:sp>
      <p:sp>
        <p:nvSpPr>
          <p:cNvPr id="41" name="Text 34"/>
          <p:cNvSpPr/>
          <p:nvPr/>
        </p:nvSpPr>
        <p:spPr>
          <a:xfrm>
            <a:off x="3694176" y="4572000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(PR #28, 35 terms) · Unbloat (PR #23, −7% words) · Eval harness (2026-07)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10896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Agentic Chain in Action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⛓  Upstream Docs Sync Chain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298448"/>
            <a:ext cx="1920240" cy="14447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51560" y="1426464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1481328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93192" y="1956816"/>
            <a:ext cx="1773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 Docs Monitor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93192" y="2304288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schedule: every 12h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304288" y="2020824"/>
            <a:ext cx="201168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20040" y="28072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azure-ai-docs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new commits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587752" y="1298448"/>
            <a:ext cx="1920240" cy="1444752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19272" y="1426464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481328"/>
            <a:ext cx="329184" cy="32918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660904" y="1956816"/>
            <a:ext cx="1773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Creates Issue #494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2660904" y="2304288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[upstream-docs] label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0" y="2020824"/>
            <a:ext cx="201168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587752" y="28072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"Upstream Foundry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Changes Detected"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4855464" y="1298448"/>
            <a:ext cx="1920240" cy="14447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5586984" y="1426464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481328"/>
            <a:ext cx="329184" cy="32918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928616" y="1956816"/>
            <a:ext cx="1773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sync-and-convert.yml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928616" y="2304288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Actions</a:t>
            </a:r>
            <a:endParaRPr lang="en-US" sz="850" dirty="0"/>
          </a:p>
        </p:txBody>
      </p:sp>
      <p:sp>
        <p:nvSpPr>
          <p:cNvPr id="24" name="Shape 19"/>
          <p:cNvSpPr/>
          <p:nvPr/>
        </p:nvSpPr>
        <p:spPr>
          <a:xfrm>
            <a:off x="6839712" y="2020824"/>
            <a:ext cx="201168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4855464" y="28072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&amp; converts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Learn → MDX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7123176" y="1298448"/>
            <a:ext cx="1920240" cy="1444752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854696" y="1426464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1481328"/>
            <a:ext cx="329184" cy="32918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196328" y="1956816"/>
            <a:ext cx="1773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Post-Sync Updater</a:t>
            </a:r>
            <a:endParaRPr lang="en-US" sz="1050" dirty="0"/>
          </a:p>
        </p:txBody>
      </p:sp>
      <p:sp>
        <p:nvSpPr>
          <p:cNvPr id="30" name="Text 24"/>
          <p:cNvSpPr/>
          <p:nvPr/>
        </p:nvSpPr>
        <p:spPr>
          <a:xfrm>
            <a:off x="7196328" y="2304288"/>
            <a:ext cx="17739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workflow_run trigger</a:t>
            </a:r>
            <a:endParaRPr lang="en-US" sz="850" dirty="0"/>
          </a:p>
        </p:txBody>
      </p:sp>
      <p:sp>
        <p:nvSpPr>
          <p:cNvPr id="31" name="Text 25"/>
          <p:cNvSpPr/>
          <p:nvPr/>
        </p:nvSpPr>
        <p:spPr>
          <a:xfrm>
            <a:off x="7123176" y="280720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changes,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docs-vnext PR</a:t>
            </a:r>
            <a:endParaRPr lang="en-US" sz="850" dirty="0"/>
          </a:p>
        </p:txBody>
      </p:sp>
      <p:sp>
        <p:nvSpPr>
          <p:cNvPr id="32" name="Text 26"/>
          <p:cNvSpPr/>
          <p:nvPr/>
        </p:nvSpPr>
        <p:spPr>
          <a:xfrm>
            <a:off x="365760" y="331012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⛓  SDK Release Detection Chain</a:t>
            </a:r>
            <a:endParaRPr lang="en-US" sz="1250" dirty="0"/>
          </a:p>
        </p:txBody>
      </p:sp>
      <p:sp>
        <p:nvSpPr>
          <p:cNvPr id="33" name="Shape 27"/>
          <p:cNvSpPr/>
          <p:nvPr/>
        </p:nvSpPr>
        <p:spPr>
          <a:xfrm>
            <a:off x="320040" y="3657600"/>
            <a:ext cx="1901952" cy="7498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Text 28"/>
          <p:cNvSpPr/>
          <p:nvPr/>
        </p:nvSpPr>
        <p:spPr>
          <a:xfrm>
            <a:off x="393192" y="371246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</a:t>
            </a:r>
            <a:endParaRPr lang="en-US" sz="950" dirty="0"/>
          </a:p>
        </p:txBody>
      </p:sp>
      <p:sp>
        <p:nvSpPr>
          <p:cNvPr id="35" name="Text 29"/>
          <p:cNvSpPr/>
          <p:nvPr/>
        </p:nvSpPr>
        <p:spPr>
          <a:xfrm>
            <a:off x="393192" y="4133088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schedule: every 12h</a:t>
            </a:r>
            <a:endParaRPr lang="en-US" sz="800" dirty="0"/>
          </a:p>
        </p:txBody>
      </p:sp>
      <p:sp>
        <p:nvSpPr>
          <p:cNvPr id="36" name="Shape 30"/>
          <p:cNvSpPr/>
          <p:nvPr/>
        </p:nvSpPr>
        <p:spPr>
          <a:xfrm>
            <a:off x="2276856" y="4032504"/>
            <a:ext cx="219456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37" name="Shape 31"/>
          <p:cNvSpPr/>
          <p:nvPr/>
        </p:nvSpPr>
        <p:spPr>
          <a:xfrm>
            <a:off x="2578608" y="3657600"/>
            <a:ext cx="1901952" cy="749808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8" name="Text 32"/>
          <p:cNvSpPr/>
          <p:nvPr/>
        </p:nvSpPr>
        <p:spPr>
          <a:xfrm>
            <a:off x="2651760" y="371246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Detects Python 2.3.0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 Java 2.2.0</a:t>
            </a:r>
            <a:endParaRPr lang="en-US" sz="950" dirty="0"/>
          </a:p>
        </p:txBody>
      </p:sp>
      <p:sp>
        <p:nvSpPr>
          <p:cNvPr id="39" name="Text 33"/>
          <p:cNvSpPr/>
          <p:nvPr/>
        </p:nvSpPr>
        <p:spPr>
          <a:xfrm>
            <a:off x="2651760" y="4133088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 release across 4 SDKs</a:t>
            </a:r>
            <a:endParaRPr lang="en-US" sz="800" dirty="0"/>
          </a:p>
        </p:txBody>
      </p:sp>
      <p:sp>
        <p:nvSpPr>
          <p:cNvPr id="40" name="Shape 34"/>
          <p:cNvSpPr/>
          <p:nvPr/>
        </p:nvSpPr>
        <p:spPr>
          <a:xfrm>
            <a:off x="4535424" y="4032504"/>
            <a:ext cx="219456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41" name="Shape 35"/>
          <p:cNvSpPr/>
          <p:nvPr/>
        </p:nvSpPr>
        <p:spPr>
          <a:xfrm>
            <a:off x="4837176" y="3657600"/>
            <a:ext cx="1901952" cy="749808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2" name="Text 36"/>
          <p:cNvSpPr/>
          <p:nvPr/>
        </p:nvSpPr>
        <p:spPr>
          <a:xfrm>
            <a:off x="4910328" y="371246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Creates Issue #493</a:t>
            </a:r>
            <a:endParaRPr lang="en-US" sz="950" dirty="0"/>
          </a:p>
        </p:txBody>
      </p:sp>
      <p:sp>
        <p:nvSpPr>
          <p:cNvPr id="43" name="Text 37"/>
          <p:cNvSpPr/>
          <p:nvPr/>
        </p:nvSpPr>
        <p:spPr>
          <a:xfrm>
            <a:off x="4910328" y="4133088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[sdk-release] label</a:t>
            </a:r>
            <a:endParaRPr lang="en-US" sz="800" dirty="0"/>
          </a:p>
        </p:txBody>
      </p:sp>
      <p:sp>
        <p:nvSpPr>
          <p:cNvPr id="44" name="Shape 38"/>
          <p:cNvSpPr/>
          <p:nvPr/>
        </p:nvSpPr>
        <p:spPr>
          <a:xfrm>
            <a:off x="6793992" y="4032504"/>
            <a:ext cx="219456" cy="0"/>
          </a:xfrm>
          <a:prstGeom prst="line">
            <a:avLst/>
          </a:prstGeom>
          <a:noFill/>
          <a:ln w="25400">
            <a:solidFill>
              <a:srgbClr val="00A896"/>
            </a:solidFill>
            <a:prstDash val="solid"/>
          </a:ln>
        </p:spPr>
      </p:sp>
      <p:sp>
        <p:nvSpPr>
          <p:cNvPr id="45" name="Shape 39"/>
          <p:cNvSpPr/>
          <p:nvPr/>
        </p:nvSpPr>
        <p:spPr>
          <a:xfrm>
            <a:off x="7095744" y="3657600"/>
            <a:ext cx="1901952" cy="749808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6" name="Text 40"/>
          <p:cNvSpPr/>
          <p:nvPr/>
        </p:nvSpPr>
        <p:spPr>
          <a:xfrm>
            <a:off x="7168896" y="3712464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 Impact Report</a:t>
            </a:r>
            <a:endParaRPr lang="en-US" sz="950" dirty="0"/>
          </a:p>
        </p:txBody>
      </p:sp>
      <p:sp>
        <p:nvSpPr>
          <p:cNvPr id="47" name="Text 41"/>
          <p:cNvSpPr/>
          <p:nvPr/>
        </p:nvSpPr>
        <p:spPr>
          <a:xfrm>
            <a:off x="7168896" y="4133088"/>
            <a:ext cx="17556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 analyzed</a:t>
            </a:r>
            <a:endParaRPr lang="en-US" sz="800" dirty="0"/>
          </a:p>
        </p:txBody>
      </p:sp>
      <p:sp>
        <p:nvSpPr>
          <p:cNvPr id="48" name="Shape 42"/>
          <p:cNvSpPr/>
          <p:nvPr/>
        </p:nvSpPr>
        <p:spPr>
          <a:xfrm>
            <a:off x="0" y="4736592"/>
            <a:ext cx="9144000" cy="406908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365760" y="477316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upstream sync events · 10 SDK release events · 3 chained workflow triggers · all fully automated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Dive: Agentic Content Improvements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1024128"/>
            <a:ext cx="4023360" cy="38587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24128"/>
            <a:ext cx="402336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887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111556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Glossary Creation — PR #28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57200" y="1783080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 Maintainer scanned codebase commits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created a 35-term glossary from zero.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377440"/>
            <a:ext cx="3749040" cy="384048"/>
          </a:xfrm>
          <a:prstGeom prst="rect">
            <a:avLst/>
          </a:prstGeom>
          <a:solidFill>
            <a:srgbClr val="022C33"/>
          </a:solidFill>
          <a:ln w="6350">
            <a:solidFill>
              <a:srgbClr val="025E6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245059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808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file: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1810512" y="245059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docs-vnext/glossary.mdx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57200" y="2852928"/>
            <a:ext cx="3749040" cy="384048"/>
          </a:xfrm>
          <a:prstGeom prst="rect">
            <a:avLst/>
          </a:prstGeom>
          <a:solidFill>
            <a:srgbClr val="022C33"/>
          </a:solidFill>
          <a:ln w="6350">
            <a:solidFill>
              <a:srgbClr val="025E6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4360" y="29260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808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Terms: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810512" y="2926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 across 16 sections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328416"/>
            <a:ext cx="3749040" cy="384048"/>
          </a:xfrm>
          <a:prstGeom prst="rect">
            <a:avLst/>
          </a:prstGeom>
          <a:solidFill>
            <a:srgbClr val="022C33"/>
          </a:solidFill>
          <a:ln w="6350">
            <a:solidFill>
              <a:srgbClr val="025E6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94360" y="340156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808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Lines added: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1810512" y="340156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+194 lines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03904"/>
            <a:ext cx="3749040" cy="384048"/>
          </a:xfrm>
          <a:prstGeom prst="rect">
            <a:avLst/>
          </a:prstGeom>
          <a:solidFill>
            <a:srgbClr val="022C33"/>
          </a:solidFill>
          <a:ln w="6350">
            <a:solidFill>
              <a:srgbClr val="025E6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" y="387705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808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Nav update: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1810512" y="38770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 group added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4279392"/>
            <a:ext cx="3749040" cy="384048"/>
          </a:xfrm>
          <a:prstGeom prst="rect">
            <a:avLst/>
          </a:prstGeom>
          <a:solidFill>
            <a:srgbClr val="022C33"/>
          </a:solidFill>
          <a:ln w="6350">
            <a:solidFill>
              <a:srgbClr val="025E6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94360" y="435254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A808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Merged: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1810512" y="4352544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2026-03-02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457200" y="4590288"/>
            <a:ext cx="3749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Foundry · MCP Ecosystem · Search &amp; Retrieval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Tools · Evaluation · Developer Tooling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800600" y="1024128"/>
            <a:ext cx="4023360" cy="3858768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800600" y="1024128"/>
            <a:ext cx="4023360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188720"/>
            <a:ext cx="502920" cy="50292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577840" y="111556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Unbloat Improvement — PR #23</a:t>
            </a:r>
            <a:endParaRPr lang="en-US" sz="1500" dirty="0"/>
          </a:p>
        </p:txBody>
      </p:sp>
      <p:sp>
        <p:nvSpPr>
          <p:cNvPr id="29" name="Text 25"/>
          <p:cNvSpPr/>
          <p:nvPr/>
        </p:nvSpPr>
        <p:spPr>
          <a:xfrm>
            <a:off x="4937760" y="1783080"/>
            <a:ext cx="3749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Unbloat agent improved cloud-evaluation.mdx: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duplicate paragraphs, tip boxes, bloat.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4937760" y="2377440"/>
            <a:ext cx="3749040" cy="2926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4937760" y="2414016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</a:t>
            </a:r>
            <a:endParaRPr lang="en-US" sz="950" dirty="0"/>
          </a:p>
        </p:txBody>
      </p:sp>
      <p:sp>
        <p:nvSpPr>
          <p:cNvPr id="32" name="Text 28"/>
          <p:cNvSpPr/>
          <p:nvPr/>
        </p:nvSpPr>
        <p:spPr>
          <a:xfrm>
            <a:off x="5742432" y="2414016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Before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6327648" y="2414016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After</a:t>
            </a:r>
            <a:endParaRPr lang="en-US" sz="950" dirty="0"/>
          </a:p>
        </p:txBody>
      </p:sp>
      <p:sp>
        <p:nvSpPr>
          <p:cNvPr id="34" name="Text 30"/>
          <p:cNvSpPr/>
          <p:nvPr/>
        </p:nvSpPr>
        <p:spPr>
          <a:xfrm>
            <a:off x="7205472" y="2414016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Δ</a:t>
            </a:r>
            <a:endParaRPr lang="en-US" sz="950" dirty="0"/>
          </a:p>
        </p:txBody>
      </p:sp>
      <p:sp>
        <p:nvSpPr>
          <p:cNvPr id="35" name="Shape 31"/>
          <p:cNvSpPr/>
          <p:nvPr/>
        </p:nvSpPr>
        <p:spPr>
          <a:xfrm>
            <a:off x="4937760" y="2697480"/>
            <a:ext cx="3749040" cy="347472"/>
          </a:xfrm>
          <a:prstGeom prst="rect">
            <a:avLst/>
          </a:prstGeom>
          <a:solidFill>
            <a:srgbClr val="02303A"/>
          </a:solidFill>
          <a:ln w="6350">
            <a:solidFill>
              <a:srgbClr val="025E6A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4937760" y="2770632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DA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Lines</a:t>
            </a:r>
            <a:endParaRPr lang="en-US" sz="1000" dirty="0"/>
          </a:p>
        </p:txBody>
      </p:sp>
      <p:sp>
        <p:nvSpPr>
          <p:cNvPr id="37" name="Text 33"/>
          <p:cNvSpPr/>
          <p:nvPr/>
        </p:nvSpPr>
        <p:spPr>
          <a:xfrm>
            <a:off x="5742432" y="2770632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913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6327648" y="2770632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884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7205472" y="2770632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−29 (3%)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4937760" y="3099816"/>
            <a:ext cx="3749040" cy="347472"/>
          </a:xfrm>
          <a:prstGeom prst="rect">
            <a:avLst/>
          </a:prstGeom>
          <a:solidFill>
            <a:srgbClr val="02303A"/>
          </a:solidFill>
          <a:ln w="6350">
            <a:solidFill>
              <a:srgbClr val="025E6A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4937760" y="3172968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DA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5742432" y="3172968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3,412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6327648" y="3172968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3,180</a:t>
            </a:r>
            <a:endParaRPr lang="en-US" sz="1000" dirty="0"/>
          </a:p>
        </p:txBody>
      </p:sp>
      <p:sp>
        <p:nvSpPr>
          <p:cNvPr id="44" name="Text 40"/>
          <p:cNvSpPr/>
          <p:nvPr/>
        </p:nvSpPr>
        <p:spPr>
          <a:xfrm>
            <a:off x="7205472" y="3172968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−232 (7%)</a:t>
            </a:r>
            <a:endParaRPr lang="en-US" sz="1000" dirty="0"/>
          </a:p>
        </p:txBody>
      </p:sp>
      <p:sp>
        <p:nvSpPr>
          <p:cNvPr id="45" name="Shape 41"/>
          <p:cNvSpPr/>
          <p:nvPr/>
        </p:nvSpPr>
        <p:spPr>
          <a:xfrm>
            <a:off x="4937760" y="3502152"/>
            <a:ext cx="3749040" cy="347472"/>
          </a:xfrm>
          <a:prstGeom prst="rect">
            <a:avLst/>
          </a:prstGeom>
          <a:solidFill>
            <a:srgbClr val="023840"/>
          </a:solidFill>
          <a:ln w="6350">
            <a:solidFill>
              <a:srgbClr val="025E6A"/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4937760" y="357530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DA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Bullets</a:t>
            </a:r>
            <a:endParaRPr lang="en-US" sz="1000" dirty="0"/>
          </a:p>
        </p:txBody>
      </p:sp>
      <p:sp>
        <p:nvSpPr>
          <p:cNvPr id="47" name="Text 43"/>
          <p:cNvSpPr/>
          <p:nvPr/>
        </p:nvSpPr>
        <p:spPr>
          <a:xfrm>
            <a:off x="5742432" y="357530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327648" y="357530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000" dirty="0"/>
          </a:p>
        </p:txBody>
      </p:sp>
      <p:sp>
        <p:nvSpPr>
          <p:cNvPr id="49" name="Text 45"/>
          <p:cNvSpPr/>
          <p:nvPr/>
        </p:nvSpPr>
        <p:spPr>
          <a:xfrm>
            <a:off x="7205472" y="357530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−10 (34.5%)</a:t>
            </a:r>
            <a:endParaRPr lang="en-US" sz="1000" dirty="0"/>
          </a:p>
        </p:txBody>
      </p:sp>
      <p:sp>
        <p:nvSpPr>
          <p:cNvPr id="50" name="Text 46"/>
          <p:cNvSpPr/>
          <p:nvPr/>
        </p:nvSpPr>
        <p:spPr>
          <a:xfrm>
            <a:off x="4937760" y="3977640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Bloat types removed: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4937760" y="422452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Duplicate paragraph</a:t>
            </a:r>
            <a:endParaRPr lang="en-US" sz="1000" dirty="0"/>
          </a:p>
        </p:txBody>
      </p:sp>
      <p:sp>
        <p:nvSpPr>
          <p:cNvPr id="52" name="Text 48"/>
          <p:cNvSpPr/>
          <p:nvPr/>
        </p:nvSpPr>
        <p:spPr>
          <a:xfrm>
            <a:off x="4937760" y="444398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4× identical tip boxes</a:t>
            </a:r>
            <a:endParaRPr lang="en-US" sz="1000" dirty="0"/>
          </a:p>
        </p:txBody>
      </p:sp>
      <p:sp>
        <p:nvSpPr>
          <p:cNvPr id="53" name="Text 49"/>
          <p:cNvSpPr/>
          <p:nvPr/>
        </p:nvSpPr>
        <p:spPr>
          <a:xfrm>
            <a:off x="4937760" y="466344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Verbose bullet → table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4937760" y="488289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Redundant sentences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20040"/>
            <a:ext cx="6858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 Harness Results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896112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evaluations · 4 servers · 2 frontier models · 2026-07-05</a:t>
            </a:r>
            <a:endParaRPr lang="en-US" sz="11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5166360" cy="173736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1005840"/>
                <a:gridCol w="11430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claude-sonnet-4.6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gpt-5.4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FastMCP docs/ 🥇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 Learn 🥈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2E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AF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docs-vnext/ 🥉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2C39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2C33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Mintlify MCP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5A80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280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3017520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Hypothesis Testing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0040" y="3401568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38912" y="3447288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H1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22960" y="344728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084832" y="3456432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(0.893) vs docs/ (0.897), δ=−0.004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0040" y="3794760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8912" y="3840480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H2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22960" y="38404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MARGINAL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084832" y="3849624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Mintlify MCP (0.884), δ=+0.009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20040" y="4187952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38912" y="4233672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H3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22960" y="4233672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404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❌ REJECTED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084832" y="4242816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MS Learn (0.896), δ=−0.003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0040" y="4581144"/>
            <a:ext cx="5166360" cy="320040"/>
          </a:xfrm>
          <a:prstGeom prst="rect">
            <a:avLst/>
          </a:prstGeom>
          <a:solidFill>
            <a:srgbClr val="022C33"/>
          </a:solidFill>
          <a:ln w="6350">
            <a:solidFill>
              <a:srgbClr val="02809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38912" y="4626864"/>
            <a:ext cx="347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H4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22960" y="4626864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MIXED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2084832" y="4636008"/>
            <a:ext cx="32918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gpt-5.4: Mintlify &gt; MS Learn &gt; docs/ &gt; docs-vnext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87568" y="118872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Category Breakdown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87568" y="157276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agent-development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87568" y="1828800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687568" y="1828800"/>
            <a:ext cx="1666768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595360" y="1828800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0.897 ▲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5687568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getting-started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5687568" y="2487168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687568" y="2487168"/>
            <a:ext cx="1213226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595360" y="2487168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0.857 ▲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687568" y="28895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infra-security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5687568" y="3145536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687568" y="3145536"/>
            <a:ext cx="2347082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595360" y="3145536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0.957 ▲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5687568" y="35478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observability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687568" y="3803904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687568" y="3803904"/>
            <a:ext cx="827715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8595360" y="3803904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0.823 —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5687568" y="420624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sdk-api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687568" y="4462272"/>
            <a:ext cx="2834640" cy="256032"/>
          </a:xfrm>
          <a:prstGeom prst="rect">
            <a:avLst/>
          </a:prstGeom>
          <a:solidFill>
            <a:srgbClr val="022C33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5687568" y="4462272"/>
            <a:ext cx="2074956" cy="256032"/>
          </a:xfrm>
          <a:prstGeom prst="rect">
            <a:avLst/>
          </a:prstGeom>
          <a:solidFill>
            <a:srgbClr val="5A8087"/>
          </a:solidFill>
          <a:ln w="12700">
            <a:solidFill>
              <a:srgbClr val="5A808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8595360" y="4462272"/>
            <a:ext cx="502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0.933 —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28090">
              <a:alpha val="30000"/>
            </a:srgbClr>
          </a:solidFill>
          <a:ln w="12700">
            <a:solidFill>
              <a:srgbClr val="028090">
                <a:alpha val="3000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65760" y="4791456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leads in infra-security (0.957) and agent-development (0.897) — areas benefiting most from Mintlify MDX structure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Integration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43200" cy="3520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62456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896" y="1435608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29768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Discussions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29768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microsoft-foundry/discussions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8056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repository_dispatch fires whenever a new discussion is posted. The agent reads context from cache-memory and determines if docs need updating or a response is warranted.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4408" y="1143000"/>
            <a:ext cx="2743200" cy="35204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06824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43560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74136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 Feedback Responder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374136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issue_comment events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92424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responds to discussions referencing documentation gaps. Surfaces the most relevant docs and flags content needing improvement.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08776" y="1143000"/>
            <a:ext cx="2743200" cy="3520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51192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632" y="1435608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18504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Auto-Triage Issues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18504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issues: opened, labeled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336792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and triages new GitHub issues, routing documentation bugs to the appropriate agent workflows. Integrates with label-ops for structured labeling.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Monitoring — 5 Repos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new azure-ai-projects releases and assesses documentation impact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1920240" cy="2926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55648"/>
            <a:ext cx="658368" cy="6583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Azure/azure-sdk-for-python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93192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554480"/>
            <a:ext cx="1920240" cy="292608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1755648"/>
            <a:ext cx="658368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87752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2679192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2660904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sdk/ai/ai-projects/CHANGELOG.md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816352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816352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855464" y="1554480"/>
            <a:ext cx="1920240" cy="2926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855464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755648"/>
            <a:ext cx="658368" cy="6583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855464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4946904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Azure/azure-sdk-for-net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4928616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sdk/ai/Azure.AI.Projects/CHANGELOG.md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5084064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5084064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7123176" y="1554480"/>
            <a:ext cx="1920240" cy="29260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123176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1755648"/>
            <a:ext cx="658368" cy="6583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23176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7214616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Azure/azure-sdk-for-java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7196328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7351776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351776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441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526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MDX Pages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docs-vnext/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27832" y="111556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34416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59352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23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64992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64992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definitions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35624" y="111556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344168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67144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272784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 Sections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72784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areas covered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20040" y="326440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49300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1560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57200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Slash Commands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57200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/audit /unbloat /sdk-check…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27832" y="326440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3493008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959352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64992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Repos Tracked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64992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JS · .NET · Java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35624" y="326440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504" y="3493008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67144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17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272784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Scheduled Jobs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272784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daily/weekly/12h cron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3200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11480" y="124358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8016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23444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overview page generated from agent-surfaced coverage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865376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9019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185623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 dashboard — track MRR/NDCG trends over time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11480" y="2487168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52374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47802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gap filling — auto-draft missing pages from upstream signals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11480" y="3108960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1455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099816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→ Mintlify deployment via GitHub Pages or Vercel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11480" y="373075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767328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37216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guardrails section expansion with worked examples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411480" y="435254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" y="4389120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60120" y="434340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ops dashboard embedding MCP server telemetry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24" name="Text 16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· github.com/nicholasdbrady/foundry-docs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 Overview</dc:title>
  <dc:subject>PptxGenJS Presentation</dc:subject>
  <dc:creator>Foundry-Docs Slide Agent</dc:creator>
  <cp:lastModifiedBy>Foundry-Docs Slide Agent</cp:lastModifiedBy>
  <cp:revision>1</cp:revision>
  <dcterms:created xsi:type="dcterms:W3CDTF">2026-07-06T10:54:53Z</dcterms:created>
  <dcterms:modified xsi:type="dcterms:W3CDTF">2026-07-06T10:54:53Z</dcterms:modified>
</cp:coreProperties>
</file>