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Reference</c:v>
                  </c:pt>
                  <c:pt idx="1">
                    <c:v>Overview</c:v>
                  </c:pt>
                  <c:pt idx="2">
                    <c:v>Get Started</c:v>
                  </c:pt>
                  <c:pt idx="3">
                    <c:v>Best Practices</c:v>
                  </c:pt>
                  <c:pt idx="4">
                    <c:v>Operate</c:v>
                  </c:pt>
                  <c:pt idx="5">
                    <c:v>Responsible AI</c:v>
                  </c:pt>
                  <c:pt idx="6">
                    <c:v>Manage</c:v>
                  </c:pt>
                  <c:pt idx="7">
                    <c:v>Dev Experience</c:v>
                  </c:pt>
                  <c:pt idx="8">
                    <c:v>API &amp; SDK</c:v>
                  </c:pt>
                  <c:pt idx="9">
                    <c:v>Guardrails</c:v>
                  </c:pt>
                  <c:pt idx="10">
                    <c:v>Security</c:v>
                  </c:pt>
                  <c:pt idx="11">
                    <c:v>Setup</c:v>
                  </c:pt>
                  <c:pt idx="12">
                    <c:v>Observability</c:v>
                  </c:pt>
                  <c:pt idx="13">
                    <c:v>Agents</c:v>
                  </c:pt>
                  <c:pt idx="14">
                    <c:v>Models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</c:v>
                </c:pt>
                <c:pt idx="1">
                  <c:v>1</c:v>
                </c:pt>
                <c:pt idx="2">
                  <c:v>4</c:v>
                </c:pt>
                <c:pt idx="3">
                  <c:v>5</c:v>
                </c:pt>
                <c:pt idx="4">
                  <c:v>7</c:v>
                </c:pt>
                <c:pt idx="5">
                  <c:v>8</c:v>
                </c:pt>
                <c:pt idx="6">
                  <c:v>9</c:v>
                </c:pt>
                <c:pt idx="7">
                  <c:v>11</c:v>
                </c:pt>
                <c:pt idx="8">
                  <c:v>14</c:v>
                </c:pt>
                <c:pt idx="9">
                  <c:v>15</c:v>
                </c:pt>
                <c:pt idx="10">
                  <c:v>20</c:v>
                </c:pt>
                <c:pt idx="11">
                  <c:v>20</c:v>
                </c:pt>
                <c:pt idx="12">
                  <c:v>24</c:v>
                </c:pt>
                <c:pt idx="13">
                  <c:v>57</c:v>
                </c:pt>
                <c:pt idx="14">
                  <c:v>72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2E3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5E8E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8087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2FAF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028090">
              <a:alpha val="22000"/>
            </a:srgbClr>
          </a:solidFill>
          <a:ln w="12700">
            <a:solidFill>
              <a:srgbClr val="028090">
                <a:alpha val="2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046720" y="2560320"/>
            <a:ext cx="2011680" cy="2011680"/>
          </a:xfrm>
          <a:prstGeom prst="ellipse">
            <a:avLst/>
          </a:prstGeom>
          <a:solidFill>
            <a:srgbClr val="00A896">
              <a:alpha val="18000"/>
            </a:srgbClr>
          </a:solidFill>
          <a:ln w="12700">
            <a:solidFill>
              <a:srgbClr val="00A896">
                <a:alpha val="18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1280160"/>
            <a:ext cx="164592" cy="201168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137160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457200" y="2560320"/>
            <a:ext cx="7498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Documentation Platform for Microsoft Foundry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0" y="4480560"/>
            <a:ext cx="9144000" cy="6629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4526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269 docs  ·  26 agentic workflows  ·  4 SDK repos monitored  ·  FastMCP server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292608"/>
            <a:ext cx="5029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11480" y="100584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FastMCP server that extracts, converts, and serves Microsoft Foundry documentation to AI assistants — with a fleet of autonomous agents keeping it accurate and up to date.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11480" y="2011680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2066544"/>
            <a:ext cx="246888" cy="2468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2011680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search_docs(query)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14400" y="2249424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full-text + vector search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11480" y="2670048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2724912"/>
            <a:ext cx="246888" cy="2468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2670048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get_doc(path)</a:t>
            </a:r>
            <a:endParaRPr lang="en-US" sz="1300" dirty="0"/>
          </a:p>
        </p:txBody>
      </p:sp>
      <p:sp>
        <p:nvSpPr>
          <p:cNvPr id="12" name="Text 8"/>
          <p:cNvSpPr/>
          <p:nvPr/>
        </p:nvSpPr>
        <p:spPr>
          <a:xfrm>
            <a:off x="914400" y="2907792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 specific doc by path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11480" y="3328416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383280"/>
            <a:ext cx="246888" cy="24688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914400" y="3328416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list_sections()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914400" y="3566160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all TOC sections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411480" y="3986784"/>
            <a:ext cx="384048" cy="384048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4041648"/>
            <a:ext cx="246888" cy="2468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914400" y="3986784"/>
            <a:ext cx="4206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get_section(section)</a:t>
            </a:r>
            <a:endParaRPr lang="en-US" sz="1300" dirty="0"/>
          </a:p>
        </p:txBody>
      </p:sp>
      <p:sp>
        <p:nvSpPr>
          <p:cNvPr id="20" name="Text 14"/>
          <p:cNvSpPr/>
          <p:nvPr/>
        </p:nvSpPr>
        <p:spPr>
          <a:xfrm>
            <a:off x="914400" y="4224528"/>
            <a:ext cx="4206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docs in a section</a:t>
            </a:r>
            <a:endParaRPr lang="en-US" sz="1200" dirty="0"/>
          </a:p>
        </p:txBody>
      </p:sp>
      <p:sp>
        <p:nvSpPr>
          <p:cNvPr id="21" name="Shape 15"/>
          <p:cNvSpPr/>
          <p:nvPr/>
        </p:nvSpPr>
        <p:spPr>
          <a:xfrm>
            <a:off x="5349240" y="256032"/>
            <a:ext cx="3566160" cy="463600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6520" y="502920"/>
            <a:ext cx="1371600" cy="1371600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5349240" y="196596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 Server</a:t>
            </a:r>
            <a:endParaRPr lang="en-US" sz="1800" dirty="0"/>
          </a:p>
        </p:txBody>
      </p:sp>
      <p:sp>
        <p:nvSpPr>
          <p:cNvPr id="24" name="Text 17"/>
          <p:cNvSpPr/>
          <p:nvPr/>
        </p:nvSpPr>
        <p:spPr>
          <a:xfrm>
            <a:off x="5349240" y="2450592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serving Microsoft Foundry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documentation via MCP</a:t>
            </a:r>
            <a:endParaRPr lang="en-US" sz="1300" dirty="0"/>
          </a:p>
        </p:txBody>
      </p:sp>
      <p:sp>
        <p:nvSpPr>
          <p:cNvPr id="25" name="Shape 18"/>
          <p:cNvSpPr/>
          <p:nvPr/>
        </p:nvSpPr>
        <p:spPr>
          <a:xfrm>
            <a:off x="539496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6" name="Text 19"/>
          <p:cNvSpPr/>
          <p:nvPr/>
        </p:nvSpPr>
        <p:spPr>
          <a:xfrm>
            <a:off x="539496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269</a:t>
            </a:r>
            <a:endParaRPr lang="en-US" sz="2600" dirty="0"/>
          </a:p>
        </p:txBody>
      </p:sp>
      <p:sp>
        <p:nvSpPr>
          <p:cNvPr id="27" name="Text 20"/>
          <p:cNvSpPr/>
          <p:nvPr/>
        </p:nvSpPr>
        <p:spPr>
          <a:xfrm>
            <a:off x="539496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Pages</a:t>
            </a:r>
            <a:endParaRPr lang="en-US" sz="1100" dirty="0"/>
          </a:p>
        </p:txBody>
      </p:sp>
      <p:sp>
        <p:nvSpPr>
          <p:cNvPr id="28" name="Shape 21"/>
          <p:cNvSpPr/>
          <p:nvPr/>
        </p:nvSpPr>
        <p:spPr>
          <a:xfrm>
            <a:off x="658368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9" name="Text 22"/>
          <p:cNvSpPr/>
          <p:nvPr/>
        </p:nvSpPr>
        <p:spPr>
          <a:xfrm>
            <a:off x="658368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2600" dirty="0"/>
          </a:p>
        </p:txBody>
      </p:sp>
      <p:sp>
        <p:nvSpPr>
          <p:cNvPr id="30" name="Text 23"/>
          <p:cNvSpPr/>
          <p:nvPr/>
        </p:nvSpPr>
        <p:spPr>
          <a:xfrm>
            <a:off x="658368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 Sections</a:t>
            </a:r>
            <a:endParaRPr lang="en-US" sz="1100" dirty="0"/>
          </a:p>
        </p:txBody>
      </p:sp>
      <p:sp>
        <p:nvSpPr>
          <p:cNvPr id="31" name="Shape 24"/>
          <p:cNvSpPr/>
          <p:nvPr/>
        </p:nvSpPr>
        <p:spPr>
          <a:xfrm>
            <a:off x="7772400" y="3246120"/>
            <a:ext cx="1097280" cy="137160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7772400" y="3337560"/>
            <a:ext cx="1097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Hybrid</a:t>
            </a:r>
            <a:endParaRPr lang="en-US" sz="2600" dirty="0"/>
          </a:p>
        </p:txBody>
      </p:sp>
      <p:sp>
        <p:nvSpPr>
          <p:cNvPr id="33" name="Text 26"/>
          <p:cNvSpPr/>
          <p:nvPr/>
        </p:nvSpPr>
        <p:spPr>
          <a:xfrm>
            <a:off x="7772400" y="3950208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Mode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Pipeline Architecture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2743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2743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MicrosoftDocs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2743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373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0116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1031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1031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Convert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1031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5661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8404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31920" y="1371600"/>
            <a:ext cx="1417320" cy="10058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39319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docs-vnext/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9319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136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269 MDX pages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949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1371600"/>
            <a:ext cx="1417320" cy="10058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7607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FastMCP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Server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7607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874520"/>
            <a:ext cx="320040" cy="0"/>
          </a:xfrm>
          <a:prstGeom prst="line">
            <a:avLst/>
          </a:prstGeom>
          <a:noFill/>
          <a:ln w="25400">
            <a:solidFill>
              <a:srgbClr val="02809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98080" y="1792224"/>
            <a:ext cx="109728" cy="16459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589520" y="1371600"/>
            <a:ext cx="1417320" cy="10058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589520" y="146304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AI Assistants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&amp; IDEs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589520" y="2029968"/>
            <a:ext cx="1417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MCP protocol</a:t>
            </a:r>
            <a:endParaRPr lang="en-US" sz="1000" dirty="0"/>
          </a:p>
        </p:txBody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2798064"/>
            <a:ext cx="237744" cy="237744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640080" y="274320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Auto-sync from upstream MicrosoftDocs 4×/day via GitHub Actions</a:t>
            </a:r>
            <a:endParaRPr lang="en-US" sz="1350" dirty="0"/>
          </a:p>
        </p:txBody>
      </p:sp>
      <p:pic>
        <p:nvPicPr>
          <p:cNvPr id="2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3291840"/>
            <a:ext cx="237744" cy="237744"/>
          </a:xfrm>
          <a:prstGeom prst="rect">
            <a:avLst/>
          </a:prstGeom>
        </p:spPr>
      </p:pic>
      <p:sp>
        <p:nvSpPr>
          <p:cNvPr id="30" name="Text 26"/>
          <p:cNvSpPr/>
          <p:nvPr/>
        </p:nvSpPr>
        <p:spPr>
          <a:xfrm>
            <a:off x="640080" y="3236976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MS Learn markdown to Mintlify MDX — callouts, tabs, code groups</a:t>
            </a:r>
            <a:endParaRPr lang="en-US" sz="13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3785616"/>
            <a:ext cx="237744" cy="237744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40080" y="3730752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workflows continuously improve accuracy, structure, and completeness</a:t>
            </a:r>
            <a:endParaRPr lang="en-US" sz="1350" dirty="0"/>
          </a:p>
        </p:txBody>
      </p:sp>
      <p:pic>
        <p:nvPicPr>
          <p:cNvPr id="3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" y="4279392"/>
            <a:ext cx="237744" cy="237744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640080" y="4224528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2E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server with hybrid Azure Search (keyword + vector + semantic reranking)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— 269 Pages Across 15 Sections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1005840"/>
          <a:ext cx="859536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5943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 Agentic Workflows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365760" y="1024128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Event-driven AI agents maintaining docs automatically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71907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86968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Monitoring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48463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Upstream, SDK, community,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 reports, Dependabot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18688" y="15544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218688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71907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85616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Testing</a:t>
            </a:r>
            <a:endParaRPr lang="en-US" sz="1450" dirty="0"/>
          </a:p>
        </p:txBody>
      </p:sp>
      <p:sp>
        <p:nvSpPr>
          <p:cNvPr id="14" name="Text 10"/>
          <p:cNvSpPr/>
          <p:nvPr/>
        </p:nvSpPr>
        <p:spPr>
          <a:xfrm>
            <a:off x="3383280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quality, testbench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6117336" y="15544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117336" y="15544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928" y="171907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84264" y="17007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  Content Updates</a:t>
            </a:r>
            <a:endParaRPr lang="en-US" sz="1450" dirty="0"/>
          </a:p>
        </p:txBody>
      </p:sp>
      <p:sp>
        <p:nvSpPr>
          <p:cNvPr id="19" name="Text 14"/>
          <p:cNvSpPr/>
          <p:nvPr/>
        </p:nvSpPr>
        <p:spPr>
          <a:xfrm>
            <a:off x="6281928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Healer, updater, unbloat,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glossary, labels, sync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320040" y="3154680"/>
            <a:ext cx="2697480" cy="14173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320040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319272"/>
            <a:ext cx="320040" cy="3200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86968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  Quality Review</a:t>
            </a:r>
            <a:endParaRPr lang="en-US" sz="1450" dirty="0"/>
          </a:p>
        </p:txBody>
      </p:sp>
      <p:sp>
        <p:nvSpPr>
          <p:cNvPr id="24" name="Text 18"/>
          <p:cNvSpPr/>
          <p:nvPr/>
        </p:nvSpPr>
        <p:spPr>
          <a:xfrm>
            <a:off x="484632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Auditor, PR reviewer,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verify, push check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3218688" y="3154680"/>
            <a:ext cx="2697480" cy="14173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218688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3319272"/>
            <a:ext cx="320040" cy="320040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785616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  Community</a:t>
            </a:r>
            <a:endParaRPr lang="en-US" sz="1450" dirty="0"/>
          </a:p>
        </p:txBody>
      </p:sp>
      <p:sp>
        <p:nvSpPr>
          <p:cNvPr id="29" name="Text 22"/>
          <p:cNvSpPr/>
          <p:nvPr/>
        </p:nvSpPr>
        <p:spPr>
          <a:xfrm>
            <a:off x="3383280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monitor, Reddit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monitor, responder, triage</a:t>
            </a:r>
            <a:endParaRPr lang="en-US" sz="1150" dirty="0"/>
          </a:p>
        </p:txBody>
      </p:sp>
      <p:sp>
        <p:nvSpPr>
          <p:cNvPr id="30" name="Shape 23"/>
          <p:cNvSpPr/>
          <p:nvPr/>
        </p:nvSpPr>
        <p:spPr>
          <a:xfrm>
            <a:off x="6117336" y="3154680"/>
            <a:ext cx="2697480" cy="141732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117336" y="3154680"/>
            <a:ext cx="2697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2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81928" y="3319272"/>
            <a:ext cx="320040" cy="320040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684264" y="3300984"/>
            <a:ext cx="20391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  Operations</a:t>
            </a:r>
            <a:endParaRPr lang="en-US" sz="1450" dirty="0"/>
          </a:p>
        </p:txBody>
      </p:sp>
      <p:sp>
        <p:nvSpPr>
          <p:cNvPr id="34" name="Text 26"/>
          <p:cNvSpPr/>
          <p:nvPr/>
        </p:nvSpPr>
        <p:spPr>
          <a:xfrm>
            <a:off x="6281928" y="37216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deck maintainer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(this deck!)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Event-Driven Trigger Coverage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399032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97280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84632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Issues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84632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 opened/labeled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227832" y="1143000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0" y="1399032"/>
            <a:ext cx="457200" cy="4572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4005072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20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92424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Dispatch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92424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 + repo_dispatch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135624" y="1143000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399032"/>
            <a:ext cx="457200" cy="45720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12864" y="1307592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300216" y="2167128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300216" y="2459736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 jobs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320040" y="2990088"/>
            <a:ext cx="2651760" cy="16459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208" y="3246120"/>
            <a:ext cx="457200" cy="45720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97280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7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84632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Pull Request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84632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open/sync/merge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3227832" y="2990088"/>
            <a:ext cx="2651760" cy="164592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29000" y="3246120"/>
            <a:ext cx="457200" cy="457200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4005072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92424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Workflow Run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92424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 triggers</a:t>
            </a:r>
            <a:endParaRPr lang="en-US" sz="1000" dirty="0"/>
          </a:p>
        </p:txBody>
      </p:sp>
      <p:sp>
        <p:nvSpPr>
          <p:cNvPr id="29" name="Shape 22"/>
          <p:cNvSpPr/>
          <p:nvPr/>
        </p:nvSpPr>
        <p:spPr>
          <a:xfrm>
            <a:off x="6135624" y="2990088"/>
            <a:ext cx="2651760" cy="16459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36792" y="3246120"/>
            <a:ext cx="457200" cy="457200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912864" y="3154680"/>
            <a:ext cx="17830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300216" y="4014216"/>
            <a:ext cx="24140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Push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300216" y="4306824"/>
            <a:ext cx="24140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 branch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Assurance Pipeline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6012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1417320"/>
            <a:ext cx="457200" cy="4572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2004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Pre-Merge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1148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on-push-docs-check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41148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pr-docs-reviewer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230428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560320" y="1143000"/>
            <a:ext cx="1920240" cy="3108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20040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41732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56032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Post-Merge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265176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post-merge-docs-verify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265176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post-sync-updater</a:t>
            </a:r>
            <a:endParaRPr lang="en-US" sz="1050" dirty="0"/>
          </a:p>
        </p:txBody>
      </p:sp>
      <p:sp>
        <p:nvSpPr>
          <p:cNvPr id="17" name="Shape 13"/>
          <p:cNvSpPr/>
          <p:nvPr/>
        </p:nvSpPr>
        <p:spPr>
          <a:xfrm>
            <a:off x="454456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143000"/>
            <a:ext cx="1920240" cy="3108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544068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1417320"/>
            <a:ext cx="457200" cy="45720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480060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Daily Healing</a:t>
            </a:r>
            <a:endParaRPr lang="en-US" sz="1400" dirty="0"/>
          </a:p>
        </p:txBody>
      </p:sp>
      <p:sp>
        <p:nvSpPr>
          <p:cNvPr id="22" name="Text 17"/>
          <p:cNvSpPr/>
          <p:nvPr/>
        </p:nvSpPr>
        <p:spPr>
          <a:xfrm>
            <a:off x="489204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docs-auditor</a:t>
            </a:r>
            <a:endParaRPr lang="en-US" sz="1050" dirty="0"/>
          </a:p>
        </p:txBody>
      </p:sp>
      <p:sp>
        <p:nvSpPr>
          <p:cNvPr id="23" name="Text 18"/>
          <p:cNvSpPr/>
          <p:nvPr/>
        </p:nvSpPr>
        <p:spPr>
          <a:xfrm>
            <a:off x="489204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daily-doc-healer</a:t>
            </a:r>
            <a:endParaRPr lang="en-US" sz="1050" dirty="0"/>
          </a:p>
        </p:txBody>
      </p:sp>
      <p:sp>
        <p:nvSpPr>
          <p:cNvPr id="24" name="Text 19"/>
          <p:cNvSpPr/>
          <p:nvPr/>
        </p:nvSpPr>
        <p:spPr>
          <a:xfrm>
            <a:off x="489204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daily-doc-updater</a:t>
            </a:r>
            <a:endParaRPr lang="en-US" sz="1050" dirty="0"/>
          </a:p>
        </p:txBody>
      </p:sp>
      <p:sp>
        <p:nvSpPr>
          <p:cNvPr id="25" name="Shape 20"/>
          <p:cNvSpPr/>
          <p:nvPr/>
        </p:nvSpPr>
        <p:spPr>
          <a:xfrm>
            <a:off x="6784848" y="2697480"/>
            <a:ext cx="210312" cy="0"/>
          </a:xfrm>
          <a:prstGeom prst="line">
            <a:avLst/>
          </a:prstGeom>
          <a:noFill/>
          <a:ln w="31750">
            <a:solidFill>
              <a:srgbClr val="028090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7040880" y="1143000"/>
            <a:ext cx="1920240" cy="3108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7680960" y="1325880"/>
            <a:ext cx="640080" cy="640080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72400" y="1417320"/>
            <a:ext cx="457200" cy="45720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7040880" y="2103120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1400" dirty="0"/>
          </a:p>
        </p:txBody>
      </p:sp>
      <p:sp>
        <p:nvSpPr>
          <p:cNvPr id="30" name="Text 24"/>
          <p:cNvSpPr/>
          <p:nvPr/>
        </p:nvSpPr>
        <p:spPr>
          <a:xfrm>
            <a:off x="7132320" y="2587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docs-noob-tester</a:t>
            </a:r>
            <a:endParaRPr lang="en-US" sz="1050" dirty="0"/>
          </a:p>
        </p:txBody>
      </p:sp>
      <p:sp>
        <p:nvSpPr>
          <p:cNvPr id="31" name="Text 25"/>
          <p:cNvSpPr/>
          <p:nvPr/>
        </p:nvSpPr>
        <p:spPr>
          <a:xfrm>
            <a:off x="7132320" y="306324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multi-device-tester</a:t>
            </a:r>
            <a:endParaRPr lang="en-US" sz="1050" dirty="0"/>
          </a:p>
        </p:txBody>
      </p:sp>
      <p:sp>
        <p:nvSpPr>
          <p:cNvPr id="32" name="Text 26"/>
          <p:cNvSpPr/>
          <p:nvPr/>
        </p:nvSpPr>
        <p:spPr>
          <a:xfrm>
            <a:off x="7132320" y="353872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search-test</a:t>
            </a:r>
            <a:endParaRPr lang="en-US" sz="1050" dirty="0"/>
          </a:p>
        </p:txBody>
      </p:sp>
      <p:sp>
        <p:nvSpPr>
          <p:cNvPr id="33" name="Text 27"/>
          <p:cNvSpPr/>
          <p:nvPr/>
        </p:nvSpPr>
        <p:spPr>
          <a:xfrm>
            <a:off x="365760" y="4462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A808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merge triggers automated checks · Daily audits catch regressions · Noob testing validates first-time reader experience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43000"/>
            <a:ext cx="2743200" cy="35204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62456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53896" y="1435608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29768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Discussions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429768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microsoft-foundry/discussions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48056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repository_dispatch fires whenever a new discussion is posted. The agent reads context from cache-memory and determines if docs need updating or a response is warranted.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264408" y="1143000"/>
            <a:ext cx="2743200" cy="352044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306824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8264" y="1435608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374136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Discussion Feedback Responder</a:t>
            </a:r>
            <a:endParaRPr lang="en-US" sz="1350" dirty="0"/>
          </a:p>
        </p:txBody>
      </p:sp>
      <p:sp>
        <p:nvSpPr>
          <p:cNvPr id="14" name="Text 10"/>
          <p:cNvSpPr/>
          <p:nvPr/>
        </p:nvSpPr>
        <p:spPr>
          <a:xfrm>
            <a:off x="3374136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issue_comment events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92424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responds to discussions referencing documentation gaps. Surfaces the most relevant docs and flags content needing improvement.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6208776" y="1143000"/>
            <a:ext cx="2743200" cy="352044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251192" y="1344168"/>
            <a:ext cx="658368" cy="658368"/>
          </a:xfrm>
          <a:prstGeom prst="ellipse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2632" y="1435608"/>
            <a:ext cx="475488" cy="47548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318504" y="2130552"/>
            <a:ext cx="2523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Auto-Triage Issues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6318504" y="2624328"/>
            <a:ext cx="25237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issues: opened, labeled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336792" y="2990088"/>
            <a:ext cx="248716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and triages new GitHub issues, routing documentation bugs to the appropriate agent workflows. Integrates with label-ops for structured labeling.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— 4 Repos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987552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Detects new azure-ai-projects releases and assesses documentation impact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20040" y="1554480"/>
            <a:ext cx="1920240" cy="292608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0976" y="1755648"/>
            <a:ext cx="658368" cy="65836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11480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Azure/azure-sdk-for-python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393192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548640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48640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2587752" y="1554480"/>
            <a:ext cx="1920240" cy="2926080"/>
          </a:xfrm>
          <a:prstGeom prst="rect">
            <a:avLst/>
          </a:prstGeom>
          <a:solidFill>
            <a:srgbClr val="014A55"/>
          </a:solidFill>
          <a:ln w="12700">
            <a:solidFill>
              <a:srgbClr val="014A55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587752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8688" y="1755648"/>
            <a:ext cx="658368" cy="65836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2587752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2679192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Azure/azure-sdk-for-js</a:t>
            </a:r>
            <a:endParaRPr lang="en-US" sz="900" dirty="0"/>
          </a:p>
        </p:txBody>
      </p:sp>
      <p:sp>
        <p:nvSpPr>
          <p:cNvPr id="18" name="Text 14"/>
          <p:cNvSpPr/>
          <p:nvPr/>
        </p:nvSpPr>
        <p:spPr>
          <a:xfrm>
            <a:off x="2660904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sdk/ai/ai-projects/CHANGELOG.md</a:t>
            </a:r>
            <a:endParaRPr lang="en-US" sz="850" dirty="0"/>
          </a:p>
        </p:txBody>
      </p:sp>
      <p:sp>
        <p:nvSpPr>
          <p:cNvPr id="19" name="Shape 15"/>
          <p:cNvSpPr/>
          <p:nvPr/>
        </p:nvSpPr>
        <p:spPr>
          <a:xfrm>
            <a:off x="2816352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2816352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1" name="Shape 17"/>
          <p:cNvSpPr/>
          <p:nvPr/>
        </p:nvSpPr>
        <p:spPr>
          <a:xfrm>
            <a:off x="4855464" y="1554480"/>
            <a:ext cx="1920240" cy="292608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855464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0" y="1755648"/>
            <a:ext cx="658368" cy="658368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4855464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</a:t>
            </a:r>
            <a:endParaRPr lang="en-US" sz="1800" dirty="0"/>
          </a:p>
        </p:txBody>
      </p:sp>
      <p:sp>
        <p:nvSpPr>
          <p:cNvPr id="25" name="Text 20"/>
          <p:cNvSpPr/>
          <p:nvPr/>
        </p:nvSpPr>
        <p:spPr>
          <a:xfrm>
            <a:off x="4946904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Azure/azure-sdk-for-net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4928616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sdk/ai/Azure.AI.Projects/CHANGELOG.md</a:t>
            </a:r>
            <a:endParaRPr lang="en-US" sz="850" dirty="0"/>
          </a:p>
        </p:txBody>
      </p:sp>
      <p:sp>
        <p:nvSpPr>
          <p:cNvPr id="27" name="Shape 22"/>
          <p:cNvSpPr/>
          <p:nvPr/>
        </p:nvSpPr>
        <p:spPr>
          <a:xfrm>
            <a:off x="5084064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5084064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  <p:sp>
        <p:nvSpPr>
          <p:cNvPr id="29" name="Shape 24"/>
          <p:cNvSpPr/>
          <p:nvPr/>
        </p:nvSpPr>
        <p:spPr>
          <a:xfrm>
            <a:off x="7123176" y="1554480"/>
            <a:ext cx="1920240" cy="2926080"/>
          </a:xfrm>
          <a:prstGeom prst="rect">
            <a:avLst/>
          </a:prstGeom>
          <a:solidFill>
            <a:srgbClr val="025E6A"/>
          </a:solidFill>
          <a:ln w="12700">
            <a:solidFill>
              <a:srgbClr val="025E6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123176" y="1554480"/>
            <a:ext cx="1920240" cy="64008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54112" y="1755648"/>
            <a:ext cx="658368" cy="6583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123176" y="2514600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800" dirty="0"/>
          </a:p>
        </p:txBody>
      </p:sp>
      <p:sp>
        <p:nvSpPr>
          <p:cNvPr id="33" name="Text 27"/>
          <p:cNvSpPr/>
          <p:nvPr/>
        </p:nvSpPr>
        <p:spPr>
          <a:xfrm>
            <a:off x="7214616" y="298094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Azure/azure-sdk-for-java</a:t>
            </a:r>
            <a:endParaRPr lang="en-US" sz="900" dirty="0"/>
          </a:p>
        </p:txBody>
      </p:sp>
      <p:sp>
        <p:nvSpPr>
          <p:cNvPr id="34" name="Text 28"/>
          <p:cNvSpPr/>
          <p:nvPr/>
        </p:nvSpPr>
        <p:spPr>
          <a:xfrm>
            <a:off x="7196328" y="3346704"/>
            <a:ext cx="177393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B8DAD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sdk/ai/azure-ai-projects/CHANGELOG.md</a:t>
            </a:r>
            <a:endParaRPr lang="en-US" sz="850" dirty="0"/>
          </a:p>
        </p:txBody>
      </p:sp>
      <p:sp>
        <p:nvSpPr>
          <p:cNvPr id="35" name="Shape 29"/>
          <p:cNvSpPr/>
          <p:nvPr/>
        </p:nvSpPr>
        <p:spPr>
          <a:xfrm>
            <a:off x="7351776" y="3931920"/>
            <a:ext cx="1463040" cy="347472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</p:spPr>
      </p:sp>
      <p:sp>
        <p:nvSpPr>
          <p:cNvPr id="36" name="Text 30"/>
          <p:cNvSpPr/>
          <p:nvPr/>
        </p:nvSpPr>
        <p:spPr>
          <a:xfrm>
            <a:off x="7351776" y="39776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2C39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CHANGELOG.md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A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5760" y="34747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1363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By The Numbers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320040" y="111556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44168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269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57200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MDX Pages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docs-vnext/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27832" y="111556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0712" y="1344168"/>
            <a:ext cx="438912" cy="43891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3959352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</a:t>
            </a:r>
            <a:endParaRPr lang="en-US" sz="5200" dirty="0"/>
          </a:p>
        </p:txBody>
      </p:sp>
      <p:sp>
        <p:nvSpPr>
          <p:cNvPr id="12" name="Text 8"/>
          <p:cNvSpPr/>
          <p:nvPr/>
        </p:nvSpPr>
        <p:spPr>
          <a:xfrm>
            <a:off x="3364992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364992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.md definitions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135624" y="111556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1344168"/>
            <a:ext cx="438912" cy="438912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867144" y="122529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5200" dirty="0"/>
          </a:p>
        </p:txBody>
      </p:sp>
      <p:sp>
        <p:nvSpPr>
          <p:cNvPr id="17" name="Text 12"/>
          <p:cNvSpPr/>
          <p:nvPr/>
        </p:nvSpPr>
        <p:spPr>
          <a:xfrm>
            <a:off x="6272784" y="221284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 Sections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72784" y="254203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 areas covered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320040" y="3264408"/>
            <a:ext cx="2651760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3493008"/>
            <a:ext cx="438912" cy="438912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1051560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6</a:t>
            </a:r>
            <a:endParaRPr lang="en-US" sz="5200" dirty="0"/>
          </a:p>
        </p:txBody>
      </p:sp>
      <p:sp>
        <p:nvSpPr>
          <p:cNvPr id="22" name="Text 16"/>
          <p:cNvSpPr/>
          <p:nvPr/>
        </p:nvSpPr>
        <p:spPr>
          <a:xfrm>
            <a:off x="457200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23" name="Text 17"/>
          <p:cNvSpPr/>
          <p:nvPr/>
        </p:nvSpPr>
        <p:spPr>
          <a:xfrm>
            <a:off x="457200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/audit /unbloat /check-reddit…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3227832" y="3264408"/>
            <a:ext cx="2651760" cy="1965960"/>
          </a:xfrm>
          <a:prstGeom prst="rect">
            <a:avLst/>
          </a:prstGeom>
          <a:solidFill>
            <a:srgbClr val="01363D"/>
          </a:solidFill>
          <a:ln w="12700">
            <a:solidFill>
              <a:srgbClr val="01363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10712" y="3493008"/>
            <a:ext cx="438912" cy="43891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3959352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20"/>
          <p:cNvSpPr/>
          <p:nvPr/>
        </p:nvSpPr>
        <p:spPr>
          <a:xfrm>
            <a:off x="3364992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Repos Tracked</a:t>
            </a:r>
            <a:endParaRPr lang="en-US" sz="1300" dirty="0"/>
          </a:p>
        </p:txBody>
      </p:sp>
      <p:sp>
        <p:nvSpPr>
          <p:cNvPr id="28" name="Text 21"/>
          <p:cNvSpPr/>
          <p:nvPr/>
        </p:nvSpPr>
        <p:spPr>
          <a:xfrm>
            <a:off x="3364992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· JS · .NET · Java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6135624" y="3264408"/>
            <a:ext cx="2651760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18504" y="3493008"/>
            <a:ext cx="438912" cy="438912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6867144" y="3374136"/>
            <a:ext cx="1828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32" name="Text 24"/>
          <p:cNvSpPr/>
          <p:nvPr/>
        </p:nvSpPr>
        <p:spPr>
          <a:xfrm>
            <a:off x="6272784" y="436168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Scheduled Jobs</a:t>
            </a:r>
            <a:endParaRPr lang="en-US" sz="1300" dirty="0"/>
          </a:p>
        </p:txBody>
      </p:sp>
      <p:sp>
        <p:nvSpPr>
          <p:cNvPr id="33" name="Text 25"/>
          <p:cNvSpPr/>
          <p:nvPr/>
        </p:nvSpPr>
        <p:spPr>
          <a:xfrm>
            <a:off x="6272784" y="469087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daily/weekly cron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136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-1097280"/>
            <a:ext cx="4572000" cy="45720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20040"/>
            <a:ext cx="5303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11480" y="124358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280160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60120" y="123444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overview page generated from agent-surfaced coverage gaps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411480" y="1865376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" y="1901952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960120" y="1856232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quality dashboard — track MRR/NDCG trends over time</a:t>
            </a:r>
            <a:endParaRPr lang="en-US" sz="1400" dirty="0"/>
          </a:p>
        </p:txBody>
      </p:sp>
      <p:sp>
        <p:nvSpPr>
          <p:cNvPr id="11" name="Shape 7"/>
          <p:cNvSpPr/>
          <p:nvPr/>
        </p:nvSpPr>
        <p:spPr>
          <a:xfrm>
            <a:off x="411480" y="2487168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252374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960120" y="2478024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gap filling — auto-draft missing pages from upstream signals</a:t>
            </a:r>
            <a:endParaRPr lang="en-US" sz="1400" dirty="0"/>
          </a:p>
        </p:txBody>
      </p:sp>
      <p:sp>
        <p:nvSpPr>
          <p:cNvPr id="14" name="Shape 9"/>
          <p:cNvSpPr/>
          <p:nvPr/>
        </p:nvSpPr>
        <p:spPr>
          <a:xfrm>
            <a:off x="411480" y="3108960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" y="3145536"/>
            <a:ext cx="256032" cy="25603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960120" y="3099816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→ Mintlify deployment via GitHub Pages or Vercel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411480" y="3730752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632" y="3767328"/>
            <a:ext cx="256032" cy="2560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960120" y="3721608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guardrails section expansion with worked examples</a:t>
            </a:r>
            <a:endParaRPr lang="en-US" sz="1400" dirty="0"/>
          </a:p>
        </p:txBody>
      </p:sp>
      <p:sp>
        <p:nvSpPr>
          <p:cNvPr id="20" name="Shape 13"/>
          <p:cNvSpPr/>
          <p:nvPr/>
        </p:nvSpPr>
        <p:spPr>
          <a:xfrm>
            <a:off x="411480" y="4352544"/>
            <a:ext cx="402336" cy="402336"/>
          </a:xfrm>
          <a:prstGeom prst="ellipse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4632" y="4389120"/>
            <a:ext cx="256032" cy="256032"/>
          </a:xfrm>
          <a:prstGeom prst="rect">
            <a:avLst/>
          </a:prstGeom>
        </p:spPr>
      </p:pic>
      <p:sp>
        <p:nvSpPr>
          <p:cNvPr id="22" name="Text 14"/>
          <p:cNvSpPr/>
          <p:nvPr/>
        </p:nvSpPr>
        <p:spPr>
          <a:xfrm>
            <a:off x="960120" y="4343400"/>
            <a:ext cx="77724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ops dashboard embedding MCP server telemetry</a:t>
            </a:r>
            <a:endParaRPr lang="en-US" sz="1400" dirty="0"/>
          </a:p>
        </p:txBody>
      </p:sp>
      <p:sp>
        <p:nvSpPr>
          <p:cNvPr id="23" name="Shape 15"/>
          <p:cNvSpPr/>
          <p:nvPr/>
        </p:nvSpPr>
        <p:spPr>
          <a:xfrm>
            <a:off x="0" y="4709160"/>
            <a:ext cx="9144000" cy="434340"/>
          </a:xfrm>
          <a:prstGeom prst="rect">
            <a:avLst/>
          </a:prstGeom>
          <a:solidFill>
            <a:srgbClr val="028090">
              <a:alpha val="25000"/>
            </a:srgbClr>
          </a:solidFill>
          <a:ln w="12700">
            <a:solidFill>
              <a:srgbClr val="028090">
                <a:alpha val="25000"/>
              </a:srgbClr>
            </a:solidFill>
            <a:prstDash val="solid"/>
          </a:ln>
        </p:spPr>
      </p:sp>
      <p:sp>
        <p:nvSpPr>
          <p:cNvPr id="24" name="Text 16"/>
          <p:cNvSpPr/>
          <p:nvPr/>
        </p:nvSpPr>
        <p:spPr>
          <a:xfrm>
            <a:off x="365760" y="475488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8DA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· github.com/nicholasdbrady/foundry-docs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 Overview</dc:title>
  <dc:subject>PptxGenJS Presentation</dc:subject>
  <dc:creator>Foundry-Docs Slide Agent</dc:creator>
  <cp:lastModifiedBy>Foundry-Docs Slide Agent</cp:lastModifiedBy>
  <cp:revision>1</cp:revision>
  <dcterms:created xsi:type="dcterms:W3CDTF">2026-03-02T09:35:06Z</dcterms:created>
  <dcterms:modified xsi:type="dcterms:W3CDTF">2026-03-02T09:35:06Z</dcterms:modified>
</cp:coreProperties>
</file>