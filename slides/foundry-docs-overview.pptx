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5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6510528"/>
            <a:ext cx="11384280" cy="0"/>
          </a:xfrm>
          <a:prstGeom prst="line">
            <a:avLst/>
          </a:prstGeom>
          <a:noFill/>
          <a:ln w="10160">
            <a:solidFill>
              <a:srgbClr val="C9E2E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8321040" y="-1097280"/>
            <a:ext cx="4754880" cy="4754880"/>
          </a:xfrm>
          <a:prstGeom prst="arc">
            <a:avLst/>
          </a:prstGeom>
          <a:solidFill>
            <a:srgbClr val="028090">
              <a:alpha val="42000"/>
            </a:srgbClr>
          </a:solidFill>
          <a:ln w="25400">
            <a:solidFill>
              <a:srgbClr val="00A896">
                <a:alpha val="5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3977640"/>
            <a:ext cx="2057400" cy="2057400"/>
          </a:xfrm>
          <a:prstGeom prst="ellipse">
            <a:avLst/>
          </a:prstGeom>
          <a:solidFill>
            <a:srgbClr val="02C39A">
              <a:alpha val="2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80" kern="0" dirty="0">
                <a:solidFill>
                  <a:srgbClr val="02C39A"/>
                </a:solidFill>
              </a:rPr>
              <a:t>FOUNDRY-DOCS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536192"/>
            <a:ext cx="8046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Agentic Documentation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for Microsoft Foundry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273552"/>
            <a:ext cx="7498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DADD"/>
                </a:solidFill>
              </a:rPr>
              <a:t>A living documentation system: upstream ingestion, AI-assisted improvement, quality gates, and MCP delivery.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48828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</a:rPr>
              <a:t>526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58368" y="54955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DADD"/>
                </a:solidFill>
              </a:rPr>
              <a:t>MDX pages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48828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</a:rPr>
              <a:t>23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697480" y="54955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DADD"/>
                </a:solidFill>
              </a:rPr>
              <a:t>agent workflows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36592" y="48828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</a:rPr>
              <a:t>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736592" y="54955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DADD"/>
                </a:solidFill>
              </a:rPr>
              <a:t>slash commands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75704" y="48828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</a:rPr>
              <a:t>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775704" y="54955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DADD"/>
                </a:solidFill>
              </a:rPr>
              <a:t>SDK repos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B8BC"/>
                </a:solidFill>
              </a:rPr>
              <a:t>Live repository snapshot • generated 2026-09-28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PLATFORM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What is Foundry-Docs?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</a:rPr>
              <a:t>A dual-server FastMCP documentation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810512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333A"/>
                </a:solidFill>
              </a:rPr>
              <a:t>It extracts Microsoft Learn content, converts it to Mintlify MDX, indexes it locally or in Azure AI Search, and exposes retrieval tools to AI assistants.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99632" y="1298448"/>
            <a:ext cx="251460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99632" y="1298448"/>
            <a:ext cx="82296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2512" y="1444752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foundry_docs_mcp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82512" y="1828800"/>
            <a:ext cx="2148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Serves canonical docs/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Local TF-IDF fallback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Optional hybrid Azure Search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15400" y="1298448"/>
            <a:ext cx="251460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15400" y="1298448"/>
            <a:ext cx="82296" cy="1508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1444752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foundry_docs_vnext_mcp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098280" y="1828800"/>
            <a:ext cx="21488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Serves docs-vnext/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Alternative information architecture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A/B/C/D comparison surface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03320"/>
            <a:ext cx="245059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703320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849624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Search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49808" y="4233672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33A"/>
                </a:solidFill>
              </a:rPr>
              <a:t>Relevant chunks with source paths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10128" y="3703320"/>
            <a:ext cx="245059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310128" y="3703320"/>
            <a:ext cx="82296" cy="1234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93008" y="3849624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Retrieve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93008" y="4233672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33A"/>
                </a:solidFill>
              </a:rPr>
              <a:t>Full page content by document path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53328" y="3703320"/>
            <a:ext cx="245059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53328" y="3703320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6208" y="3849624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Browse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36208" y="4233672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33A"/>
                </a:solidFill>
              </a:rPr>
              <a:t>Sections and navigation discovery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96528" y="3703320"/>
            <a:ext cx="2450592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796528" y="3703320"/>
            <a:ext cx="82296" cy="1234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79408" y="3849624"/>
            <a:ext cx="20848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Feedback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979408" y="4233672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33A"/>
                </a:solidFill>
              </a:rPr>
              <a:t>Telemetry-backed relevance signals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8 server modules • 28 ingestion, indexing, and evaluation scripts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From upstream source to governed answers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38912" y="182880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38912" y="1828800"/>
            <a:ext cx="82296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97510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MicrosoftDocs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359152"/>
            <a:ext cx="1554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8777D"/>
                </a:solidFill>
              </a:rPr>
              <a:t>azure-ai-docs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32304" y="2286000"/>
            <a:ext cx="256032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79776" y="182880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79776" y="1828800"/>
            <a:ext cx="82296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62656" y="197510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Extract + convert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62656" y="2359152"/>
            <a:ext cx="1554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8777D"/>
                </a:solidFill>
              </a:rPr>
              <a:t>scripts/ pipeline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73168" y="2286000"/>
            <a:ext cx="256032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20640" y="182880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01363D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120640" y="1828800"/>
            <a:ext cx="82296" cy="13258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97510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docs/ + docs-vnext/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03520" y="2359152"/>
            <a:ext cx="1554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</a:rPr>
              <a:t>383 + 526 pages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114032" y="2286000"/>
            <a:ext cx="256032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61504" y="182880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61504" y="1828800"/>
            <a:ext cx="82296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44384" y="197510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Search indexes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644384" y="2359152"/>
            <a:ext cx="1554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8777D"/>
                </a:solidFill>
              </a:rPr>
              <a:t>TF-IDF + Azure hybrid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454896" y="2286000"/>
            <a:ext cx="256032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1828800"/>
            <a:ext cx="1920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02368" y="1828800"/>
            <a:ext cx="82296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985248" y="1975104"/>
            <a:ext cx="1554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MCP clients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985248" y="2359152"/>
            <a:ext cx="1554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8777D"/>
                </a:solidFill>
              </a:rPr>
              <a:t>Assistants and IDEs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14400" y="4069080"/>
            <a:ext cx="31546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4400" y="4069080"/>
            <a:ext cx="82296" cy="13258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" y="4215384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Upstream automation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97280" y="4599432"/>
            <a:ext cx="27889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Monitor detects a Foundry change, dispatches sync-and-convert, and records the event.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26280" y="4069080"/>
            <a:ext cx="31546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26280" y="4069080"/>
            <a:ext cx="82296" cy="13258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4215384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Agent improvement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709160" y="4599432"/>
            <a:ext cx="27889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Post-sync updater preserves curated vNext structure while applying relevant source changes.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069080"/>
            <a:ext cx="315468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38160" y="4069080"/>
            <a:ext cx="82296" cy="1325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0" y="4215384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Quality + telemetry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21040" y="4599432"/>
            <a:ext cx="27889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333A"/>
                </a:solidFill>
              </a:rPr>
              <a:t>Audits, noob testing, PR review, evals, spans, logs, and feedback close the loop.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ServerConfig keeps both MCP servers consistent while separating paths, environment variables, and index names.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CONTENT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Documentation coverage: 526 pages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foundry models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2651760" y="13350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51760" y="13350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8048" y="13075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112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7830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agent service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51760" y="17922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51760" y="1792224"/>
            <a:ext cx="5700713" cy="210312"/>
          </a:xfrm>
          <a:prstGeom prst="roundRect">
            <a:avLst>
              <a:gd name="adj" fmla="val 34783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8048" y="17647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95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2402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models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51760" y="22494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51760" y="2249424"/>
            <a:ext cx="4500563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28048" y="22219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75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26974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agents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51760" y="27066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51760" y="2706624"/>
            <a:ext cx="3780472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8048" y="26791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63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154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observability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651760" y="31638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3163824"/>
            <a:ext cx="1860232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28048" y="31363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31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118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security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651760" y="36210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1760" y="3621024"/>
            <a:ext cx="1440180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28048" y="35935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24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40690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setup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651760" y="40782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51760" y="4078224"/>
            <a:ext cx="1320165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28048" y="40507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22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45262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developer experience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651760" y="45354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51760" y="4535424"/>
            <a:ext cx="1260158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28048" y="45079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21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49834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guardrails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651760" y="49926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51760" y="4992624"/>
            <a:ext cx="1140143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28048" y="49651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19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" y="5440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api sdk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651760" y="5449824"/>
            <a:ext cx="6720840" cy="210312"/>
          </a:xfrm>
          <a:prstGeom prst="roundRect">
            <a:avLst>
              <a:gd name="adj" fmla="val 34783"/>
            </a:avLst>
          </a:prstGeom>
          <a:solidFill>
            <a:srgbClr val="DDEDEF"/>
          </a:solidFill>
          <a:ln w="12700">
            <a:solidFill>
              <a:srgbClr val="DDED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51760" y="5449824"/>
            <a:ext cx="1020127" cy="210312"/>
          </a:xfrm>
          <a:prstGeom prst="roundRect">
            <a:avLst>
              <a:gd name="adj" fmla="val 3478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28048" y="5422392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17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195560" y="1353312"/>
            <a:ext cx="14173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195560" y="1353312"/>
            <a:ext cx="82296" cy="12344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378440" y="1499616"/>
            <a:ext cx="1051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</a:rPr>
              <a:t>18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10378440" y="1883664"/>
            <a:ext cx="1051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top-level sections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195560" y="2788920"/>
            <a:ext cx="14173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10195560" y="2788920"/>
            <a:ext cx="82296" cy="1234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378440" y="2935224"/>
            <a:ext cx="1051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</a:rPr>
              <a:t>131</a:t>
            </a:r>
            <a:endParaRPr lang="en-US" sz="2800" dirty="0"/>
          </a:p>
        </p:txBody>
      </p:sp>
      <p:sp>
        <p:nvSpPr>
          <p:cNvPr id="51" name="Text 49"/>
          <p:cNvSpPr/>
          <p:nvPr/>
        </p:nvSpPr>
        <p:spPr>
          <a:xfrm>
            <a:off x="10378440" y="3319272"/>
            <a:ext cx="1051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vNext-only filenames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195560" y="4224528"/>
            <a:ext cx="141732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10195560" y="4224528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378440" y="4370832"/>
            <a:ext cx="1051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3"/>
                </a:solidFill>
              </a:rPr>
              <a:t>244</a:t>
            </a:r>
            <a:endParaRPr lang="en-US" sz="2800" dirty="0"/>
          </a:p>
        </p:txBody>
      </p:sp>
      <p:sp>
        <p:nvSpPr>
          <p:cNvPr id="55" name="Text 53"/>
          <p:cNvSpPr/>
          <p:nvPr/>
        </p:nvSpPr>
        <p:spPr>
          <a:xfrm>
            <a:off x="10378440" y="4754880"/>
            <a:ext cx="1051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filenames shared with docs/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Counts are computed from docs-vnext/**/*.mdx at generation time; chart shows the ten largest top-level sections.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C39A"/>
                </a:solidFill>
              </a:rPr>
              <a:t>AUTOMATION ESTATE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23 agentic workflows after consolidation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78608" cy="3246120"/>
          </a:xfrm>
          <a:prstGeom prst="roundRect">
            <a:avLst>
              <a:gd name="adj" fmla="val 2837"/>
            </a:avLst>
          </a:prstGeom>
          <a:solidFill>
            <a:srgbClr val="102E42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26464" y="1783080"/>
            <a:ext cx="822960" cy="8229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6464" y="193852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Monitor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3337560"/>
            <a:ext cx="20665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Upstream docs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SDK releases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Communities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Model catalog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38144" y="1508760"/>
            <a:ext cx="2578608" cy="3246120"/>
          </a:xfrm>
          <a:prstGeom prst="roundRect">
            <a:avLst>
              <a:gd name="adj" fmla="val 2837"/>
            </a:avLst>
          </a:prstGeom>
          <a:solidFill>
            <a:srgbClr val="102E42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15968" y="1783080"/>
            <a:ext cx="822960" cy="8229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193852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21024" y="27889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896"/>
                </a:solidFill>
              </a:rPr>
              <a:t>Test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94176" y="3337560"/>
            <a:ext cx="20665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Docs auditor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Noob tester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Search testbench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Post-merge verify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27648" y="1508760"/>
            <a:ext cx="2578608" cy="3246120"/>
          </a:xfrm>
          <a:prstGeom prst="roundRect">
            <a:avLst>
              <a:gd name="adj" fmla="val 2837"/>
            </a:avLst>
          </a:prstGeom>
          <a:solidFill>
            <a:srgbClr val="102E42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05472" y="1783080"/>
            <a:ext cx="822960" cy="8229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5472" y="193852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7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10528" y="27889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</a:rPr>
              <a:t>Update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83680" y="3337560"/>
            <a:ext cx="20665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Daily updater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Post-sync updater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Glossary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Unbloat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217152" y="1508760"/>
            <a:ext cx="2578608" cy="3246120"/>
          </a:xfrm>
          <a:prstGeom prst="roundRect">
            <a:avLst>
              <a:gd name="adj" fmla="val 2837"/>
            </a:avLst>
          </a:prstGeom>
          <a:solidFill>
            <a:srgbClr val="102E42"/>
          </a:solidFill>
          <a:ln w="19050">
            <a:solidFill>
              <a:srgbClr val="F4B9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094976" y="1783080"/>
            <a:ext cx="822960" cy="82296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94976" y="193852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400032" y="278892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Operate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73184" y="3337560"/>
            <a:ext cx="20665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Auto-triage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Diff reports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Changelog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Slide deck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42816" y="5257800"/>
            <a:ext cx="1508760" cy="310896"/>
          </a:xfrm>
          <a:prstGeom prst="roundRect">
            <a:avLst>
              <a:gd name="adj" fmla="val 35294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42816" y="528523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6 slash commands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25312" y="5257800"/>
            <a:ext cx="1508760" cy="310896"/>
          </a:xfrm>
          <a:prstGeom prst="roundRect">
            <a:avLst>
              <a:gd name="adj" fmla="val 35294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25312" y="528523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2 workflow chains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B8BC"/>
                </a:solidFill>
              </a:rPr>
              <a:t>Category counts are presentation groupings; total is computed from top-level .github/workflows/*.md files.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TRIGGERS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Event-driven coverage across the documentation lifecycle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Schedule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4767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recurring monitoring and maintenance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130552" y="1581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11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3383280" y="141732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41732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Manual dispatch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194767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operator-controlled reruns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10912" y="1581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18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6263640" y="141732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41732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Slash command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4767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issue-comment entry points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91272" y="1581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6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0" y="141732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0" y="141732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0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Pull request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26880" y="194767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review and post-merge checks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771632" y="15819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3</a:t>
            </a:r>
            <a:endParaRPr lang="en-US" sz="2700" dirty="0"/>
          </a:p>
        </p:txBody>
      </p:sp>
      <p:sp>
        <p:nvSpPr>
          <p:cNvPr id="24" name="Shape 22"/>
          <p:cNvSpPr/>
          <p:nvPr/>
        </p:nvSpPr>
        <p:spPr>
          <a:xfrm>
            <a:off x="502920" y="356616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02920" y="356616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71246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Issues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800" y="409651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label-driven fixes and triage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30552" y="373075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2</a:t>
            </a:r>
            <a:endParaRPr lang="en-US" sz="2700" dirty="0"/>
          </a:p>
        </p:txBody>
      </p:sp>
      <p:sp>
        <p:nvSpPr>
          <p:cNvPr id="29" name="Shape 27"/>
          <p:cNvSpPr/>
          <p:nvPr/>
        </p:nvSpPr>
        <p:spPr>
          <a:xfrm>
            <a:off x="3383280" y="356616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383280" y="356616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66160" y="371246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Workflow chain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566160" y="409651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sync and index follow-through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10912" y="373075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2</a:t>
            </a:r>
            <a:endParaRPr lang="en-US" sz="2700" dirty="0"/>
          </a:p>
        </p:txBody>
      </p:sp>
      <p:sp>
        <p:nvSpPr>
          <p:cNvPr id="34" name="Shape 32"/>
          <p:cNvSpPr/>
          <p:nvPr/>
        </p:nvSpPr>
        <p:spPr>
          <a:xfrm>
            <a:off x="6263640" y="356616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3566160"/>
            <a:ext cx="82296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371246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Repository dispatch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46520" y="409651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cross-repo community signals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891272" y="373075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00A896"/>
                </a:solidFill>
              </a:rPr>
              <a:t>2</a:t>
            </a:r>
            <a:endParaRPr lang="en-US" sz="2700" dirty="0"/>
          </a:p>
        </p:txBody>
      </p:sp>
      <p:sp>
        <p:nvSpPr>
          <p:cNvPr id="39" name="Shape 37"/>
          <p:cNvSpPr/>
          <p:nvPr/>
        </p:nvSpPr>
        <p:spPr>
          <a:xfrm>
            <a:off x="9144000" y="3566160"/>
            <a:ext cx="257860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144000" y="3566160"/>
            <a:ext cx="82296" cy="1691640"/>
          </a:xfrm>
          <a:prstGeom prst="rect">
            <a:avLst/>
          </a:prstGeom>
          <a:solidFill>
            <a:srgbClr val="C9E2E4"/>
          </a:solidFill>
          <a:ln w="12700">
            <a:solidFill>
              <a:srgbClr val="C9E2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6880" y="371246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Push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326880" y="4096512"/>
            <a:ext cx="22128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direct source-change hooks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771632" y="373075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700" b="1" dirty="0">
                <a:solidFill>
                  <a:srgbClr val="58777D"/>
                </a:solidFill>
              </a:rPr>
              <a:t>0</a:t>
            </a:r>
            <a:endParaRPr lang="en-US" sz="2700" dirty="0"/>
          </a:p>
        </p:txBody>
      </p:sp>
      <p:sp>
        <p:nvSpPr>
          <p:cNvPr id="44" name="Text 42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Trigger counts are parsed only from each workflow's frontmatter on: block, avoiding permission-key false positives.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QUALITY PIPELINE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Three independent lenses protect quality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47088" y="1417320"/>
            <a:ext cx="713232" cy="7132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47088" y="1572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1792" y="2331720"/>
            <a:ext cx="318211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21792" y="2331720"/>
            <a:ext cx="82296" cy="23317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478024"/>
            <a:ext cx="2816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Documentation Auditor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2862072"/>
            <a:ext cx="2816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Accuracy, code examples, external links, terminology, and MDX conventions.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86784" y="3273552"/>
            <a:ext cx="256032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0136" y="1417320"/>
            <a:ext cx="713232" cy="7132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0136" y="1572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434840" y="2331720"/>
            <a:ext cx="318211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2331720"/>
            <a:ext cx="82296" cy="2331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2478024"/>
            <a:ext cx="2816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Noob Tester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17720" y="2862072"/>
            <a:ext cx="2816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Five first-run journeys plus mobile 375x812, tablet 768x1024, and desktop 1440x900 viewport checks.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99832" y="3273552"/>
            <a:ext cx="256032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73184" y="1417320"/>
            <a:ext cx="713232" cy="71323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73184" y="157276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247888" y="2331720"/>
            <a:ext cx="318211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47888" y="2331720"/>
            <a:ext cx="82296" cy="2331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30768" y="2478024"/>
            <a:ext cx="2816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PR Documentation Reviewer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30768" y="2862072"/>
            <a:ext cx="281635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Change-aware review on pull request open, synchronize, reopen, and ready-for-review events.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60520" y="5102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</a:rPr>
              <a:t>Evidence gate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834640" y="544068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777D"/>
                </a:solidFill>
              </a:rPr>
              <a:t>The noob tester validates its report before it can publish success; blocked infrastructure is reported separately.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Quality checks combine static source inspection, rendered-site behavior, and change-specific review.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HISTORY + IMPACT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docs-vnext history: from experiment to operating system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10698480" cy="0"/>
          </a:xfrm>
          <a:prstGeom prst="line">
            <a:avLst/>
          </a:prstGeom>
          <a:noFill/>
          <a:ln w="3810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2578608"/>
            <a:ext cx="329184" cy="329184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600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Mar 1  #23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5488" y="19019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Cloud evaluation unbloated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23744" y="2578608"/>
            <a:ext cx="329184" cy="329184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40864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Mar 2  #28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40864" y="34564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35-term glossary created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2578608"/>
            <a:ext cx="329184" cy="329184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1600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Mar  #46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06240" y="19019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Navigation reflow by product pillar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54496" y="2578608"/>
            <a:ext cx="329184" cy="329184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71616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Mar  #50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071616" y="34564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267 endpoints gain 5-language samples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19872" y="2578608"/>
            <a:ext cx="329184" cy="329184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36992" y="1600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Jun-Jul  #456 / #489 / #507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6992" y="190195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Daily glossary, sync, and SDK cleanup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85248" y="2578608"/>
            <a:ext cx="329184" cy="329184"/>
          </a:xfrm>
          <a:prstGeom prst="ellipse">
            <a:avLst/>
          </a:prstGeom>
          <a:solidFill>
            <a:srgbClr val="02C39A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02368" y="3127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090"/>
                </a:solidFill>
              </a:rPr>
              <a:t>Sep  #1045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802368" y="3456432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Latest upstream sync in local history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31520" y="48920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14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731520" y="5504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777D"/>
                </a:solidFill>
              </a:rPr>
              <a:t>verified merged docs-vnext PRs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71800" y="48920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2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2971800" y="5504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777D"/>
                </a:solidFill>
              </a:rPr>
              <a:t>bot authors verified in deep dives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212080" y="48920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131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5212080" y="5504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777D"/>
                </a:solidFill>
              </a:rPr>
              <a:t>vNext-only filenames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452360" y="489204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526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7452360" y="55046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777D"/>
                </a:solidFill>
              </a:rPr>
              <a:t>current vNext pages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92640" y="489204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</a:rPr>
              <a:t>383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9692640" y="5504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777D"/>
                </a:solidFill>
              </a:rPr>
              <a:t>canonical pages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PR set comes from approved GitHub search results; author fields for the remaining records were unavailable, so no unsupported human/agent split is claimed.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C39A"/>
                </a:solidFill>
              </a:rPr>
              <a:t>AGENTIC CHAIN IN ACTION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Deep dive: a trigger becomes a documentation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487168" cy="1600200"/>
          </a:xfrm>
          <a:prstGeom prst="roundRect">
            <a:avLst>
              <a:gd name="adj" fmla="val 3429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82296" cy="1600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63624"/>
            <a:ext cx="21214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Upstream Docs Monitor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947672"/>
            <a:ext cx="21214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1 Foundry commit detected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Issue #54 created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81528" y="2011680"/>
            <a:ext cx="228600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1568" y="1417320"/>
            <a:ext cx="2487168" cy="1600200"/>
          </a:xfrm>
          <a:prstGeom prst="roundRect">
            <a:avLst>
              <a:gd name="adj" fmla="val 3429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01568" y="1417320"/>
            <a:ext cx="82296" cy="1600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4448" y="1563624"/>
            <a:ext cx="21214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sync-and-convert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84448" y="1947672"/>
            <a:ext cx="21214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Workflow dispatched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source content refreshed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80176" y="2011680"/>
            <a:ext cx="228600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0216" y="1417320"/>
            <a:ext cx="2487168" cy="1600200"/>
          </a:xfrm>
          <a:prstGeom prst="roundRect">
            <a:avLst>
              <a:gd name="adj" fmla="val 3429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0216" y="1417320"/>
            <a:ext cx="82296" cy="1600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83096" y="1563624"/>
            <a:ext cx="21214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Post-Sync Updater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83096" y="1947672"/>
            <a:ext cx="21214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Diffs docs/ vs docs-vnext/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preserves curated 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78824" y="2011680"/>
            <a:ext cx="228600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98864" y="1417320"/>
            <a:ext cx="2487168" cy="1600200"/>
          </a:xfrm>
          <a:prstGeom prst="roundRect">
            <a:avLst>
              <a:gd name="adj" fmla="val 3429"/>
            </a:avLst>
          </a:prstGeom>
          <a:solidFill>
            <a:srgbClr val="102E42"/>
          </a:solidFill>
          <a:ln w="10160">
            <a:solidFill>
              <a:srgbClr val="02C39A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98864" y="1417320"/>
            <a:ext cx="82296" cy="1600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81744" y="1563624"/>
            <a:ext cx="21214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Outcome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81744" y="1947672"/>
            <a:ext cx="21214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Creates a vNext PR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or noops with evidence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" y="3730752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102E42"/>
          </a:solidFill>
          <a:ln w="10160">
            <a:solidFill>
              <a:srgbClr val="00A896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8368" y="3730752"/>
            <a:ext cx="82296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" y="387705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Observed upstream case: #54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248" y="4261104"/>
            <a:ext cx="4846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2026-03-05 • blocklist instruction changed in MicrosoftDocs/azure-ai-docs • monitor dispatched sync-and-convert • issue closed after the signal was processed.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730752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102E42"/>
          </a:solidFill>
          <a:ln w="10160">
            <a:solidFill>
              <a:srgbClr val="02C39A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3730752"/>
            <a:ext cx="82296" cy="1645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387705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Parallel SDK chain: #53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4261104"/>
            <a:ext cx="48463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Java 2.0.0-beta.2 detected • Index renamed to AIProjectIndex • feature flags removed • DayOfWeek type replaced • docs impact mapped to api-sdk and agents/development.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B8BC"/>
                </a:solidFill>
              </a:rPr>
              <a:t>Run IDs and outcomes are verified from issues #54 and #53; duration was not exposed by the approved read interface.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CONTENT OUTCOMES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Deep dive: agents make concrete editorial improvements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34924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82296" cy="4251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72184"/>
            <a:ext cx="4983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PR #28 — glossary from zero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1856232"/>
            <a:ext cx="4983480" cy="3593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INPUT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A codebase with fast-moving Foundry, MCP, search, evaluation, and developer-tooling terminology.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AGENT ACTION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Glossary Maintainer scanned recent changes, organized 16 alphabetical sections, and updated navigation.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35 terms • 194 additions • one discoverable reference page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2784" y="1325880"/>
            <a:ext cx="5349240" cy="4251960"/>
          </a:xfrm>
          <a:prstGeom prst="roundRect">
            <a:avLst>
              <a:gd name="adj" fmla="val 1290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2784" y="1325880"/>
            <a:ext cx="82296" cy="42519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55664" y="1472184"/>
            <a:ext cx="4983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PR #23 — remove cloud-evaluation bloat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55664" y="1856232"/>
            <a:ext cx="4983480" cy="3593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BEFORE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Duplicate intro, four repetitive prerequisite tips, trivial guidance, verbose lists.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AFTER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Concise reference table and direct prose; technical content and examples preserved.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IMPACT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333A"/>
                </a:solidFill>
              </a:rPr>
              <a:t>-232 words (7%) • -29 lines • -10 bullets (34.5%)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93392" y="5797296"/>
            <a:ext cx="2514600" cy="310896"/>
          </a:xfrm>
          <a:prstGeom prst="roundRect">
            <a:avLst>
              <a:gd name="adj" fmla="val 35294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93392" y="582472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NEW KNOWLEDGE SURFACE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62672" y="5797296"/>
            <a:ext cx="2514600" cy="310896"/>
          </a:xfrm>
          <a:prstGeom prst="roundRect">
            <a:avLst>
              <a:gd name="adj" fmla="val 35294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62672" y="582472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LESS FRICTION, SAME MEANING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Sources: merged PR descriptions for #28 and #23.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C39A"/>
                </a:solidFill>
              </a:rPr>
              <a:t>EVIDENCE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Evaluation harness: competitive, with targeted upside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30352" y="11338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B8BC"/>
                </a:solidFill>
              </a:rPr>
              <a:t>300 evaluations • 4 servers • 3 models • report snapshot 2026-03-05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583680" cy="2331720"/>
        </p:xfrm>
        <a:graphic>
          <a:graphicData uri="http://schemas.openxmlformats.org/drawingml/2006/table">
            <a:tbl>
              <a:tblPr/>
              <a:tblGrid>
                <a:gridCol w="1600200"/>
                <a:gridCol w="1298448"/>
                <a:gridCol w="1188720"/>
                <a:gridCol w="1298448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Server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claude-opus-4.6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gemini-3-pro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gpt-5.3-codex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Average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MS Learn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0.933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0.882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0.906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0.908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Mintlify MCP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0.949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0.868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0.905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0.908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02C39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docs-vnext/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6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02C39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0.927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6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02C39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0.879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6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02C39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0.912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6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02C39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0.906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36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docs/ baseline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0.924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0.860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0.931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7333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0.904</a:t>
                      </a:r>
                      <a:endParaRPr lang="en-US" sz="10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424928" y="1508760"/>
            <a:ext cx="4187952" cy="2331720"/>
          </a:xfrm>
          <a:prstGeom prst="roundRect">
            <a:avLst>
              <a:gd name="adj" fmla="val 2353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24928" y="1508760"/>
            <a:ext cx="82296" cy="2331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07808" y="1655064"/>
            <a:ext cx="38221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Hypotheses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07808" y="2039112"/>
            <a:ext cx="382219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H1  MARGINAL  vNext +0.002 vs docs/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H2  REJECTED  -0.002 vs Mintlify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H3  REJECTED  -0.002 vs MS Learn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H4  MIXED  model rankings vary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66928" y="41696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</a:rPr>
              <a:t>Category delta: docs-vnext minus docs/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457200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02E42"/>
          </a:solidFill>
          <a:ln w="10160">
            <a:solidFill>
              <a:srgbClr val="02C39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9808" y="47183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agent-development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" y="510235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</a:rPr>
              <a:t>+0.009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2834640" y="457200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02E42"/>
          </a:solidFill>
          <a:ln w="10160">
            <a:solidFill>
              <a:srgbClr val="02C39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17520" y="47183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getting-started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017520" y="510235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</a:rPr>
              <a:t>+0.020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102352" y="457200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02E42"/>
          </a:solidFill>
          <a:ln w="10160">
            <a:solidFill>
              <a:srgbClr val="02C39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85232" y="47183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infra-security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285232" y="510235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2C39A"/>
                </a:solidFill>
              </a:rPr>
              <a:t>+0.009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7370064" y="457200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02E42"/>
          </a:solidFill>
          <a:ln w="10160">
            <a:solidFill>
              <a:srgbClr val="D95D5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52944" y="47183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observability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552944" y="510235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9D9D"/>
                </a:solidFill>
              </a:rPr>
              <a:t>-0.027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9637776" y="457200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02E42"/>
          </a:solidFill>
          <a:ln w="10160">
            <a:solidFill>
              <a:srgbClr val="58777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20656" y="47183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sdk-api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820656" y="510235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B8DADD"/>
                </a:solidFill>
              </a:rPr>
              <a:t>+0.000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B8BC"/>
                </a:solidFill>
              </a:rPr>
              <a:t>Latest eval issue was blocked by the approved read interface; values shown are the most recent verified snapshot already carried by the deck.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COMMUNITY INTEGRATION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Community signals become documentation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4015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82296" cy="1920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63624"/>
            <a:ext cx="3035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Microsoft Foundry discussions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1947672"/>
            <a:ext cx="30358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33A"/>
                </a:solidFill>
              </a:rPr>
              <a:t>Cross-repo repository_dispatch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333A"/>
                </a:solidFill>
              </a:rPr>
              <a:t>/check-discussions fallback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075688" y="3566160"/>
            <a:ext cx="384048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61688" y="1417320"/>
            <a:ext cx="34015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61688" y="1417320"/>
            <a:ext cx="82296" cy="19202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563624"/>
            <a:ext cx="3035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foundry-samples activity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4568" y="1947672"/>
            <a:ext cx="30358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33A"/>
                </a:solidFill>
              </a:rPr>
              <a:t>Code and sample changes reveal docs drift and missing examples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70448" y="3566160"/>
            <a:ext cx="384048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6448" y="1417320"/>
            <a:ext cx="34015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56448" y="1417320"/>
            <a:ext cx="82296" cy="19202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9328" y="1563624"/>
            <a:ext cx="3035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Reddit community signals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39328" y="1947672"/>
            <a:ext cx="30358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33A"/>
                </a:solidFill>
              </a:rPr>
              <a:t>Devvit dispatch surfaces recurring questions and pain points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65208" y="3566160"/>
            <a:ext cx="384048" cy="38404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66160" y="4315968"/>
            <a:ext cx="5074920" cy="1325880"/>
          </a:xfrm>
          <a:prstGeom prst="roundRect">
            <a:avLst>
              <a:gd name="adj" fmla="val 4138"/>
            </a:avLst>
          </a:prstGeom>
          <a:solidFill>
            <a:srgbClr val="01363D"/>
          </a:solidFill>
          <a:ln w="10160">
            <a:solidFill>
              <a:srgbClr val="01363D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66160" y="4315968"/>
            <a:ext cx="82296" cy="13258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49040" y="4462272"/>
            <a:ext cx="4709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Shared decision layer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749040" y="4846320"/>
            <a:ext cx="4709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Classify signal → map to docs-vnext → create an actionable issue, dispatch a fixer, or noop when evidence is insufficient.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2 workflows accept repository_dispatch events for cross-repository signals.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C39A"/>
                </a:solidFill>
              </a:rPr>
              <a:t>RELEASE INTELLIGENCE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SDK monitoring maps releases to documentation impact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417320"/>
            <a:ext cx="2578608" cy="1234440"/>
          </a:xfrm>
          <a:prstGeom prst="roundRect">
            <a:avLst>
              <a:gd name="adj" fmla="val 4444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0352" y="1417320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Python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3232" y="1947672"/>
            <a:ext cx="2212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azure-ai-projects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10712" y="1417320"/>
            <a:ext cx="2578608" cy="1234440"/>
          </a:xfrm>
          <a:prstGeom prst="roundRect">
            <a:avLst>
              <a:gd name="adj" fmla="val 4444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10712" y="1417320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JavaScript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93592" y="1947672"/>
            <a:ext cx="2212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@azure/ai-projects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1417320"/>
            <a:ext cx="2578608" cy="1234440"/>
          </a:xfrm>
          <a:prstGeom prst="roundRect">
            <a:avLst>
              <a:gd name="adj" fmla="val 4444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91072" y="1417320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3952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.NET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73952" y="1947672"/>
            <a:ext cx="2212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Azure.AI.Projects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71432" y="1417320"/>
            <a:ext cx="2578608" cy="1234440"/>
          </a:xfrm>
          <a:prstGeom prst="roundRect">
            <a:avLst>
              <a:gd name="adj" fmla="val 4444"/>
            </a:avLst>
          </a:prstGeom>
          <a:solidFill>
            <a:srgbClr val="102E42"/>
          </a:solidFill>
          <a:ln w="10160">
            <a:solidFill>
              <a:srgbClr val="028090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71432" y="1417320"/>
            <a:ext cx="82296" cy="1234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563624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</a:rPr>
              <a:t>Java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54312" y="1947672"/>
            <a:ext cx="221284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DADD"/>
                </a:solidFill>
              </a:rPr>
              <a:t>azure-ai-projects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13232" y="324612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102E42"/>
          </a:solidFill>
          <a:ln w="10160">
            <a:solidFill>
              <a:srgbClr val="00A896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246120"/>
            <a:ext cx="82296" cy="2148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39242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Detection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96112" y="3776472"/>
            <a:ext cx="475488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Compare changelog versions against persisted state.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Extract release date, stability, breaking changes, new features, and API changes.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A REST API specification surface is assessed alongside the four SDK repositories.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55080" y="324612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102E42"/>
          </a:solidFill>
          <a:ln w="10160">
            <a:solidFill>
              <a:srgbClr val="02C39A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55080" y="3246120"/>
            <a:ext cx="82296" cy="21488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339242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Example: Java 2.0.0-beta.2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37960" y="3776472"/>
            <a:ext cx="475488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HIGH  Index → AIProjectIndex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MEDIUM  FoundryFeaturesOptInKeys constants removed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LOW  custom DayOfWeek → java.time.DayOfWeek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</a:rPr>
              <a:t>Mapped to api-sdk/ and agents/development/ in issue #53.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B8BC"/>
                </a:solidFill>
              </a:rPr>
              <a:t>4 SDK repositories + REST API specification monitoring • 12-hour scheduled cadence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8090"/>
                </a:solidFill>
              </a:rPr>
              <a:t>CURRENT STATE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3"/>
                </a:solidFill>
              </a:rPr>
              <a:t>Key metrics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35331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0352" y="1353312"/>
            <a:ext cx="82296" cy="1783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9961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MDX pages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13232" y="188366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docs-vnext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31520" y="20665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526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3410712" y="135331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10712" y="1353312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93592" y="149961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top-level sections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93592" y="188366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information architecture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80" y="20665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18</a:t>
            </a:r>
            <a:endParaRPr lang="en-US" sz="3100" dirty="0"/>
          </a:p>
        </p:txBody>
      </p:sp>
      <p:sp>
        <p:nvSpPr>
          <p:cNvPr id="14" name="Shape 12"/>
          <p:cNvSpPr/>
          <p:nvPr/>
        </p:nvSpPr>
        <p:spPr>
          <a:xfrm>
            <a:off x="6291072" y="135331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91072" y="1353312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149961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agentic workflows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73952" y="188366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top-level definitions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92240" y="20665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23</a:t>
            </a:r>
            <a:endParaRPr lang="en-US" sz="3100" dirty="0"/>
          </a:p>
        </p:txBody>
      </p:sp>
      <p:sp>
        <p:nvSpPr>
          <p:cNvPr id="19" name="Shape 17"/>
          <p:cNvSpPr/>
          <p:nvPr/>
        </p:nvSpPr>
        <p:spPr>
          <a:xfrm>
            <a:off x="9171432" y="135331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432" y="1353312"/>
            <a:ext cx="82296" cy="1783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54312" y="149961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slash commands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54312" y="188366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operator entry points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372600" y="206654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6</a:t>
            </a:r>
            <a:endParaRPr lang="en-US" sz="3100" dirty="0"/>
          </a:p>
        </p:txBody>
      </p:sp>
      <p:sp>
        <p:nvSpPr>
          <p:cNvPr id="24" name="Shape 22"/>
          <p:cNvSpPr/>
          <p:nvPr/>
        </p:nvSpPr>
        <p:spPr>
          <a:xfrm>
            <a:off x="530352" y="359359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0352" y="3593592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73989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vNext-only files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3232" y="412394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agent-created or restructured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31520" y="430682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131</a:t>
            </a:r>
            <a:endParaRPr lang="en-US" sz="3100" dirty="0"/>
          </a:p>
        </p:txBody>
      </p:sp>
      <p:sp>
        <p:nvSpPr>
          <p:cNvPr id="29" name="Shape 27"/>
          <p:cNvSpPr/>
          <p:nvPr/>
        </p:nvSpPr>
        <p:spPr>
          <a:xfrm>
            <a:off x="3410712" y="359359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410712" y="3593592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93592" y="373989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verified merged PRs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593592" y="412394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approved history result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11880" y="430682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14</a:t>
            </a:r>
            <a:endParaRPr lang="en-US" sz="3100" dirty="0"/>
          </a:p>
        </p:txBody>
      </p:sp>
      <p:sp>
        <p:nvSpPr>
          <p:cNvPr id="34" name="Shape 32"/>
          <p:cNvSpPr/>
          <p:nvPr/>
        </p:nvSpPr>
        <p:spPr>
          <a:xfrm>
            <a:off x="6291072" y="359359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91072" y="3593592"/>
            <a:ext cx="82296" cy="1783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73952" y="373989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vNext eval average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73952" y="412394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2026-03-05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92240" y="430682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0.906</a:t>
            </a:r>
            <a:endParaRPr lang="en-US" sz="3100" dirty="0"/>
          </a:p>
        </p:txBody>
      </p:sp>
      <p:sp>
        <p:nvSpPr>
          <p:cNvPr id="39" name="Shape 37"/>
          <p:cNvSpPr/>
          <p:nvPr/>
        </p:nvSpPr>
        <p:spPr>
          <a:xfrm>
            <a:off x="9171432" y="3593592"/>
            <a:ext cx="2578608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0160">
            <a:solidFill>
              <a:srgbClr val="C9E2E4"/>
            </a:solidFill>
            <a:prstDash val="solid"/>
          </a:ln>
          <a:effectLst>
            <a:outerShdw sx="100000" sy="100000" kx="0" ky="0" algn="bl" rotWithShape="0" blurRad="25400" dist="50800" dir="2700000">
              <a:srgbClr val="6F9296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171432" y="3593592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54312" y="3739896"/>
            <a:ext cx="22128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3"/>
                </a:solidFill>
              </a:rPr>
              <a:t>SDK repos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354312" y="4123944"/>
            <a:ext cx="221284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33A"/>
                </a:solidFill>
              </a:rPr>
              <a:t>plus REST API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372600" y="4306824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28090"/>
                </a:solidFill>
              </a:rPr>
              <a:t>4</a:t>
            </a:r>
            <a:endParaRPr lang="en-US" sz="3100" dirty="0"/>
          </a:p>
        </p:txBody>
      </p:sp>
      <p:sp>
        <p:nvSpPr>
          <p:cNvPr id="44" name="Text 42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8777D"/>
                </a:solidFill>
              </a:rPr>
              <a:t>Repository metrics are recomputed by this generator; historical and evaluation figures retain source labels.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87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02C39A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09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What's next: turn weak signals into measurable gains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01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481328" y="1316736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Close the observability gap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0" y="1307592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Use the -0.027 category delta to prioritize task-based tracing, evaluation, and monitoring journeys.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481328" y="2139696"/>
            <a:ext cx="9646920" cy="0"/>
          </a:xfrm>
          <a:prstGeom prst="line">
            <a:avLst/>
          </a:prstGeom>
          <a:noFill/>
          <a:ln w="12700">
            <a:solidFill>
              <a:srgbClr val="2447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450592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02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81328" y="246888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Increase agentic PR merge yield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2459736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Track detected signal → proposed change → merged outcome, not just workflow activity.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481328" y="3291840"/>
            <a:ext cx="9646920" cy="0"/>
          </a:xfrm>
          <a:prstGeom prst="line">
            <a:avLst/>
          </a:prstGeom>
          <a:noFill/>
          <a:ln w="12700">
            <a:solidFill>
              <a:srgbClr val="2447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02736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03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481328" y="3621024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Expand evaluation scenarios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0" y="3611880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Add freshness, cross-page navigation, multi-step troubleshooting, and SDK migration tasks.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481328" y="4443984"/>
            <a:ext cx="9646920" cy="0"/>
          </a:xfrm>
          <a:prstGeom prst="line">
            <a:avLst/>
          </a:prstGeom>
          <a:noFill/>
          <a:ln w="12700">
            <a:solidFill>
              <a:srgbClr val="24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754880"/>
            <a:ext cx="658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2C39A"/>
                </a:solidFill>
              </a:rPr>
              <a:t>04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481328" y="477316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Improve operational evidence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4764024"/>
            <a:ext cx="6080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DADD"/>
                </a:solidFill>
              </a:rPr>
              <a:t>Persist run duration, outcome, and lineage so chain performance is visible without manual reconstruction.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880360" y="5897880"/>
            <a:ext cx="6446520" cy="438912"/>
          </a:xfrm>
          <a:prstGeom prst="roundRect">
            <a:avLst>
              <a:gd name="adj" fmla="val 2083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5980176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North star: better answers, delivered faster, with evidence.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" y="6336792"/>
            <a:ext cx="10378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DB8BC"/>
                </a:solidFill>
              </a:rPr>
              <a:t>Foundry-Docs stakeholder overview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DB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Foundry-Docs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Foundry-Docs: Agentic Documentation for Microsoft Foundry</dc:title>
  <dc:subject>Stakeholder overview of Foundry-Docs architecture, automation, and outcomes</dc:subject>
  <dc:creator>Foundry-Docs Slide Deck Maintainer</dc:creator>
  <cp:lastModifiedBy>Foundry-Docs Slide Deck Maintainer</cp:lastModifiedBy>
  <cp:revision>1</cp:revision>
  <dcterms:created xsi:type="dcterms:W3CDTF">2026-09-28T17:42:10Z</dcterms:created>
  <dcterms:modified xsi:type="dcterms:W3CDTF">2026-09-28T17:42:10Z</dcterms:modified>
</cp:coreProperties>
</file>