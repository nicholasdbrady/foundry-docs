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615184"/>
            <a:ext cx="12188952" cy="3657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0" y="-914400"/>
            <a:ext cx="3657600" cy="36576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0" y="4114800"/>
            <a:ext cx="2286000" cy="2286000"/>
          </a:xfrm>
          <a:prstGeom prst="ellipse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Microsoft Foundry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· GitHub Copilot Agentic Workflows · Azure AI Search · Mintlify MDX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217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6217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Foundry-Docs?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extracts Microsoft Foundry documentation from upstream MicrosoftDocs/azure-ai-docs, converts it to </a:t>
            </a:r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MDX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serves it via two intelligent MCP servers.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3383280" cy="137160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foundry-docs-mcp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content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(canonical)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286000"/>
            <a:ext cx="3383280" cy="137160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2377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foundry-docs-vnext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2834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A/B/C/D variant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 (agent-improved)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Hybrid Search — Azure AI Search (vector + keyword + semantic) + local TF-IDF fallback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Agentic Workflows — 29 GitHub Actions workflows monitoring, improving, and testing docs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Evaluation Harness — 4-server × multi-model comparison (200 evaluations per run)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349240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Auto-Sync — Daily upstream sync from MicrosoftDocs/azure-ai-docs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Ingestion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103120" cy="128016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25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extract_manifest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93852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TOC files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manifest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1920240"/>
            <a:ext cx="109728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78608" y="1280160"/>
            <a:ext cx="2103120" cy="128016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325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578608" y="1627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download_docs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78608" y="193852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raw docs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GitHub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1920240"/>
            <a:ext cx="10972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91456" y="1280160"/>
            <a:ext cx="2103120" cy="1280160"/>
          </a:xfrm>
          <a:prstGeom prst="rect">
            <a:avLst/>
          </a:prstGeom>
          <a:solidFill>
            <a:srgbClr val="1E2761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1325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91456" y="1627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convert_to_mdx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193852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MD 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MDX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576" y="1920240"/>
            <a:ext cx="109728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04304" y="1280160"/>
            <a:ext cx="2103120" cy="128016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04304" y="1325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04304" y="1627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build_navigation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04304" y="193852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docs.json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config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07424" y="1920240"/>
            <a:ext cx="109728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17152" y="1280160"/>
            <a:ext cx="2103120" cy="128016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17152" y="13258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217152" y="1627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ingest_to_azure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17152" y="193852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→ embed 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 (hash-based)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Search Mode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3200400"/>
            <a:ext cx="2743200" cy="1188720"/>
          </a:xfrm>
          <a:prstGeom prst="rect">
            <a:avLst/>
          </a:prstGeom>
          <a:solidFill>
            <a:srgbClr val="0D14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46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TF-IDF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at startup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.mdx files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83280" y="3200400"/>
            <a:ext cx="2743200" cy="1188720"/>
          </a:xfrm>
          <a:prstGeom prst="rect">
            <a:avLst/>
          </a:prstGeom>
          <a:solidFill>
            <a:srgbClr val="0D144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0" y="3246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83280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Vector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Semantic reranking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env var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75120" y="2788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675120" y="3200400"/>
            <a:ext cx="521208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324612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12480" y="324612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h2–h4 section splits with sentence-boundary overlap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3977640"/>
            <a:ext cx="521208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0" y="402336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Retry/Throttle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12480" y="402336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backoff + 429 AdaptiveThrottle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675120" y="4754880"/>
            <a:ext cx="521208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0" y="48006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412480" y="480060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→ App Insights + local JSONL feedback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675120" y="5532120"/>
            <a:ext cx="5212080" cy="658368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66560" y="557784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FoundryProjectOpenAI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412480" y="557784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query rewriting via Responses API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Coverage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0972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88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3756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0972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188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10972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1188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17830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Breakdown (docs-vnext)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29718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foundry-models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51760" y="3044952"/>
            <a:ext cx="5303520" cy="2011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297180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4747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agent-service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51760" y="3547872"/>
            <a:ext cx="4498521" cy="2011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001" y="34747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51760" y="4050792"/>
            <a:ext cx="3551464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6248944" y="397764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4805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4553712"/>
            <a:ext cx="2983230" cy="2011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680710" y="44805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98348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51760" y="5056632"/>
            <a:ext cx="1467939" cy="2011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4165419" y="498348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54864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51760" y="5559552"/>
            <a:ext cx="1136469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3833949" y="548640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0" y="29718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044952"/>
            <a:ext cx="1041763" cy="2011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9" name="Text 37"/>
          <p:cNvSpPr/>
          <p:nvPr/>
        </p:nvSpPr>
        <p:spPr>
          <a:xfrm>
            <a:off x="9499963" y="297180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4747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developer-experience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2480" y="3547872"/>
            <a:ext cx="994410" cy="2011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/>
          <p:nvPr/>
        </p:nvSpPr>
        <p:spPr>
          <a:xfrm>
            <a:off x="9452610" y="34747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3977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12480" y="4050792"/>
            <a:ext cx="899704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5" name="Text 43"/>
          <p:cNvSpPr/>
          <p:nvPr/>
        </p:nvSpPr>
        <p:spPr>
          <a:xfrm>
            <a:off x="9357904" y="397764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17920" y="44805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api-sdk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412480" y="4553712"/>
            <a:ext cx="804999" cy="2011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8" name="Text 46"/>
          <p:cNvSpPr/>
          <p:nvPr/>
        </p:nvSpPr>
        <p:spPr>
          <a:xfrm>
            <a:off x="9263199" y="44805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217920" y="498348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412480" y="5056632"/>
            <a:ext cx="2225584" cy="201168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51" name="Text 49"/>
          <p:cNvSpPr/>
          <p:nvPr/>
        </p:nvSpPr>
        <p:spPr>
          <a:xfrm>
            <a:off x="10683784" y="498348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(29 Total)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2860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97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Monitoring &amp; Detection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5544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5544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docs-upstream-monitor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574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sdk-release-monitor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6032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5603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reddit-community-monitor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06324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community-discussions-monitor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5661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dependabot-docs-check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1760" y="1097280"/>
            <a:ext cx="228600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2651760" y="1097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Content Improvement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15544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15544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unbloat-docs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651760" y="20574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51760" y="20574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51760" y="256032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5603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docs-auditor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51760" y="306324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06324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changelog-updater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651760" y="356616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51760" y="35661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model-catalog-sync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0" y="1097280"/>
            <a:ext cx="228600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1097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Quality &amp; Testing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15544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15544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docs-noob-tester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0" y="20574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20574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pr-docs-reviewer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0" y="256032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25603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post-merge-docs-verify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0" y="306324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0" y="306324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search-test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0" y="356616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0" y="35661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post-index-sync-testbench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06640" y="1097280"/>
            <a:ext cx="2286000" cy="4114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3" name="Text 41"/>
          <p:cNvSpPr/>
          <p:nvPr/>
        </p:nvSpPr>
        <p:spPr>
          <a:xfrm>
            <a:off x="7406640" y="1097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Sync &amp; Update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406640" y="15544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6640" y="15544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406640" y="20574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6640" y="20574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post-sync-updater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406640" y="256032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25603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daily-doc-updater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406640" y="306324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306324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docs-vnext-sync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406640" y="356616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06640" y="35661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docs-vnext-diff-report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84080" y="1097280"/>
            <a:ext cx="2286000" cy="41148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5" name="Text 53"/>
          <p:cNvSpPr/>
          <p:nvPr/>
        </p:nvSpPr>
        <p:spPr>
          <a:xfrm>
            <a:off x="9784080" y="1097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Slash Commands (7)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784080" y="15544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784080" y="15544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9784080" y="20574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84080" y="20574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784080" y="256032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784080" y="25603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/improve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9784080" y="306324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784080" y="306324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/unbloat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784080" y="356616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784080" y="35661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/noob-test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9784080" y="406908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84080" y="406908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/sync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9784080" y="4572000"/>
            <a:ext cx="22860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784080" y="457200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/eval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" y="5577840"/>
            <a:ext cx="2743200" cy="1005840"/>
          </a:xfrm>
          <a:prstGeom prst="rect">
            <a:avLst/>
          </a:prstGeom>
          <a:solidFill>
            <a:srgbClr val="0D14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" y="55961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600" dirty="0"/>
          </a:p>
        </p:txBody>
      </p:sp>
      <p:sp>
        <p:nvSpPr>
          <p:cNvPr id="72" name="Text 70"/>
          <p:cNvSpPr/>
          <p:nvPr/>
        </p:nvSpPr>
        <p:spPr>
          <a:xfrm>
            <a:off x="274320" y="6080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Workflows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3246120" y="5577840"/>
            <a:ext cx="2743200" cy="1005840"/>
          </a:xfrm>
          <a:prstGeom prst="rect">
            <a:avLst/>
          </a:prstGeom>
          <a:solidFill>
            <a:srgbClr val="0D144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46120" y="55961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75" name="Text 73"/>
          <p:cNvSpPr/>
          <p:nvPr/>
        </p:nvSpPr>
        <p:spPr>
          <a:xfrm>
            <a:off x="3246120" y="6080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6217920" y="5577840"/>
            <a:ext cx="2743200" cy="1005840"/>
          </a:xfrm>
          <a:prstGeom prst="rect">
            <a:avLst/>
          </a:prstGeom>
          <a:solidFill>
            <a:srgbClr val="0D144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17920" y="55961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78" name="Text 76"/>
          <p:cNvSpPr/>
          <p:nvPr/>
        </p:nvSpPr>
        <p:spPr>
          <a:xfrm>
            <a:off x="6217920" y="6080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Chains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(workflow_run)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9189720" y="5577840"/>
            <a:ext cx="2743200" cy="1005840"/>
          </a:xfrm>
          <a:prstGeom prst="rect">
            <a:avLst/>
          </a:prstGeom>
          <a:solidFill>
            <a:srgbClr val="0D1440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189720" y="55961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600" dirty="0"/>
          </a:p>
        </p:txBody>
      </p:sp>
      <p:sp>
        <p:nvSpPr>
          <p:cNvPr id="81" name="Text 79"/>
          <p:cNvSpPr/>
          <p:nvPr/>
        </p:nvSpPr>
        <p:spPr>
          <a:xfrm>
            <a:off x="9189720" y="6080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Trigger Coverage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schedule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2651760" cy="914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71907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Cron-based daily/weekly runs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08483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docs-upstream-monitor, sdk-release-monitor,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glossary-maintainer, daily-doc-updater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88720" y="3017520"/>
            <a:ext cx="10058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01752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wf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118872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37560" y="1645920"/>
            <a:ext cx="2651760" cy="91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171907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commit to main branch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08483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post-merge-docs-verify,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docs-vnext-diff-report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0520" y="3017520"/>
            <a:ext cx="1005840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301752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18872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pull_request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1645920"/>
            <a:ext cx="2651760" cy="914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1907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lifecycle events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08483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pr-docs-reviewer, label-ops-docs-fix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32320" y="3017520"/>
            <a:ext cx="100584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301752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wf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89720" y="118872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97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issues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281160" y="1645920"/>
            <a:ext cx="2651760" cy="914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89720" y="171907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open/label events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89720" y="208483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auto-triage-issues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04120" y="3017520"/>
            <a:ext cx="1005840" cy="34747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33" name="Text 31"/>
          <p:cNvSpPr/>
          <p:nvPr/>
        </p:nvSpPr>
        <p:spPr>
          <a:xfrm>
            <a:off x="10104120" y="301752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wf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374904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7947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▶️ workflow_dispatch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4206240"/>
            <a:ext cx="2651760" cy="914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7" name="Text 35"/>
          <p:cNvSpPr/>
          <p:nvPr/>
        </p:nvSpPr>
        <p:spPr>
          <a:xfrm>
            <a:off x="274320" y="42793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or programmatic trigger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4320" y="464515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sync-and-convert, search-test,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slide-deck-maintainer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88720" y="5577840"/>
            <a:ext cx="1005840" cy="3474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0" name="Text 38"/>
          <p:cNvSpPr/>
          <p:nvPr/>
        </p:nvSpPr>
        <p:spPr>
          <a:xfrm>
            <a:off x="1188720" y="55778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wf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46120" y="374904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46120" y="37947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workflow_run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337560" y="4206240"/>
            <a:ext cx="2651760" cy="914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4" name="Text 42"/>
          <p:cNvSpPr/>
          <p:nvPr/>
        </p:nvSpPr>
        <p:spPr>
          <a:xfrm>
            <a:off x="3246120" y="42793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on workflow completion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46120" y="464515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post-sync-updater (after sync-and-convert),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post-index-sync-testbench (after index-sync)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160520" y="5577840"/>
            <a:ext cx="1005840" cy="3474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4160520" y="55778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217920" y="374904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17920" y="37947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repository_dispatch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309360" y="4206240"/>
            <a:ext cx="2651760" cy="91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1" name="Text 49"/>
          <p:cNvSpPr/>
          <p:nvPr/>
        </p:nvSpPr>
        <p:spPr>
          <a:xfrm>
            <a:off x="6217920" y="42793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API trigger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217920" y="464515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community-discussions-monitor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(microsoft-foundry/discussions)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32320" y="5577840"/>
            <a:ext cx="1005840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4" name="Text 52"/>
          <p:cNvSpPr/>
          <p:nvPr/>
        </p:nvSpPr>
        <p:spPr>
          <a:xfrm>
            <a:off x="7132320" y="55778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wf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189720" y="3749040"/>
            <a:ext cx="2834640" cy="23317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89720" y="37947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issue_comment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9281160" y="4206240"/>
            <a:ext cx="2651760" cy="914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8" name="Text 56"/>
          <p:cNvSpPr/>
          <p:nvPr/>
        </p:nvSpPr>
        <p:spPr>
          <a:xfrm>
            <a:off x="9189720" y="42793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 triggers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189720" y="464515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/ask, /audit, /improve,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/unbloat, /noob-test, /sync, /eval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104120" y="5577840"/>
            <a:ext cx="100584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1" name="Text 59"/>
          <p:cNvSpPr/>
          <p:nvPr/>
        </p:nvSpPr>
        <p:spPr>
          <a:xfrm>
            <a:off x="10104120" y="55778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wf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8346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097280"/>
            <a:ext cx="28346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097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Docs Auditor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docs-auditor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75688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116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docs-vnext for structural issues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614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frontmatter completeness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11296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internal links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325112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61104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labeled issues for fixes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5074920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01091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Triggered: daily + slash /audit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1097280"/>
            <a:ext cx="28346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097280"/>
            <a:ext cx="28346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097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👶 Noob Tester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46120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docs-noob-tester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29000" y="2075688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3611880" y="20116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beginner developer perspective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29000" y="2825496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3611880" y="27614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viewport testing (mobile, tablet, desktop)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29000" y="3575304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3611880" y="3511296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critical getting-started paths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29000" y="4325112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3611880" y="4261104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 automation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29000" y="5074920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3611880" y="501091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 issues with specific blockers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097280"/>
            <a:ext cx="28346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1097280"/>
            <a:ext cx="28346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6217920" y="1097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PR Reviewer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17920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pr-docs-reviewer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0" y="2075688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0" y="20116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every docs-vnext PR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0" y="2825496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1" name="Text 39"/>
          <p:cNvSpPr/>
          <p:nvPr/>
        </p:nvSpPr>
        <p:spPr>
          <a:xfrm>
            <a:off x="6583680" y="27614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Mintlify MDX compliance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0" y="3575304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3" name="Text 41"/>
          <p:cNvSpPr/>
          <p:nvPr/>
        </p:nvSpPr>
        <p:spPr>
          <a:xfrm>
            <a:off x="6583680" y="3511296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Diátaxis framework adherence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00800" y="432511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0" y="4261104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terminology violations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0" y="507492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7" name="Text 45"/>
          <p:cNvSpPr/>
          <p:nvPr/>
        </p:nvSpPr>
        <p:spPr>
          <a:xfrm>
            <a:off x="6583680" y="501091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or requests changes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89720" y="1097280"/>
            <a:ext cx="28346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89720" y="1097280"/>
            <a:ext cx="2834640" cy="5029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50" name="Text 48"/>
          <p:cNvSpPr/>
          <p:nvPr/>
        </p:nvSpPr>
        <p:spPr>
          <a:xfrm>
            <a:off x="9189720" y="1097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Post-Merge Verify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189720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post-merge-docs-verify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372600" y="2075688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3" name="Text 51"/>
          <p:cNvSpPr/>
          <p:nvPr/>
        </p:nvSpPr>
        <p:spPr>
          <a:xfrm>
            <a:off x="9555480" y="20116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every merge to main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372600" y="2825496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5" name="Text 53"/>
          <p:cNvSpPr/>
          <p:nvPr/>
        </p:nvSpPr>
        <p:spPr>
          <a:xfrm>
            <a:off x="9555480" y="27614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deployed docs site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372600" y="3575304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7" name="Text 55"/>
          <p:cNvSpPr/>
          <p:nvPr/>
        </p:nvSpPr>
        <p:spPr>
          <a:xfrm>
            <a:off x="9555480" y="3511296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for broken links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372600" y="43251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59" name="Text 57"/>
          <p:cNvSpPr/>
          <p:nvPr/>
        </p:nvSpPr>
        <p:spPr>
          <a:xfrm>
            <a:off x="9555480" y="4261104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nav structure integrity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372600" y="5074920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61" name="Text 59"/>
          <p:cNvSpPr/>
          <p:nvPr/>
        </p:nvSpPr>
        <p:spPr>
          <a:xfrm>
            <a:off x="9555480" y="501091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re-index if needed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docs-vnext: History &amp; Impact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4300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34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(docs-vnext)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4300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234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37560" y="18288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(bot-authored)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14300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234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114300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1234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18288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25603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320954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9718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29718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agentic PR merged — unbloat cloud-evaluation.mdx (PR #23)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56616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Shape 22"/>
          <p:cNvSpPr/>
          <p:nvPr/>
        </p:nvSpPr>
        <p:spPr>
          <a:xfrm>
            <a:off x="530352" y="371246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7472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34747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created from zero — 35 terms, 16 sections (PR #28)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Shape 26"/>
          <p:cNvSpPr/>
          <p:nvPr/>
        </p:nvSpPr>
        <p:spPr>
          <a:xfrm>
            <a:off x="530352" y="421538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9776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28800" y="397764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 launched — multi-device viewport testing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2" name="Shape 30"/>
          <p:cNvSpPr/>
          <p:nvPr/>
        </p:nvSpPr>
        <p:spPr>
          <a:xfrm>
            <a:off x="530352" y="471830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48056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2026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28800" y="44805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glossary scans automated (PR #456)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6" name="Shape 34"/>
          <p:cNvSpPr/>
          <p:nvPr/>
        </p:nvSpPr>
        <p:spPr>
          <a:xfrm>
            <a:off x="530352" y="522122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983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49834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launched — 4-server × 2-model matrix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57784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0" name="Shape 38"/>
          <p:cNvSpPr/>
          <p:nvPr/>
        </p:nvSpPr>
        <p:spPr>
          <a:xfrm>
            <a:off x="530352" y="5724144"/>
            <a:ext cx="0" cy="265176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4864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28800" y="54864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reaches 526 pages (+202 vs docs/ baseline of 324)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61120" y="2560320"/>
            <a:ext cx="2926080" cy="39319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61120" y="263347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Delta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57200" y="3035808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6112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8961120" y="3749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only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8961120" y="4754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files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961120" y="5212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8961120" y="5760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baseline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Sync Chain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651760" cy="155448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Upstream 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67128"/>
            <a:ext cx="2286000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240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commit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MicrosoftDocs/azure-ai-docs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2286000"/>
            <a:ext cx="1828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1488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108960" y="1508760"/>
            <a:ext cx="2651760" cy="155448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1554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Creates Issue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167128"/>
            <a:ext cx="228600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2240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Issue #576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"Changes Detected — 2026-07-17"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60720" y="2286000"/>
            <a:ext cx="1828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1488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0" y="1508760"/>
            <a:ext cx="2651760" cy="1554480"/>
          </a:xfrm>
          <a:prstGeom prst="rect">
            <a:avLst/>
          </a:prstGeom>
          <a:solidFill>
            <a:srgbClr val="1E2761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554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Dispatches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2167128"/>
            <a:ext cx="228600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2240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convert MDX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2286000"/>
            <a:ext cx="1828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21488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78240" y="1508760"/>
            <a:ext cx="2651760" cy="1554480"/>
          </a:xfrm>
          <a:prstGeom prst="rect">
            <a:avLst/>
          </a:prstGeom>
          <a:solidFill>
            <a:srgbClr val="1E2761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1554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Post-Sync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961120" y="2167128"/>
            <a:ext cx="2286000" cy="0"/>
          </a:xfrm>
          <a:prstGeom prst="line">
            <a:avLst/>
          </a:prstGeom>
          <a:noFill/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2240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 or noop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200400"/>
            <a:ext cx="11274552" cy="0"/>
          </a:xfrm>
          <a:prstGeom prst="line">
            <a:avLst/>
          </a:prstGeom>
          <a:noFill/>
          <a:ln w="12700">
            <a:solidFill>
              <a:srgbClr val="8899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29184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 — July 17, 2026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80390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37490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#576 created: "📄 Upstream Foundry Docs Changes Detected — 2026-07-17"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26110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2062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changed areas including: model matrices, agents enable/disable, Cosmos DB setup, admin guide (new)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71830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6634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run §29546350095 dispatched sync-and-convert automatically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17550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206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Post-sync-updater analyzed changes and queued docs-vnext update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10515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Chain Example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858000" y="1508760"/>
            <a:ext cx="5029200" cy="1554480"/>
          </a:xfrm>
          <a:prstGeom prst="rect">
            <a:avLst/>
          </a:prstGeom>
          <a:solidFill>
            <a:srgbClr val="1E2761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0" y="1572768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SDK Release Monitor → Issue #552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49440" y="1920240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Detected: JS/TS 2.3.1 (2026-07-09)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2.3.0 stable · .NET 2.1.0-beta.4 · Java 2.2.0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docs impact → flagged SDK references needing update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Agentic Content Improvements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55778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97280"/>
            <a:ext cx="5577840" cy="47548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97280"/>
            <a:ext cx="5577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 — Glossary Creation from Zero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Merged: 2026-03-02 · Author: github-actions[bot] · +194 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Foundry (10)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30428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Agent, Microsoft Foundry, Azure AI Foundry, Capability Host, Guardrails...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7249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Ecosystem (7)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MCP, MCP Gateway (MCPG), FastMCP, docs-vnext, Mintlify, MDX...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343814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Retrieval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7307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Hybrid Search, Embeddings, Vector Search, HNSW, TF-IDF...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1513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 (3)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44398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Interpreter, File Search, Function Calling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86460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(5)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157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Evaluator, Hit@K, MRR, A/B/C/D evaluation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852160"/>
            <a:ext cx="20116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852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total terms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5852160"/>
            <a:ext cx="25603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5852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alphabetical sections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1097280"/>
            <a:ext cx="55778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1097280"/>
            <a:ext cx="5577840" cy="47548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1097280"/>
            <a:ext cx="5577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— Unbloat cloud-evaluation.mdx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Merged: 2026-03-02 · Author: github-actions[bot] · −29 lines, −232 words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2057400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084832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Duplicate paragraph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641080" y="2084832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evaluator support already covered 2 paragraphs earlier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2660904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2688336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Repetitive tip boxes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641080" y="2688336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4 identical "Before you begin" Tip callouts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0" y="3264408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291840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Trivial tip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41080" y="3291840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add another evaluation run, use the same code" — no value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3867912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3895344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Redundant sentence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41080" y="3895344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info from preceding paragraph in "Collect response IDs"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471416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92240" y="4498848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Verbose bullets → table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641080" y="4498848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"Interpret results" 5-bullet schema → concise reference table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5074920"/>
            <a:ext cx="5303520" cy="53035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5102352"/>
            <a:ext cx="2103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Bullet lists → prose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641080" y="5102352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"Rate limit errors" 5 bullets → 2 direct prose sentences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00800" y="5760720"/>
            <a:ext cx="132588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57607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5760720"/>
            <a:ext cx="132588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9" name="Text 47"/>
          <p:cNvSpPr/>
          <p:nvPr/>
        </p:nvSpPr>
        <p:spPr>
          <a:xfrm>
            <a:off x="7726680" y="57607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052560" y="5760720"/>
            <a:ext cx="132588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1" name="Text 49"/>
          <p:cNvSpPr/>
          <p:nvPr/>
        </p:nvSpPr>
        <p:spPr>
          <a:xfrm>
            <a:off x="9052560" y="57607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0378440" y="5760720"/>
            <a:ext cx="132588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3" name="Text 51"/>
          <p:cNvSpPr/>
          <p:nvPr/>
        </p:nvSpPr>
        <p:spPr>
          <a:xfrm>
            <a:off x="10378440" y="57607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0" y="6108192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0" y="6108192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6108192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26680" y="6108192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3,412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52560" y="6108192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052560" y="6108192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3,180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378440" y="6108192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378440" y="6108192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400800" y="6446520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0" y="6446520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726680" y="6446520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26680" y="6446520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052560" y="6446520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052560" y="6446520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10378440" y="6446520"/>
            <a:ext cx="132588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378440" y="6446520"/>
            <a:ext cx="13258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−34.5% ✅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 Results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#582 · Run 2026-07-19 · 200 Total Evaluations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61872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Scoreboard: Server × Model Matrix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645920"/>
            <a:ext cx="265176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08960" y="1645920"/>
            <a:ext cx="16459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645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claude-sonnet-4.6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645920"/>
            <a:ext cx="15544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45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645920"/>
            <a:ext cx="13716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645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029968"/>
            <a:ext cx="2651760" cy="402336"/>
          </a:xfrm>
          <a:prstGeom prst="rect">
            <a:avLst/>
          </a:prstGeom>
          <a:solidFill>
            <a:srgbClr val="0D1A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0299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docs-vnext (Treatment)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08960" y="2029968"/>
            <a:ext cx="1645920" cy="402336"/>
          </a:xfrm>
          <a:prstGeom prst="rect">
            <a:avLst/>
          </a:prstGeom>
          <a:solidFill>
            <a:srgbClr val="0D1A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08960" y="202996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029968"/>
            <a:ext cx="1554480" cy="402336"/>
          </a:xfrm>
          <a:prstGeom prst="rect">
            <a:avLst/>
          </a:prstGeom>
          <a:solidFill>
            <a:srgbClr val="0D1A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0299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92240" y="2029968"/>
            <a:ext cx="1371600" cy="402336"/>
          </a:xfrm>
          <a:prstGeom prst="rect">
            <a:avLst/>
          </a:prstGeom>
          <a:solidFill>
            <a:srgbClr val="0D1A40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029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2468880"/>
            <a:ext cx="265176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4688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MS Learn (Control A)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108960" y="2468880"/>
            <a:ext cx="164592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246888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2468880"/>
            <a:ext cx="155448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46888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2468880"/>
            <a:ext cx="137160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24688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907792"/>
            <a:ext cx="265176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9077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docs/ (Control C)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108960" y="2907792"/>
            <a:ext cx="164592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08960" y="29077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2907792"/>
            <a:ext cx="155448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0779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0.858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92240" y="2907792"/>
            <a:ext cx="137160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29077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3346704"/>
            <a:ext cx="265176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635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MCP (Control B)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3346704"/>
            <a:ext cx="164592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08960" y="3346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0.809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3346704"/>
            <a:ext cx="155448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34670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0.877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492240" y="3346704"/>
            <a:ext cx="1371600" cy="402336"/>
          </a:xfrm>
          <a:prstGeom prst="rect">
            <a:avLst/>
          </a:prstGeom>
          <a:solidFill>
            <a:srgbClr val="0D144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334670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365760" y="406908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 (docs-vnext vs docs/)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5760" y="44622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94360" y="5634533"/>
            <a:ext cx="502920" cy="309067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1" name="Text 49"/>
          <p:cNvSpPr/>
          <p:nvPr/>
        </p:nvSpPr>
        <p:spPr>
          <a:xfrm>
            <a:off x="59436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234440" y="5686044"/>
            <a:ext cx="502920" cy="25755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3" name="Text 51"/>
          <p:cNvSpPr/>
          <p:nvPr/>
        </p:nvSpPr>
        <p:spPr>
          <a:xfrm>
            <a:off x="123444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874520" y="5519623"/>
            <a:ext cx="502920" cy="423977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55" name="Text 53"/>
          <p:cNvSpPr/>
          <p:nvPr/>
        </p:nvSpPr>
        <p:spPr>
          <a:xfrm>
            <a:off x="187452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743200" y="44622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971800" y="5341315"/>
            <a:ext cx="502920" cy="602285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8" name="Text 56"/>
          <p:cNvSpPr/>
          <p:nvPr/>
        </p:nvSpPr>
        <p:spPr>
          <a:xfrm>
            <a:off x="297180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11880" y="5277917"/>
            <a:ext cx="502920" cy="66568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188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251960" y="5380939"/>
            <a:ext cx="502920" cy="562661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62" name="Text 60"/>
          <p:cNvSpPr/>
          <p:nvPr/>
        </p:nvSpPr>
        <p:spPr>
          <a:xfrm>
            <a:off x="425196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120640" y="44622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349240" y="4806391"/>
            <a:ext cx="502920" cy="1137209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5" name="Text 63"/>
          <p:cNvSpPr/>
          <p:nvPr/>
        </p:nvSpPr>
        <p:spPr>
          <a:xfrm>
            <a:off x="534924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989320" y="5099609"/>
            <a:ext cx="502920" cy="843991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/>
          <p:nvPr/>
        </p:nvSpPr>
        <p:spPr>
          <a:xfrm>
            <a:off x="598932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29400" y="5258105"/>
            <a:ext cx="502920" cy="685495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69" name="Text 67"/>
          <p:cNvSpPr/>
          <p:nvPr/>
        </p:nvSpPr>
        <p:spPr>
          <a:xfrm>
            <a:off x="662940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498080" y="44622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726680" y="5559247"/>
            <a:ext cx="502920" cy="384353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2" name="Text 70"/>
          <p:cNvSpPr/>
          <p:nvPr/>
        </p:nvSpPr>
        <p:spPr>
          <a:xfrm>
            <a:off x="772668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8366760" y="5745480"/>
            <a:ext cx="502920" cy="198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4" name="Text 72"/>
          <p:cNvSpPr/>
          <p:nvPr/>
        </p:nvSpPr>
        <p:spPr>
          <a:xfrm>
            <a:off x="836676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006840" y="5337353"/>
            <a:ext cx="502920" cy="606247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76" name="Text 74"/>
          <p:cNvSpPr/>
          <p:nvPr/>
        </p:nvSpPr>
        <p:spPr>
          <a:xfrm>
            <a:off x="900684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875520" y="44622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0104120" y="4964887"/>
            <a:ext cx="502920" cy="978713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9" name="Text 77"/>
          <p:cNvSpPr/>
          <p:nvPr/>
        </p:nvSpPr>
        <p:spPr>
          <a:xfrm>
            <a:off x="1010412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0744200" y="4913376"/>
            <a:ext cx="502920" cy="103022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1" name="Text 79"/>
          <p:cNvSpPr/>
          <p:nvPr/>
        </p:nvSpPr>
        <p:spPr>
          <a:xfrm>
            <a:off x="1074420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1384280" y="4913376"/>
            <a:ext cx="502920" cy="1030224"/>
          </a:xfrm>
          <a:prstGeom prst="rect">
            <a:avLst/>
          </a:prstGeom>
          <a:solidFill>
            <a:srgbClr val="8899BB"/>
          </a:solidFill>
          <a:ln/>
        </p:spPr>
      </p:sp>
      <p:sp>
        <p:nvSpPr>
          <p:cNvPr id="83" name="Text 81"/>
          <p:cNvSpPr/>
          <p:nvPr/>
        </p:nvSpPr>
        <p:spPr>
          <a:xfrm>
            <a:off x="11384280" y="596188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8229600" y="1261872"/>
            <a:ext cx="3657600" cy="53035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29600" y="130759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Testing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321040" y="1783080"/>
            <a:ext cx="3474720" cy="1097280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321040" y="182880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⚠️ MARGINAL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8321040" y="2176272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(0.872)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docs/ (0.851)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+0.021 delta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321040" y="2953512"/>
            <a:ext cx="3474720" cy="1097280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321040" y="29992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⚠️ MARGINAL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8321040" y="3346704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(0.843), +0.029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8321040" y="4123944"/>
            <a:ext cx="3474720" cy="1097280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321040" y="416966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⚠️ MARGINAL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8321040" y="4517136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(0.867), +0.005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321040" y="5294376"/>
            <a:ext cx="3474720" cy="1097280"/>
          </a:xfrm>
          <a:prstGeom prst="rect">
            <a:avLst/>
          </a:prstGeom>
          <a:solidFill>
            <a:srgbClr val="0D1440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321040" y="5340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H4: ⚠️ MIXED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8321040" y="5687568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differ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claude 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Integration &amp; Signal Detection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37490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97280"/>
            <a:ext cx="3749040" cy="5943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9728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Microsoft Foundry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6479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community-discussions-monitor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repository_dispatch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microsoft-foundry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7860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54096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9008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community Q&amp;A threads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675888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6118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undocumented topics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423367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issues for doc gaps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919472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855464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improvement workflows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1097280"/>
            <a:ext cx="37490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097280"/>
            <a:ext cx="3749040" cy="594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109728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Foundry Samples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89120" y="176479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dependabot-docs-check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schedule (daily)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514600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0" y="257860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34840" y="3054096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299008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foundry-samples repo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434840" y="3675888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36118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code examples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34840" y="4297680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4645152" y="423367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docs out of sync with samples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434840" y="4919472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855464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Auto-creates update issues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0" y="1097280"/>
            <a:ext cx="3749040" cy="5349240"/>
          </a:xfrm>
          <a:prstGeom prst="rect">
            <a:avLst/>
          </a:prstGeom>
          <a:solidFill>
            <a:srgbClr val="1E2761"/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097280"/>
            <a:ext cx="3749040" cy="5943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109728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Reddit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21040" y="176479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reddit-community-monitor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32104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schedule (weekly)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2514600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21040" y="257860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366760" y="3054096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4" name="Text 42"/>
          <p:cNvSpPr/>
          <p:nvPr/>
        </p:nvSpPr>
        <p:spPr>
          <a:xfrm>
            <a:off x="8577072" y="299008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r/AzureAI, r/MicrosoftCopilot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66760" y="3675888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6" name="Text 44"/>
          <p:cNvSpPr/>
          <p:nvPr/>
        </p:nvSpPr>
        <p:spPr>
          <a:xfrm>
            <a:off x="8577072" y="36118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common pain points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366760" y="4297680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8" name="Text 46"/>
          <p:cNvSpPr/>
          <p:nvPr/>
        </p:nvSpPr>
        <p:spPr>
          <a:xfrm>
            <a:off x="8577072" y="423367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questions to doc pages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366760" y="491947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50" name="Text 48"/>
          <p:cNvSpPr/>
          <p:nvPr/>
        </p:nvSpPr>
        <p:spPr>
          <a:xfrm>
            <a:off x="8577072" y="4855464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doc quality gaps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Monitoring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515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SDK Repositories Tracked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11887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0" y="1463040"/>
            <a:ext cx="24688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1463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1463040"/>
            <a:ext cx="173736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14630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463040"/>
            <a:ext cx="13716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63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98080" y="1463040"/>
            <a:ext cx="16459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1847088"/>
            <a:ext cx="11887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47088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Python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45920" y="1847088"/>
            <a:ext cx="246888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1847088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1847088"/>
            <a:ext cx="173736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847088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2.3.0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1847088"/>
            <a:ext cx="137160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0" y="184708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98080" y="1847088"/>
            <a:ext cx="16459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1847088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2322576"/>
            <a:ext cx="11887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32257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JS/TS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645920" y="2322576"/>
            <a:ext cx="246888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45920" y="2322576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@azure/ai-projects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06240" y="2322576"/>
            <a:ext cx="173736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06240" y="23225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2.3.1 🆕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2322576"/>
            <a:ext cx="137160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5040" y="2322576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✅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98080" y="2322576"/>
            <a:ext cx="16459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2322576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2798064"/>
            <a:ext cx="11887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2798064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🟣 .NET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645920" y="2798064"/>
            <a:ext cx="246888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45920" y="2798064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Azure.AI.Projects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06240" y="2798064"/>
            <a:ext cx="173736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0" y="2798064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2.1.0-beta.4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035040" y="2798064"/>
            <a:ext cx="137160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35040" y="279806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98080" y="2798064"/>
            <a:ext cx="16459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0" y="2798064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2026-06-30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65760" y="3273552"/>
            <a:ext cx="11887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273552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Java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645920" y="3273552"/>
            <a:ext cx="246888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45920" y="32735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206240" y="3273552"/>
            <a:ext cx="173736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0" y="3273552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2.2.0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035040" y="3273552"/>
            <a:ext cx="137160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327355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✅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98080" y="3273552"/>
            <a:ext cx="1645920" cy="438912"/>
          </a:xfrm>
          <a:prstGeom prst="rect">
            <a:avLst/>
          </a:prstGeom>
          <a:solidFill>
            <a:srgbClr val="0D1440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98080" y="327355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65760" y="38862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Capabilities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457200" y="4297680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Changelog detection — parses GitHub releases and tags daily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7200" y="4773168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Version diff — tracks previous vs new version for all 4 SDKs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457200" y="524865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Breaking change detection — flags major version bumps and beta releases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457200" y="5724144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Docs impact assessment — identifies docs pages referencing changed APIs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57200" y="6199632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Creates labeled issues — sdk-update + automation labels for triage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144000" y="1051560"/>
            <a:ext cx="2743200" cy="5486400"/>
          </a:xfrm>
          <a:prstGeom prst="rect">
            <a:avLst/>
          </a:prstGeom>
          <a:solidFill>
            <a:srgbClr val="1E2761"/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44000" y="1051560"/>
            <a:ext cx="2743200" cy="45720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0" y="1051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Alert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9235440" y="1572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#552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9235440" y="1920240"/>
            <a:ext cx="2560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JS/TS 2.3.1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2026-07-09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Previous: 2.3.0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Stable Release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flagged for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12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@azure/ai-projects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JS/TS examples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(Live as of July 2026)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MDX Pages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280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3756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MDX Pages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18872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280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0936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118872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1280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Avg 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 Harness)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6974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788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6576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PRs Merged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(bot-authored)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6974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788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33756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docs-vnext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Merged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26974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2788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30936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281160" y="2697480"/>
            <a:ext cx="2194560" cy="1188720"/>
          </a:xfrm>
          <a:prstGeom prst="rect">
            <a:avLst/>
          </a:prstGeom>
          <a:solidFill>
            <a:srgbClr val="0D14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81160" y="2788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28116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Runs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 report)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425196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Score Breakdown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22960" y="4536034"/>
            <a:ext cx="1463040" cy="122468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426171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" y="57790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706722"/>
            <a:ext cx="1463040" cy="105399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0" y="443240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0" y="57790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577840" y="5112106"/>
            <a:ext cx="1463040" cy="64861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483778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20640" y="57790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55280" y="5346802"/>
            <a:ext cx="1463040" cy="413918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0" y="507248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498080" y="57790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332720" y="5427878"/>
            <a:ext cx="1463040" cy="33284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4" name="Text 42"/>
          <p:cNvSpPr/>
          <p:nvPr/>
        </p:nvSpPr>
        <p:spPr>
          <a:xfrm>
            <a:off x="9875520" y="515355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875520" y="57790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44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11274552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88720"/>
            <a:ext cx="11430000" cy="9601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188720"/>
            <a:ext cx="73152" cy="9601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HIGH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12344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 Docs Coverage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162763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observability-evaluation scores lowest at 0.797 in docs-vnext. Add tracing tutorials, evaluation how-tos, and telemetry reference pages.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249424"/>
            <a:ext cx="11430000" cy="9601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249424"/>
            <a:ext cx="73152" cy="9601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2951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MEDIUM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229514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Agentic PR Merge Rate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11680" y="2688336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10 of 30 docs-vnext PRs are agent-authored (33%). Target 50%+ by improving PR reviewer confidence thresholds and merge automation.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310128"/>
            <a:ext cx="11430000" cy="960120"/>
          </a:xfrm>
          <a:prstGeom prst="rect">
            <a:avLst/>
          </a:prstGeom>
          <a:solidFill>
            <a:srgbClr val="1E2761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310128"/>
            <a:ext cx="73152" cy="96012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558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MEDIUM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11680" y="3355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 Scenarios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0116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200 scenarios focus on 5 categories. Add SDK/API integration scenarios, troubleshooting paths, and multi-turn conversation evaluation.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370832"/>
            <a:ext cx="11430000" cy="960120"/>
          </a:xfrm>
          <a:prstGeom prst="rect">
            <a:avLst/>
          </a:prstGeom>
          <a:solidFill>
            <a:srgbClr val="1E276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370832"/>
            <a:ext cx="73152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41655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PLANNED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44165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Agent-Development Coverage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011680" y="480974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agent-development category scores 0.778, below MS Learn (0.807). Expand agents/ section with real-world patterns, error handling, and advanced tooling guides.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5431536"/>
            <a:ext cx="11430000" cy="960120"/>
          </a:xfrm>
          <a:prstGeom prst="rect">
            <a:avLst/>
          </a:prstGeom>
          <a:solidFill>
            <a:srgbClr val="1E2761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5431536"/>
            <a:ext cx="73152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47725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FUTURE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011680" y="547725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Sync SLA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011680" y="587044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upstream-to-docs-vnext latency from daily to &lt;4 hours for critical doc changes (security, breaking API changes).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2026-07-20T10:21:57Z</dcterms:created>
  <dcterms:modified xsi:type="dcterms:W3CDTF">2026-07-20T10:21:57Z</dcterms:modified>
</cp:coreProperties>
</file>